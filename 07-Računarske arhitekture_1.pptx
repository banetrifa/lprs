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63"/>
  </p:notesMasterIdLst>
  <p:sldIdLst>
    <p:sldId id="325" r:id="rId2"/>
    <p:sldId id="326" r:id="rId3"/>
    <p:sldId id="327" r:id="rId4"/>
    <p:sldId id="328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1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20" r:id="rId56"/>
    <p:sldId id="321" r:id="rId57"/>
    <p:sldId id="322" r:id="rId58"/>
    <p:sldId id="323" r:id="rId59"/>
    <p:sldId id="324" r:id="rId60"/>
    <p:sldId id="316" r:id="rId61"/>
    <p:sldId id="317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86111" autoAdjust="0"/>
  </p:normalViewPr>
  <p:slideViewPr>
    <p:cSldViewPr>
      <p:cViewPr>
        <p:scale>
          <a:sx n="66" d="100"/>
          <a:sy n="66" d="100"/>
        </p:scale>
        <p:origin x="-1786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AF667-6594-47D7-AA3A-DF0AE3274B7D}" type="datetimeFigureOut">
              <a:rPr lang="en-US" smtClean="0"/>
              <a:pPr/>
              <a:t>12/3/2019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9D612-503F-4343-88A5-38A08EAD0B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DBFFEC-F903-41A2-825D-EAEE134FD91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Primer</a:t>
            </a:r>
            <a:r>
              <a:rPr lang="sr-Latn-RS" baseline="0" dirty="0" smtClean="0"/>
              <a:t> kaže ako je program zahtevao 20h na jednom jezgu, a sadrži deo koji traje 1h koji se nemože paralelizovati, dok se ostalih 19h rada mogu paralelizovati, nivo paralelizma je 95%, što znači da se ovakav sistem može ubrzati sa više jezgara najviše 20 puta.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Arial" pitchFamily="34" charset="0"/>
                <a:ea typeface="ＭＳ Ｐゴシック" pitchFamily="34" charset="-128"/>
              </a:rPr>
              <a:t>I</a:t>
            </a:r>
            <a:r>
              <a:rPr lang="sr-Latn-RS" dirty="0" smtClean="0">
                <a:latin typeface="Arial" pitchFamily="34" charset="0"/>
                <a:ea typeface="ＭＳ Ｐゴシック" pitchFamily="34" charset="-128"/>
              </a:rPr>
              <a:t>nstruction </a:t>
            </a:r>
            <a:r>
              <a:rPr lang="en-US" dirty="0" smtClean="0">
                <a:latin typeface="Arial" pitchFamily="34" charset="0"/>
                <a:ea typeface="ＭＳ Ｐゴシック" pitchFamily="34" charset="-128"/>
              </a:rPr>
              <a:t>S</a:t>
            </a:r>
            <a:r>
              <a:rPr lang="sr-Latn-RS" dirty="0" smtClean="0">
                <a:latin typeface="Arial" pitchFamily="34" charset="0"/>
                <a:ea typeface="ＭＳ Ｐゴシック" pitchFamily="34" charset="-128"/>
              </a:rPr>
              <a:t>et </a:t>
            </a:r>
            <a:r>
              <a:rPr lang="en-US" dirty="0" smtClean="0">
                <a:latin typeface="Arial" pitchFamily="34" charset="0"/>
                <a:ea typeface="ＭＳ Ｐゴシック" pitchFamily="34" charset="-128"/>
              </a:rPr>
              <a:t>A</a:t>
            </a:r>
            <a:r>
              <a:rPr lang="sr-Latn-RS" dirty="0" smtClean="0">
                <a:latin typeface="Arial" pitchFamily="34" charset="0"/>
                <a:ea typeface="ＭＳ Ｐゴシック" pitchFamily="34" charset="-128"/>
              </a:rPr>
              <a:t>rchitecture</a:t>
            </a:r>
            <a:r>
              <a:rPr lang="sr-Latn-RS" baseline="0" dirty="0" smtClean="0">
                <a:latin typeface="Arial" pitchFamily="34" charset="0"/>
                <a:ea typeface="ＭＳ Ｐゴシック" pitchFamily="34" charset="-128"/>
              </a:rPr>
              <a:t> predstavlja interfejs između HW i SW</a:t>
            </a:r>
            <a:endParaRPr lang="en-US" dirty="0" smtClean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F7B936-6DB3-4DCB-A418-94982CB42D57}" type="slidenum">
              <a:rPr lang="en-US">
                <a:solidFill>
                  <a:srgbClr val="000000"/>
                </a:solidFill>
                <a:latin typeface="Arial" pitchFamily="34" charset="0"/>
              </a:rPr>
              <a:pPr/>
              <a:t>6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R ispred ARG1</a:t>
            </a:r>
            <a:r>
              <a:rPr lang="sr-Latn-RS" baseline="0" dirty="0" smtClean="0"/>
              <a:t> / </a:t>
            </a:r>
            <a:r>
              <a:rPr lang="sr-Latn-RS" dirty="0" smtClean="0"/>
              <a:t>R ispred ARG2 su token biti koji pokreću</a:t>
            </a:r>
            <a:r>
              <a:rPr lang="sr-Latn-RS" baseline="0" dirty="0" smtClean="0"/>
              <a:t> instrukciju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Conditional BR</a:t>
            </a:r>
            <a:r>
              <a:rPr lang="sr-Latn-RS" baseline="0" dirty="0" smtClean="0"/>
              <a:t>  branch, instrukcija uslovnog skoka (izbora putanje) / </a:t>
            </a:r>
            <a:r>
              <a:rPr lang="en-US" baseline="0" dirty="0" err="1" smtClean="0"/>
              <a:t>ako</a:t>
            </a:r>
            <a:r>
              <a:rPr lang="en-US" baseline="0" dirty="0" smtClean="0"/>
              <a:t> je </a:t>
            </a:r>
            <a:r>
              <a:rPr lang="en-US" baseline="0" dirty="0" err="1" smtClean="0"/>
              <a:t>boolean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rezultat</a:t>
            </a:r>
            <a:r>
              <a:rPr lang="en-US" baseline="0" dirty="0" smtClean="0"/>
              <a:t> </a:t>
            </a:r>
            <a:r>
              <a:rPr lang="sr-Latn-RS" baseline="0" dirty="0" smtClean="0"/>
              <a:t>T(true</a:t>
            </a:r>
            <a:r>
              <a:rPr lang="sr-Latn-RS" baseline="0" dirty="0" smtClean="0"/>
              <a:t>) rezultat ide levo, </a:t>
            </a:r>
            <a:r>
              <a:rPr lang="en-US" baseline="0" dirty="0" err="1" smtClean="0"/>
              <a:t>boolean</a:t>
            </a:r>
            <a:r>
              <a:rPr lang="en-US" baseline="0" dirty="0" smtClean="0"/>
              <a:t> </a:t>
            </a:r>
            <a:r>
              <a:rPr lang="sr-Latn-RS" baseline="0" dirty="0" smtClean="0"/>
              <a:t>F(false</a:t>
            </a:r>
            <a:r>
              <a:rPr lang="sr-Latn-RS" baseline="0" dirty="0" smtClean="0"/>
              <a:t>) ide desno</a:t>
            </a:r>
          </a:p>
          <a:p>
            <a:r>
              <a:rPr lang="en-US" baseline="0" dirty="0" smtClean="0"/>
              <a:t>Relational</a:t>
            </a:r>
            <a:r>
              <a:rPr lang="sr-Latn-RS" baseline="0" dirty="0" smtClean="0"/>
              <a:t> </a:t>
            </a:r>
            <a:r>
              <a:rPr lang="en-US" baseline="0" dirty="0" smtClean="0"/>
              <a:t>&gt;, </a:t>
            </a:r>
            <a:r>
              <a:rPr lang="en-US" baseline="0" dirty="0" err="1" smtClean="0"/>
              <a:t>ukoliko</a:t>
            </a:r>
            <a:r>
              <a:rPr lang="en-US" baseline="0" dirty="0" smtClean="0"/>
              <a:t> je </a:t>
            </a:r>
            <a:r>
              <a:rPr lang="en-US" baseline="0" dirty="0" err="1" smtClean="0"/>
              <a:t>levi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ulaz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ve</a:t>
            </a:r>
            <a:r>
              <a:rPr lang="sr-Latn-RS" baseline="0" dirty="0" smtClean="0"/>
              <a:t>ći, rezultat je True, token na podatku rezultata postaje 1</a:t>
            </a:r>
          </a:p>
          <a:p>
            <a:r>
              <a:rPr lang="sr-Latn-RS" baseline="0" dirty="0" smtClean="0"/>
              <a:t>Barrier Synchronization (način sinhronizacije tredova, po principu čekaj dok se svi prethodni završe, tada nastavi dalje) </a:t>
            </a:r>
          </a:p>
          <a:p>
            <a:r>
              <a:rPr lang="sr-Latn-RS" baseline="0" dirty="0" smtClean="0"/>
              <a:t>Primer sa brojanjem slova u knjizi, podeli knjigu na K delova i napravi K threadova, na kraju merguj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Realizacija</a:t>
            </a:r>
            <a:r>
              <a:rPr lang="sr-Latn-RS" baseline="0" dirty="0" smtClean="0"/>
              <a:t> operacije Faktorijel. 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Wingdings" charset="0"/>
              <a:buNone/>
              <a:defRPr/>
            </a:pPr>
            <a:r>
              <a:rPr lang="en-US" dirty="0" smtClean="0">
                <a:ea typeface="ＭＳ Ｐゴシック" charset="0"/>
              </a:rPr>
              <a:t>K</a:t>
            </a:r>
            <a:r>
              <a:rPr lang="sr-Latn-RS" dirty="0" smtClean="0">
                <a:ea typeface="ＭＳ Ｐゴシック" charset="0"/>
              </a:rPr>
              <a:t>ompromisa</a:t>
            </a:r>
            <a:r>
              <a:rPr lang="sr-Latn-RS" baseline="0" dirty="0" smtClean="0">
                <a:ea typeface="ＭＳ Ｐゴシック" charset="0"/>
              </a:rPr>
              <a:t> ima puno na visokom nivou</a:t>
            </a:r>
            <a:endParaRPr lang="en-US" dirty="0" smtClean="0">
              <a:ea typeface="ＭＳ Ｐゴシック" charset="0"/>
            </a:endParaRPr>
          </a:p>
          <a:p>
            <a:pPr lvl="0">
              <a:buFont typeface="Wingdings" charset="0"/>
              <a:buNone/>
              <a:defRPr/>
            </a:pPr>
            <a:r>
              <a:rPr lang="sr-Latn-RS" dirty="0" smtClean="0">
                <a:ea typeface="ＭＳ Ｐゴシック" charset="0"/>
              </a:rPr>
              <a:t>Jednostavno programiranje</a:t>
            </a:r>
            <a:r>
              <a:rPr lang="en-US" dirty="0" smtClean="0">
                <a:ea typeface="ＭＳ Ｐゴシック" charset="0"/>
              </a:rPr>
              <a:t>?</a:t>
            </a:r>
          </a:p>
          <a:p>
            <a:pPr lvl="0">
              <a:buFont typeface="Wingdings" charset="0"/>
              <a:buNone/>
              <a:defRPr/>
            </a:pPr>
            <a:r>
              <a:rPr lang="en-US" dirty="0" smtClean="0">
                <a:ea typeface="ＭＳ Ｐゴシック" charset="0"/>
              </a:rPr>
              <a:t>J</a:t>
            </a:r>
            <a:r>
              <a:rPr lang="sr-Latn-RS" dirty="0" smtClean="0">
                <a:ea typeface="ＭＳ Ｐゴシック" charset="0"/>
              </a:rPr>
              <a:t>ednostavno prevođenje</a:t>
            </a:r>
            <a:r>
              <a:rPr lang="sr-Latn-RS" baseline="0" dirty="0" smtClean="0">
                <a:ea typeface="ＭＳ Ｐゴシック" charset="0"/>
              </a:rPr>
              <a:t> / kompajliranje</a:t>
            </a:r>
            <a:r>
              <a:rPr lang="en-US" dirty="0" smtClean="0">
                <a:ea typeface="ＭＳ Ｐゴシック" charset="0"/>
              </a:rPr>
              <a:t>?</a:t>
            </a:r>
          </a:p>
          <a:p>
            <a:pPr lvl="0">
              <a:buFont typeface="Wingdings" charset="0"/>
              <a:buNone/>
              <a:defRPr/>
            </a:pPr>
            <a:r>
              <a:rPr lang="en-US" dirty="0" smtClean="0">
                <a:ea typeface="ＭＳ Ｐゴシック" charset="0"/>
              </a:rPr>
              <a:t>Extra</a:t>
            </a:r>
            <a:r>
              <a:rPr lang="sr-Latn-RS" dirty="0" smtClean="0">
                <a:ea typeface="ＭＳ Ｐゴシック" charset="0"/>
              </a:rPr>
              <a:t>kcija</a:t>
            </a:r>
            <a:r>
              <a:rPr lang="sr-Latn-RS" baseline="0" dirty="0" smtClean="0">
                <a:ea typeface="ＭＳ Ｐゴシック" charset="0"/>
              </a:rPr>
              <a:t> </a:t>
            </a:r>
            <a:r>
              <a:rPr lang="en-US" dirty="0" err="1" smtClean="0">
                <a:ea typeface="ＭＳ Ｐゴシック" charset="0"/>
              </a:rPr>
              <a:t>paraleli</a:t>
            </a:r>
            <a:r>
              <a:rPr lang="sr-Latn-RS" dirty="0" smtClean="0">
                <a:ea typeface="ＭＳ Ｐゴシック" charset="0"/>
              </a:rPr>
              <a:t>zma</a:t>
            </a:r>
            <a:r>
              <a:rPr lang="en-US" dirty="0" smtClean="0">
                <a:ea typeface="ＭＳ Ｐゴシック" charset="0"/>
              </a:rPr>
              <a:t>?</a:t>
            </a:r>
            <a:endParaRPr lang="sr-Latn-RS" dirty="0" smtClean="0">
              <a:ea typeface="ＭＳ Ｐゴシック" charset="0"/>
            </a:endParaRPr>
          </a:p>
          <a:p>
            <a:pPr lvl="0">
              <a:buFont typeface="Wingdings" charset="0"/>
              <a:buNone/>
              <a:defRPr/>
            </a:pPr>
            <a:r>
              <a:rPr lang="sr-Latn-RS" dirty="0" smtClean="0">
                <a:ea typeface="ＭＳ Ｐゴシック" charset="0"/>
              </a:rPr>
              <a:t>Kompleksnost hardvera?</a:t>
            </a:r>
            <a:endParaRPr lang="en-US" dirty="0" smtClean="0">
              <a:ea typeface="ＭＳ Ｐゴシック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1465E36-263D-42E1-960C-B8CD6228C2EB}" type="slidenum">
              <a:rPr lang="en-US">
                <a:solidFill>
                  <a:srgbClr val="000000"/>
                </a:solidFill>
                <a:latin typeface="Arial" pitchFamily="34" charset="0"/>
              </a:rPr>
              <a:pPr/>
              <a:t>20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</a:t>
            </a:r>
            <a:r>
              <a:rPr lang="sr-Latn-RS" dirty="0" smtClean="0"/>
              <a:t>rade</a:t>
            </a:r>
            <a:r>
              <a:rPr lang="sr-Latn-RS" baseline="0" dirty="0" smtClean="0"/>
              <a:t> off između serijskog sabirača, praktično jedan full adder koji se serijski puni i u 32 ciklusa takta formira rezultat A(32b) + B(32b), naspram 32b sabirača koji paralelno sabira gotove operande.</a:t>
            </a:r>
          </a:p>
          <a:p>
            <a:r>
              <a:rPr lang="sr-Latn-RS" baseline="0" dirty="0" smtClean="0"/>
              <a:t>Zašto mikroarhitekture više variraju od ISA? </a:t>
            </a:r>
            <a:r>
              <a:rPr lang="en-US" baseline="0" dirty="0" smtClean="0"/>
              <a:t>P</a:t>
            </a:r>
            <a:r>
              <a:rPr lang="sr-Latn-RS" baseline="0" dirty="0" smtClean="0"/>
              <a:t>rvenstveno zbog SW kompatibilnosti!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Z</a:t>
            </a:r>
            <a:r>
              <a:rPr lang="sr-Latn-RS" dirty="0" smtClean="0"/>
              <a:t>a stek mašinu dati primer recimo ((7*8)+4)*3. Podrazumevano je da arith instukcije imaju inherentni pop</a:t>
            </a:r>
            <a:r>
              <a:rPr lang="sr-Latn-RS" dirty="0" smtClean="0"/>
              <a:t>()</a:t>
            </a:r>
            <a:r>
              <a:rPr lang="en-US" dirty="0" smtClean="0"/>
              <a:t>, </a:t>
            </a:r>
            <a:r>
              <a:rPr lang="en-US" dirty="0" err="1" smtClean="0"/>
              <a:t>odnosno</a:t>
            </a:r>
            <a:r>
              <a:rPr lang="en-US" dirty="0" smtClean="0"/>
              <a:t> push()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nakon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sra</a:t>
            </a:r>
            <a:r>
              <a:rPr lang="sr-Latn-RS" baseline="0" dirty="0" smtClean="0"/>
              <a:t>čunavanja rezultata</a:t>
            </a:r>
            <a:r>
              <a:rPr lang="sr-Latn-RS" dirty="0" smtClean="0"/>
              <a:t>.</a:t>
            </a:r>
            <a:endParaRPr lang="sr-Latn-RS" dirty="0" smtClean="0"/>
          </a:p>
          <a:p>
            <a:r>
              <a:rPr lang="sr-Latn-RS" dirty="0" smtClean="0"/>
              <a:t>push(3), push(4), push(8), push(7);</a:t>
            </a:r>
            <a:r>
              <a:rPr lang="sr-Latn-RS" baseline="0" dirty="0" smtClean="0"/>
              <a:t> MUL(), ADD(), MUL()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ea typeface="ＭＳ Ｐゴシック" pitchFamily="34" charset="-128"/>
              </a:rPr>
              <a:t>A</a:t>
            </a:r>
            <a:r>
              <a:rPr lang="sr-Latn-RS" dirty="0" smtClean="0">
                <a:ea typeface="ＭＳ Ｐゴシック" pitchFamily="34" charset="-128"/>
              </a:rPr>
              <a:t>psolutni</a:t>
            </a:r>
            <a:r>
              <a:rPr lang="sr-Latn-RS" baseline="0" dirty="0" smtClean="0">
                <a:ea typeface="ＭＳ Ｐゴシック" pitchFamily="34" charset="-128"/>
              </a:rPr>
              <a:t> direktno iz instrukcije preuzima vrednost adrese operanda.</a:t>
            </a:r>
          </a:p>
          <a:p>
            <a:r>
              <a:rPr lang="sr-Latn-RS" baseline="0" dirty="0" smtClean="0">
                <a:ea typeface="ＭＳ Ｐゴシック" pitchFamily="34" charset="-128"/>
              </a:rPr>
              <a:t>Registarski indirektni – sadržaj registra opšte namena predstavlja adresu operanda</a:t>
            </a:r>
          </a:p>
          <a:p>
            <a:r>
              <a:rPr lang="sr-Latn-RS" baseline="0" dirty="0" smtClean="0">
                <a:ea typeface="ＭＳ Ｐゴシック" pitchFamily="34" charset="-128"/>
              </a:rPr>
              <a:t>Registarski indirektni sa ofsetom - isti kao prethodni + ofset</a:t>
            </a:r>
          </a:p>
          <a:p>
            <a:r>
              <a:rPr lang="sr-Latn-RS" baseline="0" dirty="0" smtClean="0">
                <a:ea typeface="ＭＳ Ｐゴシック" pitchFamily="34" charset="-128"/>
              </a:rPr>
              <a:t>Registarski indeksni – sabira vrednosti iz dva registra i tretira rezultat kao adresu</a:t>
            </a:r>
          </a:p>
          <a:p>
            <a:r>
              <a:rPr lang="sr-Latn-RS" baseline="0" dirty="0" smtClean="0">
                <a:ea typeface="ＭＳ Ｐゴシック" pitchFamily="34" charset="-128"/>
              </a:rPr>
              <a:t>Memorijski indirektni – sa lokacije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GPR[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baseline="-25000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čita vrednost koju tretira kao adresu,</a:t>
            </a:r>
            <a:r>
              <a:rPr lang="sr-Latn-RS" baseline="0" dirty="0" smtClean="0">
                <a:latin typeface="Calibri" pitchFamily="34" charset="0"/>
                <a:ea typeface="ＭＳ Ｐゴシック" pitchFamily="34" charset="-128"/>
              </a:rPr>
              <a:t> dakle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M[GPR[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]]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</a:t>
            </a:r>
            <a:endParaRPr lang="sr-Latn-RS" baseline="0" dirty="0" smtClean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681D57-ED48-43BA-8495-03503F857CC4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smtClean="0"/>
              <a:t>Za transformaciju u više CLK</a:t>
            </a:r>
            <a:r>
              <a:rPr lang="sr-Latn-RS" baseline="0" smtClean="0"/>
              <a:t> ciklusa MS1, MS2, MS3 predstavljaju STANJA MIKROARHITEKTURE koja nisu vidljiva programeru.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Naravno ne zahtevaju</a:t>
            </a:r>
            <a:r>
              <a:rPr lang="sr-Latn-RS" baseline="0" dirty="0" smtClean="0"/>
              <a:t> sve instrukcije ovih 6 faza.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CPI (clock per instruction)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PRIČU</a:t>
            </a:r>
            <a:r>
              <a:rPr lang="sr-Latn-RS" baseline="0" dirty="0" smtClean="0"/>
              <a:t> O GENERISANJU KONTROLNIH SIGNALA ZA NAREDNI CIKLUS MOŽDA SKLONITI ZA SAD!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9D612-503F-4343-88A5-38A08EAD0BA6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ltGray">
          <a:xfrm>
            <a:off x="3352800" y="0"/>
            <a:ext cx="5791200" cy="152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" name="Line 6"/>
            <p:cNvSpPr>
              <a:spLocks noChangeShapeType="1"/>
            </p:cNvSpPr>
            <p:nvPr userDrawn="1"/>
          </p:nvSpPr>
          <p:spPr bwMode="white">
            <a:xfrm>
              <a:off x="0" y="19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" name="Line 7"/>
            <p:cNvSpPr>
              <a:spLocks noChangeShapeType="1"/>
            </p:cNvSpPr>
            <p:nvPr userDrawn="1"/>
          </p:nvSpPr>
          <p:spPr bwMode="white">
            <a:xfrm>
              <a:off x="0" y="38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6" name="Line 8"/>
            <p:cNvSpPr>
              <a:spLocks noChangeShapeType="1"/>
            </p:cNvSpPr>
            <p:nvPr userDrawn="1"/>
          </p:nvSpPr>
          <p:spPr bwMode="white">
            <a:xfrm>
              <a:off x="0" y="57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7" name="Line 9"/>
            <p:cNvSpPr>
              <a:spLocks noChangeShapeType="1"/>
            </p:cNvSpPr>
            <p:nvPr userDrawn="1"/>
          </p:nvSpPr>
          <p:spPr bwMode="white">
            <a:xfrm>
              <a:off x="0" y="76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 userDrawn="1"/>
          </p:nvSpPr>
          <p:spPr bwMode="white">
            <a:xfrm>
              <a:off x="0" y="96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 userDrawn="1"/>
          </p:nvSpPr>
          <p:spPr bwMode="white">
            <a:xfrm>
              <a:off x="0" y="115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 userDrawn="1"/>
          </p:nvSpPr>
          <p:spPr bwMode="white">
            <a:xfrm>
              <a:off x="0" y="134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 userDrawn="1"/>
          </p:nvSpPr>
          <p:spPr bwMode="white">
            <a:xfrm>
              <a:off x="0" y="153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 userDrawn="1"/>
          </p:nvSpPr>
          <p:spPr bwMode="white">
            <a:xfrm>
              <a:off x="0" y="172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 userDrawn="1"/>
          </p:nvSpPr>
          <p:spPr bwMode="white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 userDrawn="1"/>
          </p:nvSpPr>
          <p:spPr bwMode="white">
            <a:xfrm>
              <a:off x="0" y="211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5" name="Line 17"/>
            <p:cNvSpPr>
              <a:spLocks noChangeShapeType="1"/>
            </p:cNvSpPr>
            <p:nvPr userDrawn="1"/>
          </p:nvSpPr>
          <p:spPr bwMode="white">
            <a:xfrm>
              <a:off x="0" y="230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 userDrawn="1"/>
          </p:nvSpPr>
          <p:spPr bwMode="white">
            <a:xfrm>
              <a:off x="0" y="249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7" name="Line 19"/>
            <p:cNvSpPr>
              <a:spLocks noChangeShapeType="1"/>
            </p:cNvSpPr>
            <p:nvPr userDrawn="1"/>
          </p:nvSpPr>
          <p:spPr bwMode="white">
            <a:xfrm>
              <a:off x="0" y="268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 userDrawn="1"/>
          </p:nvSpPr>
          <p:spPr bwMode="white">
            <a:xfrm>
              <a:off x="0" y="288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 userDrawn="1"/>
          </p:nvSpPr>
          <p:spPr bwMode="white">
            <a:xfrm>
              <a:off x="0" y="307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 userDrawn="1"/>
          </p:nvSpPr>
          <p:spPr bwMode="white">
            <a:xfrm>
              <a:off x="0" y="326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 userDrawn="1"/>
          </p:nvSpPr>
          <p:spPr bwMode="white">
            <a:xfrm>
              <a:off x="0" y="3456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 userDrawn="1"/>
          </p:nvSpPr>
          <p:spPr bwMode="white">
            <a:xfrm>
              <a:off x="0" y="3648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 userDrawn="1"/>
          </p:nvSpPr>
          <p:spPr bwMode="white">
            <a:xfrm>
              <a:off x="0" y="3840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 userDrawn="1"/>
          </p:nvSpPr>
          <p:spPr bwMode="white">
            <a:xfrm>
              <a:off x="0" y="4032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 userDrawn="1"/>
          </p:nvSpPr>
          <p:spPr bwMode="white">
            <a:xfrm>
              <a:off x="0" y="4224"/>
              <a:ext cx="5760" cy="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 userDrawn="1"/>
          </p:nvSpPr>
          <p:spPr bwMode="white">
            <a:xfrm>
              <a:off x="19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 userDrawn="1"/>
          </p:nvSpPr>
          <p:spPr bwMode="white">
            <a:xfrm>
              <a:off x="38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 userDrawn="1"/>
          </p:nvSpPr>
          <p:spPr bwMode="white">
            <a:xfrm>
              <a:off x="57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 userDrawn="1"/>
          </p:nvSpPr>
          <p:spPr bwMode="white">
            <a:xfrm>
              <a:off x="76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 userDrawn="1"/>
          </p:nvSpPr>
          <p:spPr bwMode="white">
            <a:xfrm>
              <a:off x="96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 userDrawn="1"/>
          </p:nvSpPr>
          <p:spPr bwMode="white">
            <a:xfrm>
              <a:off x="115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 userDrawn="1"/>
          </p:nvSpPr>
          <p:spPr bwMode="white">
            <a:xfrm>
              <a:off x="134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 userDrawn="1"/>
          </p:nvSpPr>
          <p:spPr bwMode="white">
            <a:xfrm>
              <a:off x="153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 userDrawn="1"/>
          </p:nvSpPr>
          <p:spPr bwMode="white">
            <a:xfrm>
              <a:off x="172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 userDrawn="1"/>
          </p:nvSpPr>
          <p:spPr bwMode="white">
            <a:xfrm>
              <a:off x="192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 userDrawn="1"/>
          </p:nvSpPr>
          <p:spPr bwMode="white">
            <a:xfrm>
              <a:off x="211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 userDrawn="1"/>
          </p:nvSpPr>
          <p:spPr bwMode="white">
            <a:xfrm>
              <a:off x="230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 userDrawn="1"/>
          </p:nvSpPr>
          <p:spPr bwMode="white">
            <a:xfrm>
              <a:off x="249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 userDrawn="1"/>
          </p:nvSpPr>
          <p:spPr bwMode="white">
            <a:xfrm>
              <a:off x="268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 userDrawn="1"/>
          </p:nvSpPr>
          <p:spPr bwMode="white">
            <a:xfrm>
              <a:off x="288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 userDrawn="1"/>
          </p:nvSpPr>
          <p:spPr bwMode="white">
            <a:xfrm>
              <a:off x="307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 userDrawn="1"/>
          </p:nvSpPr>
          <p:spPr bwMode="white">
            <a:xfrm>
              <a:off x="326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3" name="Line 45"/>
            <p:cNvSpPr>
              <a:spLocks noChangeShapeType="1"/>
            </p:cNvSpPr>
            <p:nvPr userDrawn="1"/>
          </p:nvSpPr>
          <p:spPr bwMode="white">
            <a:xfrm>
              <a:off x="345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 userDrawn="1"/>
          </p:nvSpPr>
          <p:spPr bwMode="white">
            <a:xfrm>
              <a:off x="364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 userDrawn="1"/>
          </p:nvSpPr>
          <p:spPr bwMode="white">
            <a:xfrm>
              <a:off x="384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 userDrawn="1"/>
          </p:nvSpPr>
          <p:spPr bwMode="white">
            <a:xfrm>
              <a:off x="403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 userDrawn="1"/>
          </p:nvSpPr>
          <p:spPr bwMode="white">
            <a:xfrm>
              <a:off x="422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 userDrawn="1"/>
          </p:nvSpPr>
          <p:spPr bwMode="white">
            <a:xfrm>
              <a:off x="441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 userDrawn="1"/>
          </p:nvSpPr>
          <p:spPr bwMode="white">
            <a:xfrm>
              <a:off x="460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 userDrawn="1"/>
          </p:nvSpPr>
          <p:spPr bwMode="white">
            <a:xfrm>
              <a:off x="4800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 userDrawn="1"/>
          </p:nvSpPr>
          <p:spPr bwMode="white">
            <a:xfrm>
              <a:off x="4992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2" name="Line 54"/>
            <p:cNvSpPr>
              <a:spLocks noChangeShapeType="1"/>
            </p:cNvSpPr>
            <p:nvPr userDrawn="1"/>
          </p:nvSpPr>
          <p:spPr bwMode="white">
            <a:xfrm>
              <a:off x="5184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 userDrawn="1"/>
          </p:nvSpPr>
          <p:spPr bwMode="white">
            <a:xfrm>
              <a:off x="5376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 userDrawn="1"/>
          </p:nvSpPr>
          <p:spPr bwMode="white">
            <a:xfrm>
              <a:off x="5568" y="0"/>
              <a:ext cx="0" cy="4320"/>
            </a:xfrm>
            <a:prstGeom prst="line">
              <a:avLst/>
            </a:prstGeom>
            <a:noFill/>
            <a:ln w="9525">
              <a:pattFill prst="pct30">
                <a:fgClr>
                  <a:schemeClr val="folHlink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</p:grpSp>
      <p:sp>
        <p:nvSpPr>
          <p:cNvPr id="55" name="Line 57"/>
          <p:cNvSpPr>
            <a:spLocks noChangeShapeType="1"/>
          </p:cNvSpPr>
          <p:nvPr/>
        </p:nvSpPr>
        <p:spPr bwMode="ltGray">
          <a:xfrm>
            <a:off x="8382000" y="0"/>
            <a:ext cx="0" cy="2362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6" name="Line 59"/>
          <p:cNvSpPr>
            <a:spLocks noChangeShapeType="1"/>
          </p:cNvSpPr>
          <p:nvPr/>
        </p:nvSpPr>
        <p:spPr bwMode="ltGray">
          <a:xfrm>
            <a:off x="803275" y="160338"/>
            <a:ext cx="0" cy="28511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7" name="Line 60"/>
          <p:cNvSpPr>
            <a:spLocks noChangeShapeType="1"/>
          </p:cNvSpPr>
          <p:nvPr/>
        </p:nvSpPr>
        <p:spPr bwMode="ltGray">
          <a:xfrm flipH="1" flipV="1">
            <a:off x="0" y="2438400"/>
            <a:ext cx="50974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8" name="Line 61"/>
          <p:cNvSpPr>
            <a:spLocks noChangeShapeType="1"/>
          </p:cNvSpPr>
          <p:nvPr/>
        </p:nvSpPr>
        <p:spPr bwMode="ltGray">
          <a:xfrm flipH="1" flipV="1">
            <a:off x="609600" y="609600"/>
            <a:ext cx="60499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59" name="Arc 62"/>
          <p:cNvSpPr>
            <a:spLocks/>
          </p:cNvSpPr>
          <p:nvPr/>
        </p:nvSpPr>
        <p:spPr bwMode="ltGray">
          <a:xfrm rot="16200000" flipH="1">
            <a:off x="675482" y="486569"/>
            <a:ext cx="247650" cy="249237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0" name="Line 64"/>
          <p:cNvSpPr>
            <a:spLocks noChangeShapeType="1"/>
          </p:cNvSpPr>
          <p:nvPr/>
        </p:nvSpPr>
        <p:spPr bwMode="ltGray">
          <a:xfrm flipV="1">
            <a:off x="2514600" y="6323013"/>
            <a:ext cx="6045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1" name="Line 65"/>
          <p:cNvSpPr>
            <a:spLocks noChangeShapeType="1"/>
          </p:cNvSpPr>
          <p:nvPr/>
        </p:nvSpPr>
        <p:spPr bwMode="ltGray">
          <a:xfrm flipH="1">
            <a:off x="8382000" y="3905250"/>
            <a:ext cx="0" cy="28765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62" name="Arc 66"/>
          <p:cNvSpPr>
            <a:spLocks/>
          </p:cNvSpPr>
          <p:nvPr/>
        </p:nvSpPr>
        <p:spPr bwMode="ltGray">
          <a:xfrm rot="5400000">
            <a:off x="8255794" y="6171406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pic>
        <p:nvPicPr>
          <p:cNvPr id="63" name="Picture 152" descr="uns - color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898525"/>
            <a:ext cx="1220788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" name="Rectangle 15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09800" y="669925"/>
            <a:ext cx="487680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Univerzitet</a:t>
            </a:r>
            <a:r>
              <a:rPr lang="en-US" sz="2400" b="1" dirty="0">
                <a:solidFill>
                  <a:srgbClr val="40458C"/>
                </a:solidFill>
                <a:cs typeface="Times New Roman" pitchFamily="18" charset="0"/>
              </a:rPr>
              <a:t> u </a:t>
            </a: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Novom</a:t>
            </a:r>
            <a:r>
              <a:rPr lang="en-US" sz="2400" b="1" dirty="0">
                <a:solidFill>
                  <a:srgbClr val="40458C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40458C"/>
                </a:solidFill>
                <a:cs typeface="Times New Roman" pitchFamily="18" charset="0"/>
              </a:rPr>
              <a:t>Sadu</a:t>
            </a:r>
            <a:endParaRPr lang="en-US" sz="2400" b="1" dirty="0">
              <a:solidFill>
                <a:srgbClr val="40458C"/>
              </a:solidFill>
              <a:cs typeface="Times New Roman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40458C"/>
                </a:solidFill>
                <a:cs typeface="Times New Roman" pitchFamily="18" charset="0"/>
              </a:rPr>
              <a:t>Fakultet</a:t>
            </a:r>
            <a:r>
              <a:rPr lang="en-US" sz="2400" dirty="0">
                <a:solidFill>
                  <a:srgbClr val="40458C"/>
                </a:solidFill>
                <a:cs typeface="Times New Roman" pitchFamily="18" charset="0"/>
              </a:rPr>
              <a:t> </a:t>
            </a:r>
            <a:r>
              <a:rPr lang="sr-Latn-CS" sz="2400" dirty="0">
                <a:solidFill>
                  <a:srgbClr val="40458C"/>
                </a:solidFill>
                <a:cs typeface="Times New Roman" pitchFamily="18" charset="0"/>
              </a:rPr>
              <a:t>tehničkih nauka</a:t>
            </a:r>
            <a:endParaRPr lang="en-US" sz="2400" dirty="0">
              <a:solidFill>
                <a:srgbClr val="40458C"/>
              </a:solidFill>
              <a:cs typeface="Times New Roman" pitchFamily="18" charset="0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  <a:defRPr/>
            </a:pPr>
            <a:r>
              <a:rPr lang="sr-Latn-CS" dirty="0">
                <a:solidFill>
                  <a:srgbClr val="40458C"/>
                </a:solidFill>
                <a:cs typeface="Times New Roman" pitchFamily="18" charset="0"/>
              </a:rPr>
              <a:t>Odsek za računarsku tehniku i </a:t>
            </a:r>
            <a:br>
              <a:rPr lang="sr-Latn-CS" dirty="0">
                <a:solidFill>
                  <a:srgbClr val="40458C"/>
                </a:solidFill>
                <a:cs typeface="Times New Roman" pitchFamily="18" charset="0"/>
              </a:rPr>
            </a:br>
            <a:r>
              <a:rPr lang="sr-Latn-CS" dirty="0">
                <a:solidFill>
                  <a:srgbClr val="40458C"/>
                </a:solidFill>
                <a:cs typeface="Times New Roman" pitchFamily="18" charset="0"/>
              </a:rPr>
              <a:t>računarske komunikacije</a:t>
            </a:r>
            <a:endParaRPr lang="en-US" dirty="0">
              <a:solidFill>
                <a:srgbClr val="40458C"/>
              </a:solidFill>
            </a:endParaRPr>
          </a:p>
        </p:txBody>
      </p:sp>
      <p:pic>
        <p:nvPicPr>
          <p:cNvPr id="65" name="Picture 154" descr="FTN-black_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37400" y="898525"/>
            <a:ext cx="1150938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Line 156"/>
          <p:cNvSpPr>
            <a:spLocks noChangeShapeType="1"/>
          </p:cNvSpPr>
          <p:nvPr/>
        </p:nvSpPr>
        <p:spPr bwMode="ltGray">
          <a:xfrm flipH="1" flipV="1">
            <a:off x="2133600" y="4876800"/>
            <a:ext cx="48688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EF931-3F66-4EE1-9F0F-F30F214CD662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67235-342B-44E4-9B89-6E8DE5D54313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FA205-D132-4C27-B7A8-092B77270444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8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9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7C210-8077-48E9-882D-0C450F3FDCF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4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5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0E1E8-99E5-41A0-AD23-4C8EC4A45EE3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3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4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42DA-B973-44BD-9C27-FFA80A6BCFC0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C8336-62C6-498B-BBAA-848F48CCEC0B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BBEFA-F7DA-4DDB-81E2-8C3048564E9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81493-5897-4B13-A81C-A66F3C2C5D0B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95500" cy="6248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341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5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6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0347C-7B0B-4ABD-9D27-DF2F921E3669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172200" cy="1219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1148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3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6" name="Rectangle 7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7" name="Rectangle 7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51191-E9BC-45D1-AFAD-A9EC384C4BBD}" type="slidenum">
              <a:rPr lang="en-US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A626-38FF-4475-A83A-18D1D6A3216A}" type="datetimeFigureOut">
              <a:rPr lang="en-US" smtClean="0"/>
              <a:pPr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4D9D9-105C-409A-9715-D0E3732D9C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0" y="192"/>
              <a:ext cx="5760" cy="4032"/>
              <a:chOff x="0" y="192"/>
              <a:chExt cx="5760" cy="4032"/>
            </a:xfrm>
          </p:grpSpPr>
          <p:sp>
            <p:nvSpPr>
              <p:cNvPr id="14341" name="Line 5"/>
              <p:cNvSpPr>
                <a:spLocks noChangeShapeType="1"/>
              </p:cNvSpPr>
              <p:nvPr userDrawn="1"/>
            </p:nvSpPr>
            <p:spPr bwMode="white">
              <a:xfrm>
                <a:off x="0" y="19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2" name="Line 6"/>
              <p:cNvSpPr>
                <a:spLocks noChangeShapeType="1"/>
              </p:cNvSpPr>
              <p:nvPr userDrawn="1"/>
            </p:nvSpPr>
            <p:spPr bwMode="white">
              <a:xfrm>
                <a:off x="0" y="38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3" name="Line 7"/>
              <p:cNvSpPr>
                <a:spLocks noChangeShapeType="1"/>
              </p:cNvSpPr>
              <p:nvPr userDrawn="1"/>
            </p:nvSpPr>
            <p:spPr bwMode="white">
              <a:xfrm>
                <a:off x="0" y="57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4" name="Line 8"/>
              <p:cNvSpPr>
                <a:spLocks noChangeShapeType="1"/>
              </p:cNvSpPr>
              <p:nvPr userDrawn="1"/>
            </p:nvSpPr>
            <p:spPr bwMode="white">
              <a:xfrm>
                <a:off x="0" y="76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5" name="Line 9"/>
              <p:cNvSpPr>
                <a:spLocks noChangeShapeType="1"/>
              </p:cNvSpPr>
              <p:nvPr userDrawn="1"/>
            </p:nvSpPr>
            <p:spPr bwMode="white">
              <a:xfrm>
                <a:off x="0" y="96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6" name="Line 10"/>
              <p:cNvSpPr>
                <a:spLocks noChangeShapeType="1"/>
              </p:cNvSpPr>
              <p:nvPr userDrawn="1"/>
            </p:nvSpPr>
            <p:spPr bwMode="white">
              <a:xfrm>
                <a:off x="0" y="115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7" name="Line 11"/>
              <p:cNvSpPr>
                <a:spLocks noChangeShapeType="1"/>
              </p:cNvSpPr>
              <p:nvPr userDrawn="1"/>
            </p:nvSpPr>
            <p:spPr bwMode="white">
              <a:xfrm>
                <a:off x="0" y="134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8" name="Line 12"/>
              <p:cNvSpPr>
                <a:spLocks noChangeShapeType="1"/>
              </p:cNvSpPr>
              <p:nvPr userDrawn="1"/>
            </p:nvSpPr>
            <p:spPr bwMode="white">
              <a:xfrm>
                <a:off x="0" y="153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49" name="Line 13"/>
              <p:cNvSpPr>
                <a:spLocks noChangeShapeType="1"/>
              </p:cNvSpPr>
              <p:nvPr userDrawn="1"/>
            </p:nvSpPr>
            <p:spPr bwMode="white">
              <a:xfrm>
                <a:off x="0" y="172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0" name="Line 14"/>
              <p:cNvSpPr>
                <a:spLocks noChangeShapeType="1"/>
              </p:cNvSpPr>
              <p:nvPr userDrawn="1"/>
            </p:nvSpPr>
            <p:spPr bwMode="white">
              <a:xfrm>
                <a:off x="0" y="192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1" name="Line 15"/>
              <p:cNvSpPr>
                <a:spLocks noChangeShapeType="1"/>
              </p:cNvSpPr>
              <p:nvPr userDrawn="1"/>
            </p:nvSpPr>
            <p:spPr bwMode="white">
              <a:xfrm>
                <a:off x="0" y="211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2" name="Line 16"/>
              <p:cNvSpPr>
                <a:spLocks noChangeShapeType="1"/>
              </p:cNvSpPr>
              <p:nvPr userDrawn="1"/>
            </p:nvSpPr>
            <p:spPr bwMode="white">
              <a:xfrm>
                <a:off x="0" y="230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3" name="Line 17"/>
              <p:cNvSpPr>
                <a:spLocks noChangeShapeType="1"/>
              </p:cNvSpPr>
              <p:nvPr userDrawn="1"/>
            </p:nvSpPr>
            <p:spPr bwMode="white">
              <a:xfrm>
                <a:off x="0" y="249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 userDrawn="1"/>
            </p:nvSpPr>
            <p:spPr bwMode="white">
              <a:xfrm>
                <a:off x="0" y="268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5" name="Line 19"/>
              <p:cNvSpPr>
                <a:spLocks noChangeShapeType="1"/>
              </p:cNvSpPr>
              <p:nvPr userDrawn="1"/>
            </p:nvSpPr>
            <p:spPr bwMode="white">
              <a:xfrm>
                <a:off x="0" y="288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6" name="Line 20"/>
              <p:cNvSpPr>
                <a:spLocks noChangeShapeType="1"/>
              </p:cNvSpPr>
              <p:nvPr userDrawn="1"/>
            </p:nvSpPr>
            <p:spPr bwMode="white">
              <a:xfrm>
                <a:off x="0" y="307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 userDrawn="1"/>
            </p:nvSpPr>
            <p:spPr bwMode="white">
              <a:xfrm>
                <a:off x="0" y="326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 userDrawn="1"/>
            </p:nvSpPr>
            <p:spPr bwMode="white">
              <a:xfrm>
                <a:off x="0" y="345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 userDrawn="1"/>
            </p:nvSpPr>
            <p:spPr bwMode="white">
              <a:xfrm>
                <a:off x="0" y="364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0" name="Line 24"/>
              <p:cNvSpPr>
                <a:spLocks noChangeShapeType="1"/>
              </p:cNvSpPr>
              <p:nvPr userDrawn="1"/>
            </p:nvSpPr>
            <p:spPr bwMode="white">
              <a:xfrm>
                <a:off x="0" y="384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1" name="Line 25"/>
              <p:cNvSpPr>
                <a:spLocks noChangeShapeType="1"/>
              </p:cNvSpPr>
              <p:nvPr userDrawn="1"/>
            </p:nvSpPr>
            <p:spPr bwMode="white">
              <a:xfrm>
                <a:off x="0" y="403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2" name="Line 26"/>
              <p:cNvSpPr>
                <a:spLocks noChangeShapeType="1"/>
              </p:cNvSpPr>
              <p:nvPr userDrawn="1"/>
            </p:nvSpPr>
            <p:spPr bwMode="white">
              <a:xfrm>
                <a:off x="0" y="422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</p:grpSp>
        <p:grpSp>
          <p:nvGrpSpPr>
            <p:cNvPr id="4" name="Group 27"/>
            <p:cNvGrpSpPr>
              <a:grpSpLocks/>
            </p:cNvGrpSpPr>
            <p:nvPr userDrawn="1"/>
          </p:nvGrpSpPr>
          <p:grpSpPr bwMode="auto">
            <a:xfrm>
              <a:off x="192" y="0"/>
              <a:ext cx="5376" cy="4320"/>
              <a:chOff x="192" y="0"/>
              <a:chExt cx="5376" cy="4320"/>
            </a:xfrm>
          </p:grpSpPr>
          <p:sp>
            <p:nvSpPr>
              <p:cNvPr id="14364" name="Line 28"/>
              <p:cNvSpPr>
                <a:spLocks noChangeShapeType="1"/>
              </p:cNvSpPr>
              <p:nvPr userDrawn="1"/>
            </p:nvSpPr>
            <p:spPr bwMode="white">
              <a:xfrm>
                <a:off x="1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5" name="Line 29"/>
              <p:cNvSpPr>
                <a:spLocks noChangeShapeType="1"/>
              </p:cNvSpPr>
              <p:nvPr userDrawn="1"/>
            </p:nvSpPr>
            <p:spPr bwMode="white">
              <a:xfrm>
                <a:off x="3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6" name="Line 30"/>
              <p:cNvSpPr>
                <a:spLocks noChangeShapeType="1"/>
              </p:cNvSpPr>
              <p:nvPr userDrawn="1"/>
            </p:nvSpPr>
            <p:spPr bwMode="white">
              <a:xfrm>
                <a:off x="5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7" name="Line 31"/>
              <p:cNvSpPr>
                <a:spLocks noChangeShapeType="1"/>
              </p:cNvSpPr>
              <p:nvPr userDrawn="1"/>
            </p:nvSpPr>
            <p:spPr bwMode="white">
              <a:xfrm>
                <a:off x="7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8" name="Line 32"/>
              <p:cNvSpPr>
                <a:spLocks noChangeShapeType="1"/>
              </p:cNvSpPr>
              <p:nvPr userDrawn="1"/>
            </p:nvSpPr>
            <p:spPr bwMode="white">
              <a:xfrm>
                <a:off x="96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69" name="Line 33"/>
              <p:cNvSpPr>
                <a:spLocks noChangeShapeType="1"/>
              </p:cNvSpPr>
              <p:nvPr userDrawn="1"/>
            </p:nvSpPr>
            <p:spPr bwMode="white">
              <a:xfrm>
                <a:off x="115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0" name="Line 34"/>
              <p:cNvSpPr>
                <a:spLocks noChangeShapeType="1"/>
              </p:cNvSpPr>
              <p:nvPr userDrawn="1"/>
            </p:nvSpPr>
            <p:spPr bwMode="white">
              <a:xfrm>
                <a:off x="134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1" name="Line 35"/>
              <p:cNvSpPr>
                <a:spLocks noChangeShapeType="1"/>
              </p:cNvSpPr>
              <p:nvPr userDrawn="1"/>
            </p:nvSpPr>
            <p:spPr bwMode="white">
              <a:xfrm>
                <a:off x="153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2" name="Line 36"/>
              <p:cNvSpPr>
                <a:spLocks noChangeShapeType="1"/>
              </p:cNvSpPr>
              <p:nvPr userDrawn="1"/>
            </p:nvSpPr>
            <p:spPr bwMode="white">
              <a:xfrm>
                <a:off x="172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3" name="Line 37"/>
              <p:cNvSpPr>
                <a:spLocks noChangeShapeType="1"/>
              </p:cNvSpPr>
              <p:nvPr userDrawn="1"/>
            </p:nvSpPr>
            <p:spPr bwMode="white">
              <a:xfrm>
                <a:off x="192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4" name="Line 38"/>
              <p:cNvSpPr>
                <a:spLocks noChangeShapeType="1"/>
              </p:cNvSpPr>
              <p:nvPr userDrawn="1"/>
            </p:nvSpPr>
            <p:spPr bwMode="white">
              <a:xfrm>
                <a:off x="211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5" name="Line 39"/>
              <p:cNvSpPr>
                <a:spLocks noChangeShapeType="1"/>
              </p:cNvSpPr>
              <p:nvPr userDrawn="1"/>
            </p:nvSpPr>
            <p:spPr bwMode="white">
              <a:xfrm>
                <a:off x="230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6" name="Line 40"/>
              <p:cNvSpPr>
                <a:spLocks noChangeShapeType="1"/>
              </p:cNvSpPr>
              <p:nvPr userDrawn="1"/>
            </p:nvSpPr>
            <p:spPr bwMode="white">
              <a:xfrm>
                <a:off x="249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7" name="Line 41"/>
              <p:cNvSpPr>
                <a:spLocks noChangeShapeType="1"/>
              </p:cNvSpPr>
              <p:nvPr userDrawn="1"/>
            </p:nvSpPr>
            <p:spPr bwMode="white">
              <a:xfrm>
                <a:off x="268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8" name="Line 42"/>
              <p:cNvSpPr>
                <a:spLocks noChangeShapeType="1"/>
              </p:cNvSpPr>
              <p:nvPr userDrawn="1"/>
            </p:nvSpPr>
            <p:spPr bwMode="white">
              <a:xfrm>
                <a:off x="288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79" name="Line 43"/>
              <p:cNvSpPr>
                <a:spLocks noChangeShapeType="1"/>
              </p:cNvSpPr>
              <p:nvPr userDrawn="1"/>
            </p:nvSpPr>
            <p:spPr bwMode="white">
              <a:xfrm>
                <a:off x="307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0" name="Line 44"/>
              <p:cNvSpPr>
                <a:spLocks noChangeShapeType="1"/>
              </p:cNvSpPr>
              <p:nvPr userDrawn="1"/>
            </p:nvSpPr>
            <p:spPr bwMode="white">
              <a:xfrm>
                <a:off x="326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1" name="Line 45"/>
              <p:cNvSpPr>
                <a:spLocks noChangeShapeType="1"/>
              </p:cNvSpPr>
              <p:nvPr userDrawn="1"/>
            </p:nvSpPr>
            <p:spPr bwMode="white">
              <a:xfrm>
                <a:off x="345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2" name="Line 46"/>
              <p:cNvSpPr>
                <a:spLocks noChangeShapeType="1"/>
              </p:cNvSpPr>
              <p:nvPr userDrawn="1"/>
            </p:nvSpPr>
            <p:spPr bwMode="white">
              <a:xfrm>
                <a:off x="364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3" name="Line 47"/>
              <p:cNvSpPr>
                <a:spLocks noChangeShapeType="1"/>
              </p:cNvSpPr>
              <p:nvPr userDrawn="1"/>
            </p:nvSpPr>
            <p:spPr bwMode="white">
              <a:xfrm>
                <a:off x="384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4" name="Line 48"/>
              <p:cNvSpPr>
                <a:spLocks noChangeShapeType="1"/>
              </p:cNvSpPr>
              <p:nvPr userDrawn="1"/>
            </p:nvSpPr>
            <p:spPr bwMode="white">
              <a:xfrm>
                <a:off x="403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5" name="Line 49"/>
              <p:cNvSpPr>
                <a:spLocks noChangeShapeType="1"/>
              </p:cNvSpPr>
              <p:nvPr userDrawn="1"/>
            </p:nvSpPr>
            <p:spPr bwMode="white">
              <a:xfrm>
                <a:off x="422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6" name="Line 50"/>
              <p:cNvSpPr>
                <a:spLocks noChangeShapeType="1"/>
              </p:cNvSpPr>
              <p:nvPr userDrawn="1"/>
            </p:nvSpPr>
            <p:spPr bwMode="white">
              <a:xfrm>
                <a:off x="441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7" name="Line 51"/>
              <p:cNvSpPr>
                <a:spLocks noChangeShapeType="1"/>
              </p:cNvSpPr>
              <p:nvPr userDrawn="1"/>
            </p:nvSpPr>
            <p:spPr bwMode="white">
              <a:xfrm>
                <a:off x="460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8" name="Line 52"/>
              <p:cNvSpPr>
                <a:spLocks noChangeShapeType="1"/>
              </p:cNvSpPr>
              <p:nvPr userDrawn="1"/>
            </p:nvSpPr>
            <p:spPr bwMode="white">
              <a:xfrm>
                <a:off x="480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89" name="Line 53"/>
              <p:cNvSpPr>
                <a:spLocks noChangeShapeType="1"/>
              </p:cNvSpPr>
              <p:nvPr userDrawn="1"/>
            </p:nvSpPr>
            <p:spPr bwMode="white">
              <a:xfrm>
                <a:off x="49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0" name="Line 54"/>
              <p:cNvSpPr>
                <a:spLocks noChangeShapeType="1"/>
              </p:cNvSpPr>
              <p:nvPr userDrawn="1"/>
            </p:nvSpPr>
            <p:spPr bwMode="white">
              <a:xfrm>
                <a:off x="51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1" name="Line 55"/>
              <p:cNvSpPr>
                <a:spLocks noChangeShapeType="1"/>
              </p:cNvSpPr>
              <p:nvPr userDrawn="1"/>
            </p:nvSpPr>
            <p:spPr bwMode="white">
              <a:xfrm>
                <a:off x="53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  <p:sp>
            <p:nvSpPr>
              <p:cNvPr id="14392" name="Line 56"/>
              <p:cNvSpPr>
                <a:spLocks noChangeShapeType="1"/>
              </p:cNvSpPr>
              <p:nvPr userDrawn="1"/>
            </p:nvSpPr>
            <p:spPr bwMode="white">
              <a:xfrm>
                <a:off x="55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6F89F7"/>
                  </a:buClr>
                  <a:buFont typeface="Wingdings" pitchFamily="2" charset="2"/>
                  <a:buChar char="v"/>
                  <a:defRPr/>
                </a:pPr>
                <a:endParaRPr lang="en-US" sz="3600">
                  <a:solidFill>
                    <a:srgbClr val="40458C"/>
                  </a:solidFill>
                </a:endParaRPr>
              </a:p>
            </p:txBody>
          </p:sp>
        </p:grpSp>
      </p:grpSp>
      <p:sp>
        <p:nvSpPr>
          <p:cNvPr id="14393" name="Rectangle 57" descr="60%"/>
          <p:cNvSpPr>
            <a:spLocks noChangeArrowheads="1"/>
          </p:cNvSpPr>
          <p:nvPr/>
        </p:nvSpPr>
        <p:spPr bwMode="ltGray"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14394" name="Line 58"/>
          <p:cNvSpPr>
            <a:spLocks noChangeShapeType="1"/>
          </p:cNvSpPr>
          <p:nvPr/>
        </p:nvSpPr>
        <p:spPr bwMode="ltGray">
          <a:xfrm>
            <a:off x="8839200" y="0"/>
            <a:ext cx="0" cy="2362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120650" y="1416050"/>
            <a:ext cx="1784350" cy="2324100"/>
            <a:chOff x="96" y="916"/>
            <a:chExt cx="2208" cy="2876"/>
          </a:xfrm>
        </p:grpSpPr>
        <p:sp>
          <p:nvSpPr>
            <p:cNvPr id="14396" name="Line 60"/>
            <p:cNvSpPr>
              <a:spLocks noChangeShapeType="1"/>
            </p:cNvSpPr>
            <p:nvPr userDrawn="1"/>
          </p:nvSpPr>
          <p:spPr bwMode="ltGray">
            <a:xfrm flipH="1">
              <a:off x="96" y="1038"/>
              <a:ext cx="220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397" name="Line 61"/>
            <p:cNvSpPr>
              <a:spLocks noChangeShapeType="1"/>
            </p:cNvSpPr>
            <p:nvPr userDrawn="1"/>
          </p:nvSpPr>
          <p:spPr bwMode="ltGray">
            <a:xfrm>
              <a:off x="336" y="920"/>
              <a:ext cx="0" cy="287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  <p:sp>
          <p:nvSpPr>
            <p:cNvPr id="14398" name="Arc 62"/>
            <p:cNvSpPr>
              <a:spLocks/>
            </p:cNvSpPr>
            <p:nvPr userDrawn="1"/>
          </p:nvSpPr>
          <p:spPr bwMode="ltGray">
            <a:xfrm flipH="1">
              <a:off x="218" y="916"/>
              <a:ext cx="238" cy="240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F89F7"/>
                </a:buClr>
                <a:buFont typeface="Wingdings" pitchFamily="2" charset="2"/>
                <a:buChar char="v"/>
                <a:defRPr/>
              </a:pPr>
              <a:endParaRPr lang="en-US" sz="3600">
                <a:solidFill>
                  <a:srgbClr val="40458C"/>
                </a:solidFill>
              </a:endParaRPr>
            </a:p>
          </p:txBody>
        </p:sp>
      </p:grpSp>
      <p:sp>
        <p:nvSpPr>
          <p:cNvPr id="5126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172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27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407" name="Rectangle 71"/>
          <p:cNvSpPr>
            <a:spLocks noChangeArrowheads="1"/>
          </p:cNvSpPr>
          <p:nvPr/>
        </p:nvSpPr>
        <p:spPr bwMode="auto">
          <a:xfrm>
            <a:off x="3719513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Char char="v"/>
              <a:defRPr/>
            </a:pPr>
            <a:endParaRPr lang="en-US" sz="3600">
              <a:solidFill>
                <a:srgbClr val="40458C"/>
              </a:solidFill>
            </a:endParaRPr>
          </a:p>
        </p:txBody>
      </p:sp>
      <p:sp>
        <p:nvSpPr>
          <p:cNvPr id="14409" name="Rectangle 73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810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>
                <a:solidFill>
                  <a:srgbClr val="40458C"/>
                </a:solidFill>
              </a:rPr>
              <a:t>19.10.2011.</a:t>
            </a:r>
          </a:p>
        </p:txBody>
      </p:sp>
      <p:sp>
        <p:nvSpPr>
          <p:cNvPr id="14410" name="Rectangle 7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53200"/>
            <a:ext cx="43211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sr-Latn-CS">
                <a:solidFill>
                  <a:srgbClr val="40458C"/>
                </a:solidFill>
              </a:rPr>
              <a:t>Aritmetičke kombinacione mreže i standardne sekvencijalne mreže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14411" name="Rectangle 7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fontAlgn="base">
              <a:spcAft>
                <a:spcPct val="0"/>
              </a:spcAft>
              <a:defRPr/>
            </a:pPr>
            <a:fld id="{9B792F47-BFB8-4A6B-BC08-5D821E7004FA}" type="slidenum">
              <a:rPr lang="en-US">
                <a:solidFill>
                  <a:srgbClr val="40458C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5132" name="Picture 78" descr="uns - colored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8600" y="228600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149" descr="FTN-black_whit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543800" y="288925"/>
            <a:ext cx="1150938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ChangeArrowheads="1"/>
          </p:cNvSpPr>
          <p:nvPr/>
        </p:nvSpPr>
        <p:spPr bwMode="auto">
          <a:xfrm>
            <a:off x="3719513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1" name="Line 95"/>
          <p:cNvSpPr>
            <a:spLocks noChangeShapeType="1"/>
          </p:cNvSpPr>
          <p:nvPr/>
        </p:nvSpPr>
        <p:spPr bwMode="ltGray">
          <a:xfrm flipH="1" flipV="1">
            <a:off x="2133600" y="4876800"/>
            <a:ext cx="4868863" cy="15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98"/>
          <p:cNvSpPr>
            <a:spLocks noChangeArrowheads="1"/>
          </p:cNvSpPr>
          <p:nvPr/>
        </p:nvSpPr>
        <p:spPr bwMode="auto">
          <a:xfrm>
            <a:off x="838200" y="2514600"/>
            <a:ext cx="7467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4000" dirty="0" smtClean="0"/>
              <a:t>Ra</a:t>
            </a:r>
            <a:r>
              <a:rPr lang="sr-Latn-RS" sz="4000" dirty="0" smtClean="0"/>
              <a:t>čunarske arhitekture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173" name="Rectangle 99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5097463"/>
            <a:ext cx="746760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lnSpc>
                <a:spcPct val="100000"/>
              </a:lnSpc>
              <a:buFont typeface="Wingdings" pitchFamily="2" charset="2"/>
              <a:buNone/>
            </a:pPr>
            <a:endParaRPr 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Š</a:t>
            </a:r>
            <a:r>
              <a:rPr lang="sr-Latn-RS" dirty="0" smtClean="0"/>
              <a:t>ta podrazumevamo pod arhitekturom računara</a:t>
            </a:r>
            <a:endParaRPr lang="en-US" dirty="0" smtClean="0"/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DBC281-E305-46A8-BF27-F82BF914B429}" type="slidenum">
              <a:rPr lang="en-US" smtClean="0">
                <a:solidFill>
                  <a:srgbClr val="40458C"/>
                </a:solidFill>
              </a:rPr>
              <a:pPr/>
              <a:t>2</a:t>
            </a:fld>
            <a:endParaRPr lang="en-US" smtClean="0">
              <a:solidFill>
                <a:srgbClr val="40458C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4175" y="1628775"/>
            <a:ext cx="838200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sr-Latn-RS" sz="2800" dirty="0" smtClean="0"/>
              <a:t>Pristup projektovanju, dizajnu i povezivanju hardverskih računarskih komponenti, njihovo povezivanje preko HW/SW sprege pri kreiranju računarskog sistema po zadatim kriterijumima kao što su funkcionalnost, potrošnja energije, cena, specifični ciljevi.</a:t>
            </a:r>
            <a:endParaRPr lang="en-US" sz="28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</a:pPr>
            <a:endParaRPr lang="en-US" sz="2800" b="1" dirty="0" smtClean="0">
              <a:solidFill>
                <a:srgbClr val="40458C"/>
              </a:solidFill>
            </a:endParaRP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F89F7"/>
              </a:buClr>
              <a:buFont typeface="Wingdings" pitchFamily="2" charset="2"/>
              <a:buNone/>
            </a:pPr>
            <a:endParaRPr lang="en-US" sz="2800" b="1" dirty="0" smtClean="0">
              <a:solidFill>
                <a:srgbClr val="40458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Podsetimo</a:t>
            </a:r>
            <a:r>
              <a:rPr lang="en-US" dirty="0" smtClean="0"/>
              <a:t> se </a:t>
            </a:r>
            <a:r>
              <a:rPr lang="en-US" dirty="0" err="1" smtClean="0"/>
              <a:t>Murovog</a:t>
            </a:r>
            <a:r>
              <a:rPr lang="en-US" dirty="0" smtClean="0"/>
              <a:t> </a:t>
            </a:r>
            <a:r>
              <a:rPr lang="en-US" dirty="0" err="1" smtClean="0"/>
              <a:t>zakona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3448" cy="1180728"/>
          </a:xfrm>
        </p:spPr>
        <p:txBody>
          <a:bodyPr/>
          <a:lstStyle/>
          <a:p>
            <a:r>
              <a:rPr lang="en-US" dirty="0" err="1" smtClean="0"/>
              <a:t>Broj</a:t>
            </a:r>
            <a:r>
              <a:rPr lang="en-US" dirty="0" smtClean="0"/>
              <a:t> </a:t>
            </a:r>
            <a:r>
              <a:rPr lang="en-US" dirty="0" err="1" smtClean="0"/>
              <a:t>komponenti</a:t>
            </a:r>
            <a:r>
              <a:rPr lang="en-US" dirty="0" smtClean="0"/>
              <a:t> </a:t>
            </a:r>
            <a:r>
              <a:rPr lang="en-US" dirty="0" err="1" smtClean="0"/>
              <a:t>integrisanih</a:t>
            </a:r>
            <a:r>
              <a:rPr lang="en-US" dirty="0" smtClean="0"/>
              <a:t> u </a:t>
            </a:r>
            <a:r>
              <a:rPr lang="en-US" dirty="0" err="1" smtClean="0"/>
              <a:t>integrisano</a:t>
            </a:r>
            <a:r>
              <a:rPr lang="en-US" dirty="0" smtClean="0"/>
              <a:t> </a:t>
            </a:r>
            <a:r>
              <a:rPr lang="en-US" dirty="0" err="1" smtClean="0"/>
              <a:t>kolo</a:t>
            </a:r>
            <a:r>
              <a:rPr lang="en-US" dirty="0" smtClean="0"/>
              <a:t> </a:t>
            </a:r>
            <a:r>
              <a:rPr lang="en-US" dirty="0" err="1" smtClean="0"/>
              <a:t>duplira</a:t>
            </a:r>
            <a:r>
              <a:rPr lang="en-US" dirty="0" smtClean="0"/>
              <a:t> se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svake</a:t>
            </a:r>
            <a:r>
              <a:rPr lang="en-US" dirty="0" smtClean="0"/>
              <a:t> 2 </a:t>
            </a:r>
            <a:r>
              <a:rPr lang="en-US" dirty="0" err="1" smtClean="0"/>
              <a:t>godine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EEF931-3F66-4EE1-9F0F-F30F214CD662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3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057400"/>
            <a:ext cx="820891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0608"/>
            <a:ext cx="6172200" cy="824136"/>
          </a:xfrm>
        </p:spPr>
        <p:txBody>
          <a:bodyPr/>
          <a:lstStyle/>
          <a:p>
            <a:r>
              <a:rPr lang="sr-Latn-RS" dirty="0" smtClean="0"/>
              <a:t>Podsetimo se Amdalovog zakona </a:t>
            </a:r>
            <a:br>
              <a:rPr lang="sr-Latn-RS" dirty="0" smtClean="0"/>
            </a:br>
            <a:r>
              <a:rPr lang="sr-Latn-RS" dirty="0" smtClean="0"/>
              <a:t>(Gene </a:t>
            </a:r>
            <a:r>
              <a:rPr lang="sr-Latn-RS" smtClean="0"/>
              <a:t>Amdahl</a:t>
            </a:r>
            <a:r>
              <a:rPr lang="sr-Latn-RS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84784"/>
            <a:ext cx="6279232" cy="1296144"/>
          </a:xfrm>
        </p:spPr>
        <p:txBody>
          <a:bodyPr/>
          <a:lstStyle/>
          <a:p>
            <a:r>
              <a:rPr lang="sr-Latn-RS" dirty="0" smtClean="0"/>
              <a:t>Ubrzanje korišćenjem multiprocesorskih sistema </a:t>
            </a:r>
            <a:br>
              <a:rPr lang="sr-Latn-RS" dirty="0" smtClean="0"/>
            </a:br>
            <a:r>
              <a:rPr lang="sr-Latn-RS" dirty="0" smtClean="0"/>
              <a:t>Slatency – ubrzanje, p – nivo paralelizma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EEF931-3F66-4EE1-9F0F-F30F214CD662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4</a:t>
            </a:fld>
            <a:endParaRPr lang="en-US">
              <a:solidFill>
                <a:srgbClr val="40458C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t="1961" r="7358" b="2420"/>
          <a:stretch>
            <a:fillRect/>
          </a:stretch>
        </p:blipFill>
        <p:spPr bwMode="auto">
          <a:xfrm>
            <a:off x="395536" y="2708920"/>
            <a:ext cx="828092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700" y="1700808"/>
            <a:ext cx="24003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 fontScale="90000"/>
          </a:bodyPr>
          <a:lstStyle/>
          <a:p>
            <a:r>
              <a:rPr lang="sr-Latn-RS" sz="3400" dirty="0" smtClean="0">
                <a:ea typeface="ＭＳ Ｐゴシック" pitchFamily="34" charset="-128"/>
              </a:rPr>
              <a:t>Nivoi apstrakcije u okviru arhitekture računara</a:t>
            </a:r>
            <a:endParaRPr lang="en-US" sz="3400" dirty="0" smtClean="0">
              <a:ea typeface="ＭＳ Ｐゴシック" pitchFamily="34" charset="-128"/>
            </a:endParaRPr>
          </a:p>
        </p:txBody>
      </p:sp>
      <p:sp>
        <p:nvSpPr>
          <p:cNvPr id="111618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>
            <a:normAutofit/>
          </a:bodyPr>
          <a:lstStyle/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116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A5C4E9-3D8F-4B54-A6CC-8ECA7B45EB5C}" type="slidenum">
              <a:rPr lang="en-US"/>
              <a:pPr/>
              <a:t>5</a:t>
            </a:fld>
            <a:endParaRPr lang="en-US"/>
          </a:p>
        </p:txBody>
      </p:sp>
      <p:sp>
        <p:nvSpPr>
          <p:cNvPr id="111620" name="Text Box 17"/>
          <p:cNvSpPr txBox="1">
            <a:spLocks noChangeArrowheads="1"/>
          </p:cNvSpPr>
          <p:nvPr/>
        </p:nvSpPr>
        <p:spPr bwMode="auto">
          <a:xfrm>
            <a:off x="3406775" y="3678238"/>
            <a:ext cx="2029321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kr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oarhite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1" name="Text Box 18"/>
          <p:cNvSpPr txBox="1">
            <a:spLocks noChangeAspect="1" noChangeArrowheads="1"/>
          </p:cNvSpPr>
          <p:nvPr/>
        </p:nvSpPr>
        <p:spPr bwMode="auto">
          <a:xfrm>
            <a:off x="3406775" y="3306763"/>
            <a:ext cx="2041525" cy="366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ISA (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Ar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hitektura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2" name="Text Box 19"/>
          <p:cNvSpPr txBox="1">
            <a:spLocks noChangeAspect="1" noChangeArrowheads="1"/>
          </p:cNvSpPr>
          <p:nvPr/>
        </p:nvSpPr>
        <p:spPr bwMode="auto">
          <a:xfrm>
            <a:off x="3403600" y="2262188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Program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3" name="Text Box 20"/>
          <p:cNvSpPr txBox="1">
            <a:spLocks noChangeAspect="1" noChangeArrowheads="1"/>
          </p:cNvSpPr>
          <p:nvPr/>
        </p:nvSpPr>
        <p:spPr bwMode="auto">
          <a:xfrm>
            <a:off x="3403600" y="1890713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4" name="Text Box 21"/>
          <p:cNvSpPr txBox="1">
            <a:spLocks noChangeAspect="1" noChangeArrowheads="1"/>
          </p:cNvSpPr>
          <p:nvPr/>
        </p:nvSpPr>
        <p:spPr bwMode="auto">
          <a:xfrm>
            <a:off x="3403600" y="15240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10" name="Text Box 22"/>
          <p:cNvSpPr txBox="1">
            <a:spLocks noChangeAspect="1" noChangeArrowheads="1"/>
          </p:cNvSpPr>
          <p:nvPr/>
        </p:nvSpPr>
        <p:spPr bwMode="auto">
          <a:xfrm>
            <a:off x="3406775" y="405130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čka kola, 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mem</a:t>
            </a:r>
            <a:endParaRPr lang="en-US" dirty="0" err="1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11626" name="Text Box 23"/>
          <p:cNvSpPr txBox="1">
            <a:spLocks noChangeAspect="1" noChangeArrowheads="1"/>
          </p:cNvSpPr>
          <p:nvPr/>
        </p:nvSpPr>
        <p:spPr bwMode="auto">
          <a:xfrm>
            <a:off x="3406775" y="4422775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E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11627" name="Text Box 24"/>
          <p:cNvSpPr txBox="1">
            <a:spLocks noChangeAspect="1" noChangeArrowheads="1"/>
          </p:cNvSpPr>
          <p:nvPr/>
        </p:nvSpPr>
        <p:spPr bwMode="auto">
          <a:xfrm>
            <a:off x="3406775" y="2636838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OS)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</a:t>
            </a:r>
            <a:r>
              <a:rPr lang="sr-Latn-RS" dirty="0" smtClean="0"/>
              <a:t>ačunarska arhitektura iz perspektive SW inženjera - programera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126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553D37-AE12-44EA-8147-344A3A3BE5DC}" type="slidenum">
              <a:rPr lang="en-US"/>
              <a:pPr/>
              <a:t>6</a:t>
            </a:fld>
            <a:endParaRPr lang="en-US"/>
          </a:p>
        </p:txBody>
      </p:sp>
      <p:sp>
        <p:nvSpPr>
          <p:cNvPr id="43011" name="Text Box 17"/>
          <p:cNvSpPr txBox="1">
            <a:spLocks noChangeArrowheads="1"/>
          </p:cNvSpPr>
          <p:nvPr/>
        </p:nvSpPr>
        <p:spPr bwMode="auto">
          <a:xfrm>
            <a:off x="3711575" y="4221163"/>
            <a:ext cx="2012553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roarhite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2" name="Text Box 18"/>
          <p:cNvSpPr txBox="1">
            <a:spLocks noChangeAspect="1" noChangeArrowheads="1"/>
          </p:cNvSpPr>
          <p:nvPr/>
        </p:nvSpPr>
        <p:spPr bwMode="auto">
          <a:xfrm>
            <a:off x="3711575" y="3848100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ISA</a:t>
            </a:r>
          </a:p>
        </p:txBody>
      </p:sp>
      <p:sp>
        <p:nvSpPr>
          <p:cNvPr id="43013" name="Text Box 19"/>
          <p:cNvSpPr txBox="1">
            <a:spLocks noChangeAspect="1" noChangeArrowheads="1"/>
          </p:cNvSpPr>
          <p:nvPr/>
        </p:nvSpPr>
        <p:spPr bwMode="auto">
          <a:xfrm>
            <a:off x="2971800" y="2263775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Program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4" name="Text Box 20"/>
          <p:cNvSpPr txBox="1">
            <a:spLocks noChangeAspect="1" noChangeArrowheads="1"/>
          </p:cNvSpPr>
          <p:nvPr/>
        </p:nvSpPr>
        <p:spPr bwMode="auto">
          <a:xfrm>
            <a:off x="2971800" y="18923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5" name="Text Box 21"/>
          <p:cNvSpPr txBox="1">
            <a:spLocks noChangeAspect="1" noChangeArrowheads="1"/>
          </p:cNvSpPr>
          <p:nvPr/>
        </p:nvSpPr>
        <p:spPr bwMode="auto">
          <a:xfrm>
            <a:off x="2971800" y="1524000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43016" name="Text Box 24"/>
          <p:cNvSpPr txBox="1">
            <a:spLocks noChangeAspect="1" noChangeArrowheads="1"/>
          </p:cNvSpPr>
          <p:nvPr/>
        </p:nvSpPr>
        <p:spPr bwMode="auto">
          <a:xfrm>
            <a:off x="3711575" y="3178175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OS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7" name="Text Box 25"/>
          <p:cNvSpPr txBox="1">
            <a:spLocks noChangeAspect="1" noChangeArrowheads="1"/>
          </p:cNvSpPr>
          <p:nvPr/>
        </p:nvSpPr>
        <p:spPr bwMode="auto">
          <a:xfrm>
            <a:off x="5449888" y="2252663"/>
            <a:ext cx="1282352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programer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3018" name="Line 26"/>
          <p:cNvSpPr>
            <a:spLocks noChangeShapeType="1"/>
          </p:cNvSpPr>
          <p:nvPr/>
        </p:nvSpPr>
        <p:spPr bwMode="auto">
          <a:xfrm>
            <a:off x="3940175" y="2632075"/>
            <a:ext cx="361950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9" name="Line 27"/>
          <p:cNvSpPr>
            <a:spLocks noChangeShapeType="1"/>
          </p:cNvSpPr>
          <p:nvPr/>
        </p:nvSpPr>
        <p:spPr bwMode="auto">
          <a:xfrm flipH="1">
            <a:off x="5027613" y="2430463"/>
            <a:ext cx="422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20" name="Line 28"/>
          <p:cNvSpPr>
            <a:spLocks noChangeShapeType="1"/>
          </p:cNvSpPr>
          <p:nvPr/>
        </p:nvSpPr>
        <p:spPr bwMode="auto">
          <a:xfrm flipH="1">
            <a:off x="5268913" y="2632075"/>
            <a:ext cx="544512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43021" name="Straight Arrow Connector 25"/>
          <p:cNvCxnSpPr>
            <a:cxnSpLocks noChangeShapeType="1"/>
          </p:cNvCxnSpPr>
          <p:nvPr/>
        </p:nvCxnSpPr>
        <p:spPr bwMode="auto">
          <a:xfrm rot="16200000" flipV="1">
            <a:off x="5141118" y="1580357"/>
            <a:ext cx="544513" cy="800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0" name="Text Box 22"/>
          <p:cNvSpPr txBox="1">
            <a:spLocks noChangeAspect="1" noChangeArrowheads="1"/>
          </p:cNvSpPr>
          <p:nvPr/>
        </p:nvSpPr>
        <p:spPr bwMode="auto">
          <a:xfrm>
            <a:off x="3711575" y="4586288"/>
            <a:ext cx="2039938" cy="373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Logička kola, mem.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43024" name="Text Box 23"/>
          <p:cNvSpPr txBox="1">
            <a:spLocks noChangeAspect="1" noChangeArrowheads="1"/>
          </p:cNvSpPr>
          <p:nvPr/>
        </p:nvSpPr>
        <p:spPr bwMode="auto">
          <a:xfrm>
            <a:off x="3711575" y="4957763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Električna kola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/>
      <p:bldP spid="43012" grpId="0" animBg="1"/>
      <p:bldP spid="43013" grpId="0" animBg="1"/>
      <p:bldP spid="43014" grpId="0" animBg="1"/>
      <p:bldP spid="43015" grpId="0" animBg="1"/>
      <p:bldP spid="43016" grpId="0" animBg="1"/>
      <p:bldP spid="43017" grpId="0" animBg="1"/>
      <p:bldP spid="43018" grpId="0" animBg="1"/>
      <p:bldP spid="43019" grpId="0" animBg="1"/>
      <p:bldP spid="43020" grpId="0" animBg="1"/>
      <p:bldP spid="20" grpId="0" animBg="1"/>
      <p:bldP spid="430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Na šta se svodi računar</a:t>
            </a:r>
            <a:r>
              <a:rPr lang="en-US" dirty="0" smtClean="0">
                <a:ea typeface="ＭＳ Ｐゴシック" pitchFamily="34" charset="-128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4994498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Tri osnovne komponente</a:t>
            </a:r>
            <a:endParaRPr lang="en-US" dirty="0" smtClean="0">
              <a:ea typeface="ＭＳ Ｐゴシック" pitchFamily="34" charset="-128"/>
            </a:endParaRPr>
          </a:p>
          <a:p>
            <a:endParaRPr lang="en-US" sz="1400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R</a:t>
            </a:r>
            <a:r>
              <a:rPr lang="sr-Latn-RS" dirty="0" smtClean="0">
                <a:ea typeface="ＭＳ Ｐゴシック" pitchFamily="34" charset="-128"/>
              </a:rPr>
              <a:t>ačunanje/obrada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K</a:t>
            </a:r>
            <a:r>
              <a:rPr lang="sr-Latn-RS" dirty="0" smtClean="0">
                <a:ea typeface="ＭＳ Ｐゴシック" pitchFamily="34" charset="-128"/>
              </a:rPr>
              <a:t>omunikacija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Memorija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FCD0DD-94AD-4956-98F5-ACA2C81AD07B}" type="slidenum">
              <a:rPr lang="en-US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72" y="3501008"/>
            <a:ext cx="6901952" cy="315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Fon Nojmanov m</a:t>
            </a:r>
            <a:r>
              <a:rPr lang="en-US" dirty="0" err="1" smtClean="0">
                <a:ea typeface="ＭＳ Ｐゴシック" pitchFamily="34" charset="-128"/>
              </a:rPr>
              <a:t>odel</a:t>
            </a:r>
            <a:r>
              <a:rPr lang="sr-Latn-RS" dirty="0" smtClean="0">
                <a:ea typeface="ＭＳ Ｐゴシック" pitchFamily="34" charset="-128"/>
              </a:rPr>
              <a:t> računarske arhitekture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610600" cy="4706466"/>
          </a:xfrm>
        </p:spPr>
        <p:txBody>
          <a:bodyPr/>
          <a:lstStyle/>
          <a:p>
            <a:r>
              <a:rPr lang="sr-Latn-RS" dirty="0">
                <a:ea typeface="ＭＳ Ｐゴシック" pitchFamily="34" charset="-128"/>
              </a:rPr>
              <a:t>Osnovni model podrazumeva:</a:t>
            </a:r>
          </a:p>
          <a:p>
            <a:endParaRPr lang="en-US" sz="1400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M</a:t>
            </a:r>
            <a:r>
              <a:rPr lang="sr-Latn-RS" dirty="0" smtClean="0">
                <a:ea typeface="ＭＳ Ｐゴシック" pitchFamily="34" charset="-128"/>
              </a:rPr>
              <a:t>emorisan program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endParaRPr lang="en-US" sz="1400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S</a:t>
            </a:r>
            <a:r>
              <a:rPr lang="sr-Latn-RS" dirty="0" smtClean="0">
                <a:ea typeface="ＭＳ Ｐゴシック" pitchFamily="34" charset="-128"/>
              </a:rPr>
              <a:t>ekvencijalnu obradu instrukcija</a:t>
            </a:r>
          </a:p>
          <a:p>
            <a:r>
              <a:rPr lang="sr-Latn-RS" dirty="0" smtClean="0">
                <a:ea typeface="ＭＳ Ｐゴシック" pitchFamily="34" charset="-128"/>
              </a:rPr>
              <a:t>Još se naziva i </a:t>
            </a:r>
            <a:r>
              <a:rPr lang="en-US" dirty="0" smtClean="0">
                <a:ea typeface="ＭＳ Ｐゴシック" pitchFamily="34" charset="-128"/>
              </a:rPr>
              <a:t>“</a:t>
            </a:r>
            <a:r>
              <a:rPr lang="sr-Latn-RS" dirty="0" smtClean="0">
                <a:ea typeface="ＭＳ Ｐゴシック" pitchFamily="34" charset="-128"/>
              </a:rPr>
              <a:t>compute centric</a:t>
            </a:r>
            <a:r>
              <a:rPr lang="en-US" dirty="0" smtClean="0">
                <a:ea typeface="ＭＳ Ｐゴシック" pitchFamily="34" charset="-128"/>
              </a:rPr>
              <a:t>” model</a:t>
            </a:r>
            <a:r>
              <a:rPr lang="sr-Latn-RS" dirty="0" smtClean="0">
                <a:ea typeface="ＭＳ Ｐゴシック" pitchFamily="34" charset="-128"/>
              </a:rPr>
              <a:t> 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107C63-3554-4580-A2CB-3F3D562CDBBD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Fon Nojmanov model – blok dijagram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6DCC61-84B2-40E5-B21A-E60CE1A4EF8C}" type="slidenum">
              <a:rPr lang="en-US"/>
              <a:pPr/>
              <a:t>9</a:t>
            </a:fld>
            <a:endParaRPr lang="en-US"/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2871788" y="4830763"/>
            <a:ext cx="3390900" cy="13858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6" name="TextBox 7"/>
          <p:cNvSpPr txBox="1">
            <a:spLocks noChangeArrowheads="1"/>
          </p:cNvSpPr>
          <p:nvPr/>
        </p:nvSpPr>
        <p:spPr bwMode="auto">
          <a:xfrm>
            <a:off x="3630613" y="4922838"/>
            <a:ext cx="19065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CONTROL UNIT</a:t>
            </a:r>
          </a:p>
        </p:txBody>
      </p:sp>
      <p:sp>
        <p:nvSpPr>
          <p:cNvPr id="44037" name="TextBox 8"/>
          <p:cNvSpPr txBox="1">
            <a:spLocks noChangeArrowheads="1"/>
          </p:cNvSpPr>
          <p:nvPr/>
        </p:nvSpPr>
        <p:spPr bwMode="auto">
          <a:xfrm>
            <a:off x="3378200" y="5689600"/>
            <a:ext cx="42672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cs typeface="Arial" pitchFamily="34" charset="0"/>
              </a:rPr>
              <a:t>P</a:t>
            </a:r>
            <a:r>
              <a:rPr lang="sr-Latn-RS" dirty="0" smtClean="0">
                <a:cs typeface="Arial" pitchFamily="34" charset="0"/>
              </a:rPr>
              <a:t>C</a:t>
            </a:r>
            <a:endParaRPr lang="en-US" dirty="0">
              <a:cs typeface="Arial" pitchFamily="34" charset="0"/>
            </a:endParaRPr>
          </a:p>
        </p:txBody>
      </p:sp>
      <p:sp>
        <p:nvSpPr>
          <p:cNvPr id="44038" name="TextBox 9"/>
          <p:cNvSpPr txBox="1">
            <a:spLocks noChangeArrowheads="1"/>
          </p:cNvSpPr>
          <p:nvPr/>
        </p:nvSpPr>
        <p:spPr bwMode="auto">
          <a:xfrm>
            <a:off x="4235450" y="5689600"/>
            <a:ext cx="147955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Inst Register</a:t>
            </a:r>
          </a:p>
        </p:txBody>
      </p:sp>
      <p:sp>
        <p:nvSpPr>
          <p:cNvPr id="44039" name="Rectangle 10"/>
          <p:cNvSpPr>
            <a:spLocks noChangeArrowheads="1"/>
          </p:cNvSpPr>
          <p:nvPr/>
        </p:nvSpPr>
        <p:spPr bwMode="auto">
          <a:xfrm>
            <a:off x="2871788" y="2927350"/>
            <a:ext cx="3390900" cy="13858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TextBox 11"/>
          <p:cNvSpPr txBox="1">
            <a:spLocks noChangeArrowheads="1"/>
          </p:cNvSpPr>
          <p:nvPr/>
        </p:nvSpPr>
        <p:spPr bwMode="auto">
          <a:xfrm>
            <a:off x="3427413" y="2946400"/>
            <a:ext cx="2325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PROCESSING UNIT</a:t>
            </a:r>
          </a:p>
        </p:txBody>
      </p:sp>
      <p:sp>
        <p:nvSpPr>
          <p:cNvPr id="14" name="Trapezoid 13"/>
          <p:cNvSpPr/>
          <p:nvPr/>
        </p:nvSpPr>
        <p:spPr bwMode="auto">
          <a:xfrm rot="10800000">
            <a:off x="3378200" y="3694113"/>
            <a:ext cx="914400" cy="490537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  <a:cs typeface="ＭＳ Ｐゴシック" charset="0"/>
            </a:endParaRPr>
          </a:p>
        </p:txBody>
      </p:sp>
      <p:sp>
        <p:nvSpPr>
          <p:cNvPr id="44042" name="TextBox 14"/>
          <p:cNvSpPr txBox="1">
            <a:spLocks noChangeArrowheads="1"/>
          </p:cNvSpPr>
          <p:nvPr/>
        </p:nvSpPr>
        <p:spPr bwMode="auto">
          <a:xfrm>
            <a:off x="3519488" y="3732213"/>
            <a:ext cx="6334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ALU</a:t>
            </a:r>
          </a:p>
        </p:txBody>
      </p:sp>
      <p:sp>
        <p:nvSpPr>
          <p:cNvPr id="44043" name="TextBox 15"/>
          <p:cNvSpPr txBox="1">
            <a:spLocks noChangeArrowheads="1"/>
          </p:cNvSpPr>
          <p:nvPr/>
        </p:nvSpPr>
        <p:spPr bwMode="auto">
          <a:xfrm>
            <a:off x="4922838" y="3694113"/>
            <a:ext cx="825500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TEMP</a:t>
            </a:r>
          </a:p>
        </p:txBody>
      </p:sp>
      <p:sp>
        <p:nvSpPr>
          <p:cNvPr id="44044" name="Rectangle 16"/>
          <p:cNvSpPr>
            <a:spLocks noChangeArrowheads="1"/>
          </p:cNvSpPr>
          <p:nvPr/>
        </p:nvSpPr>
        <p:spPr bwMode="auto">
          <a:xfrm>
            <a:off x="2871788" y="1090613"/>
            <a:ext cx="3390900" cy="13843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TextBox 17"/>
          <p:cNvSpPr txBox="1">
            <a:spLocks noChangeArrowheads="1"/>
          </p:cNvSpPr>
          <p:nvPr/>
        </p:nvSpPr>
        <p:spPr bwMode="auto">
          <a:xfrm>
            <a:off x="3930650" y="1090613"/>
            <a:ext cx="1219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MEMORY</a:t>
            </a:r>
          </a:p>
        </p:txBody>
      </p:sp>
      <p:sp>
        <p:nvSpPr>
          <p:cNvPr id="44046" name="TextBox 18"/>
          <p:cNvSpPr txBox="1">
            <a:spLocks noChangeArrowheads="1"/>
          </p:cNvSpPr>
          <p:nvPr/>
        </p:nvSpPr>
        <p:spPr bwMode="auto">
          <a:xfrm>
            <a:off x="3705225" y="1533525"/>
            <a:ext cx="17240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 Addr Reg</a:t>
            </a:r>
          </a:p>
        </p:txBody>
      </p:sp>
      <p:sp>
        <p:nvSpPr>
          <p:cNvPr id="44047" name="TextBox 19"/>
          <p:cNvSpPr txBox="1">
            <a:spLocks noChangeArrowheads="1"/>
          </p:cNvSpPr>
          <p:nvPr/>
        </p:nvSpPr>
        <p:spPr bwMode="auto">
          <a:xfrm>
            <a:off x="3706813" y="2012950"/>
            <a:ext cx="17367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Mem Data Reg</a:t>
            </a:r>
          </a:p>
        </p:txBody>
      </p:sp>
      <p:sp>
        <p:nvSpPr>
          <p:cNvPr id="44048" name="Rectangle 20"/>
          <p:cNvSpPr>
            <a:spLocks noChangeArrowheads="1"/>
          </p:cNvSpPr>
          <p:nvPr/>
        </p:nvSpPr>
        <p:spPr bwMode="auto">
          <a:xfrm>
            <a:off x="315913" y="2503488"/>
            <a:ext cx="1604962" cy="20415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9" name="Rectangle 21"/>
          <p:cNvSpPr>
            <a:spLocks noChangeArrowheads="1"/>
          </p:cNvSpPr>
          <p:nvPr/>
        </p:nvSpPr>
        <p:spPr bwMode="auto">
          <a:xfrm>
            <a:off x="7205663" y="2503488"/>
            <a:ext cx="1606550" cy="20415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50" name="TextBox 22"/>
          <p:cNvSpPr txBox="1">
            <a:spLocks noChangeArrowheads="1"/>
          </p:cNvSpPr>
          <p:nvPr/>
        </p:nvSpPr>
        <p:spPr bwMode="auto">
          <a:xfrm>
            <a:off x="735013" y="3316288"/>
            <a:ext cx="8763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cs typeface="Arial" pitchFamily="34" charset="0"/>
              </a:rPr>
              <a:t>INPUT</a:t>
            </a:r>
          </a:p>
        </p:txBody>
      </p:sp>
      <p:sp>
        <p:nvSpPr>
          <p:cNvPr id="44051" name="TextBox 23"/>
          <p:cNvSpPr txBox="1">
            <a:spLocks noChangeArrowheads="1"/>
          </p:cNvSpPr>
          <p:nvPr/>
        </p:nvSpPr>
        <p:spPr bwMode="auto">
          <a:xfrm>
            <a:off x="7542213" y="3316288"/>
            <a:ext cx="11334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cs typeface="Arial" pitchFamily="34" charset="0"/>
              </a:rPr>
              <a:t>OUTPUT</a:t>
            </a:r>
          </a:p>
        </p:txBody>
      </p:sp>
      <p:cxnSp>
        <p:nvCxnSpPr>
          <p:cNvPr id="44052" name="Straight Arrow Connector 25"/>
          <p:cNvCxnSpPr>
            <a:cxnSpLocks noChangeShapeType="1"/>
          </p:cNvCxnSpPr>
          <p:nvPr/>
        </p:nvCxnSpPr>
        <p:spPr bwMode="auto">
          <a:xfrm rot="5400000">
            <a:off x="3703638" y="2701925"/>
            <a:ext cx="4524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3" name="Straight Arrow Connector 29"/>
          <p:cNvCxnSpPr>
            <a:cxnSpLocks noChangeShapeType="1"/>
          </p:cNvCxnSpPr>
          <p:nvPr/>
        </p:nvCxnSpPr>
        <p:spPr bwMode="auto">
          <a:xfrm rot="5400000" flipH="1" flipV="1">
            <a:off x="4922838" y="2701925"/>
            <a:ext cx="4524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4" name="Straight Connector 31"/>
          <p:cNvCxnSpPr>
            <a:cxnSpLocks noChangeShapeType="1"/>
            <a:stCxn id="44048" idx="0"/>
          </p:cNvCxnSpPr>
          <p:nvPr/>
        </p:nvCxnSpPr>
        <p:spPr bwMode="auto">
          <a:xfrm rot="16200000" flipV="1">
            <a:off x="632618" y="2018507"/>
            <a:ext cx="96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5" name="Straight Arrow Connector 33"/>
          <p:cNvCxnSpPr>
            <a:cxnSpLocks noChangeShapeType="1"/>
          </p:cNvCxnSpPr>
          <p:nvPr/>
        </p:nvCxnSpPr>
        <p:spPr bwMode="auto">
          <a:xfrm>
            <a:off x="1117600" y="1533525"/>
            <a:ext cx="17541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6" name="Straight Connector 35"/>
          <p:cNvCxnSpPr>
            <a:cxnSpLocks noChangeShapeType="1"/>
          </p:cNvCxnSpPr>
          <p:nvPr/>
        </p:nvCxnSpPr>
        <p:spPr bwMode="auto">
          <a:xfrm>
            <a:off x="6262688" y="1533525"/>
            <a:ext cx="1727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7" name="Straight Arrow Connector 37"/>
          <p:cNvCxnSpPr>
            <a:cxnSpLocks noChangeShapeType="1"/>
            <a:endCxn id="44049" idx="0"/>
          </p:cNvCxnSpPr>
          <p:nvPr/>
        </p:nvCxnSpPr>
        <p:spPr bwMode="auto">
          <a:xfrm rot="16200000" flipH="1">
            <a:off x="7515225" y="2009776"/>
            <a:ext cx="968375" cy="19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4058" name="Straight Arrow Connector 39"/>
          <p:cNvCxnSpPr>
            <a:cxnSpLocks noChangeShapeType="1"/>
            <a:stCxn id="44035" idx="0"/>
            <a:endCxn id="44039" idx="2"/>
          </p:cNvCxnSpPr>
          <p:nvPr/>
        </p:nvCxnSpPr>
        <p:spPr bwMode="auto">
          <a:xfrm rot="5400000" flipH="1" flipV="1">
            <a:off x="4310063" y="4572000"/>
            <a:ext cx="5159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59" name="Straight Arrow Connector 41"/>
          <p:cNvCxnSpPr>
            <a:cxnSpLocks noChangeShapeType="1"/>
          </p:cNvCxnSpPr>
          <p:nvPr/>
        </p:nvCxnSpPr>
        <p:spPr bwMode="auto">
          <a:xfrm rot="10800000">
            <a:off x="1801813" y="4545013"/>
            <a:ext cx="1069975" cy="747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0" name="Straight Arrow Connector 43"/>
          <p:cNvCxnSpPr>
            <a:cxnSpLocks noChangeShapeType="1"/>
          </p:cNvCxnSpPr>
          <p:nvPr/>
        </p:nvCxnSpPr>
        <p:spPr bwMode="auto">
          <a:xfrm flipV="1">
            <a:off x="6262688" y="4545013"/>
            <a:ext cx="1062037" cy="7477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1" name="Straight Connector 45"/>
          <p:cNvCxnSpPr>
            <a:cxnSpLocks noChangeShapeType="1"/>
          </p:cNvCxnSpPr>
          <p:nvPr/>
        </p:nvCxnSpPr>
        <p:spPr bwMode="auto">
          <a:xfrm rot="16200000" flipV="1">
            <a:off x="2368550" y="4327526"/>
            <a:ext cx="517525" cy="488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4062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1418432" y="3348831"/>
            <a:ext cx="1930400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44063" name="Straight Arrow Connector 49"/>
          <p:cNvCxnSpPr>
            <a:cxnSpLocks noChangeShapeType="1"/>
          </p:cNvCxnSpPr>
          <p:nvPr/>
        </p:nvCxnSpPr>
        <p:spPr bwMode="auto">
          <a:xfrm flipV="1">
            <a:off x="2384425" y="2244725"/>
            <a:ext cx="487363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cxnSp>
        <p:nvCxnSpPr>
          <p:cNvPr id="44064" name="Straight Arrow Connector 53"/>
          <p:cNvCxnSpPr>
            <a:cxnSpLocks noChangeShapeType="1"/>
          </p:cNvCxnSpPr>
          <p:nvPr/>
        </p:nvCxnSpPr>
        <p:spPr bwMode="auto">
          <a:xfrm rot="5400000">
            <a:off x="4892675" y="4572000"/>
            <a:ext cx="51593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Fon Nojmanov model?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Da li je to jedini model po kom se dizajniraju računari?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Ne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Ali dominira na tržištu više decenija...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r>
              <a:rPr lang="en-US" dirty="0" smtClean="0">
                <a:ea typeface="ＭＳ Ｐゴシック" pitchFamily="34" charset="-128"/>
              </a:rPr>
              <a:t>Harvard </a:t>
            </a:r>
            <a:r>
              <a:rPr lang="en-US" dirty="0" err="1" smtClean="0">
                <a:ea typeface="ＭＳ Ｐゴシック" pitchFamily="34" charset="-128"/>
              </a:rPr>
              <a:t>arhitektura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predstavlja</a:t>
            </a:r>
            <a:r>
              <a:rPr lang="en-US" dirty="0" smtClean="0">
                <a:ea typeface="ＭＳ Ｐゴシック" pitchFamily="34" charset="-128"/>
              </a:rPr>
              <a:t> pro</a:t>
            </a:r>
            <a:r>
              <a:rPr lang="sr-Latn-RS" dirty="0" smtClean="0">
                <a:ea typeface="ＭＳ Ｐゴシック" pitchFamily="34" charset="-128"/>
              </a:rPr>
              <a:t>širenje Fon Nojmanovog koncepta sa odvojenom programskom od memorije podataka.</a:t>
            </a:r>
          </a:p>
          <a:p>
            <a:r>
              <a:rPr lang="sr-Latn-RS" dirty="0" smtClean="0">
                <a:ea typeface="ＭＳ Ｐゴシック" pitchFamily="34" charset="-128"/>
              </a:rPr>
              <a:t>Alternativa je </a:t>
            </a:r>
            <a:r>
              <a:rPr lang="en-US" dirty="0" smtClean="0">
                <a:ea typeface="ＭＳ Ｐゴシック" pitchFamily="34" charset="-128"/>
              </a:rPr>
              <a:t>“data centric” model</a:t>
            </a:r>
          </a:p>
          <a:p>
            <a:pPr>
              <a:buNone/>
            </a:pP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788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06BE13-2E90-4931-92B8-225F8A7DE1E1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Model </a:t>
            </a:r>
            <a:r>
              <a:rPr lang="en-US" dirty="0" err="1" smtClean="0">
                <a:ea typeface="ＭＳ Ｐゴシック" pitchFamily="34" charset="-128"/>
              </a:rPr>
              <a:t>toka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podataka</a:t>
            </a:r>
            <a:r>
              <a:rPr lang="en-US" dirty="0" smtClean="0">
                <a:ea typeface="ＭＳ Ｐゴシック" pitchFamily="34" charset="-128"/>
              </a:rPr>
              <a:t> (data-centric)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Fon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Nojmanov</a:t>
            </a:r>
            <a:r>
              <a:rPr lang="en-US" dirty="0" smtClean="0">
                <a:ea typeface="ＭＳ Ｐゴシック" pitchFamily="34" charset="-128"/>
              </a:rPr>
              <a:t> model: </a:t>
            </a:r>
            <a:r>
              <a:rPr lang="en-US" dirty="0" err="1" smtClean="0">
                <a:ea typeface="ＭＳ Ｐゴシック" pitchFamily="34" charset="-128"/>
              </a:rPr>
              <a:t>prihvat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instrukcije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izvr</a:t>
            </a:r>
            <a:r>
              <a:rPr lang="sr-Latn-RS" dirty="0" smtClean="0">
                <a:ea typeface="ＭＳ Ｐゴシック" pitchFamily="34" charset="-128"/>
              </a:rPr>
              <a:t>šavanje događa se u okviru redosleda kontrolnog toka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D</a:t>
            </a:r>
            <a:r>
              <a:rPr lang="sr-Latn-RS" dirty="0" smtClean="0">
                <a:ea typeface="ＭＳ Ｐゴシック" pitchFamily="34" charset="-128"/>
              </a:rPr>
              <a:t>irektno specificirano programskim brojačem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R</a:t>
            </a:r>
            <a:r>
              <a:rPr lang="sr-Latn-RS" dirty="0" smtClean="0">
                <a:ea typeface="ＭＳ Ｐゴシック" pitchFamily="34" charset="-128"/>
              </a:rPr>
              <a:t>edosled je sekvencijalan, osim kod instrukcija koje eksplicitno menjaju tok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Model toka podataka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prihvat instrukcije i izvršavanje u okviru redosleda toka podataka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Podaci se obrađuju kada su spremni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>
                <a:ea typeface="ＭＳ Ｐゴシック" pitchFamily="34" charset="-128"/>
              </a:rPr>
              <a:t>N</a:t>
            </a:r>
            <a:r>
              <a:rPr lang="sr-Latn-RS" dirty="0">
                <a:ea typeface="ＭＳ Ｐゴシック" pitchFamily="34" charset="-128"/>
              </a:rPr>
              <a:t>ema klasičnog programskog brojača</a:t>
            </a:r>
            <a:endParaRPr lang="en-US" dirty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R</a:t>
            </a:r>
            <a:r>
              <a:rPr lang="sr-Latn-RS" dirty="0" smtClean="0">
                <a:ea typeface="ＭＳ Ｐゴシック" pitchFamily="34" charset="-128"/>
              </a:rPr>
              <a:t>edosled instrukcija zavisi od toka podataka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S</a:t>
            </a:r>
            <a:r>
              <a:rPr lang="sr-Latn-RS" dirty="0" smtClean="0">
                <a:ea typeface="ＭＳ Ｐゴシック" pitchFamily="34" charset="-128"/>
              </a:rPr>
              <a:t>vaka instrukcija specificira gde se prosleđuje rezultat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I</a:t>
            </a:r>
            <a:r>
              <a:rPr lang="sr-Latn-RS" dirty="0" smtClean="0">
                <a:ea typeface="ＭＳ Ｐゴシック" pitchFamily="34" charset="-128"/>
              </a:rPr>
              <a:t>nstrukcija se izvršava čim su operandi spremni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otencijalno više instrukcija se može izvršiti paralelno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I</a:t>
            </a:r>
            <a:r>
              <a:rPr lang="sr-Latn-RS" dirty="0" smtClean="0">
                <a:ea typeface="ＭＳ Ｐゴシック" pitchFamily="34" charset="-128"/>
              </a:rPr>
              <a:t>nherentan paralelizam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203D4D-DCA4-4041-A624-56C0ECC11F86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Fon Nojmanov nasuprot </a:t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modela toka podataka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5060032"/>
          </a:xfrm>
        </p:spPr>
        <p:txBody>
          <a:bodyPr>
            <a:normAutofit/>
          </a:bodyPr>
          <a:lstStyle/>
          <a:p>
            <a:pPr>
              <a:buFont typeface="Wingdings" charset="0"/>
              <a:buChar char="n"/>
              <a:defRPr/>
            </a:pPr>
            <a:r>
              <a:rPr lang="sr-Latn-RS" sz="2400" dirty="0" smtClean="0"/>
              <a:t>Primer</a:t>
            </a:r>
            <a:endParaRPr lang="en-US" sz="2400" dirty="0" smtClean="0"/>
          </a:p>
          <a:p>
            <a:pPr lvl="1">
              <a:buFont typeface="Wingdings" charset="0"/>
              <a:buChar char="q"/>
              <a:defRPr/>
            </a:pPr>
            <a:r>
              <a:rPr lang="sr-Latn-RS" sz="2400" dirty="0" smtClean="0"/>
              <a:t>Značaj redosleda instrukcija</a:t>
            </a:r>
            <a:r>
              <a:rPr lang="en-US" sz="2400" dirty="0" smtClean="0"/>
              <a:t>?</a:t>
            </a:r>
          </a:p>
          <a:p>
            <a:pPr lvl="1">
              <a:buFont typeface="Wingdings" charset="0"/>
              <a:buChar char="q"/>
              <a:defRPr/>
            </a:pPr>
            <a:r>
              <a:rPr lang="sr-Latn-RS" sz="2400" dirty="0" smtClean="0"/>
              <a:t>Značaj lokacije operanada</a:t>
            </a:r>
            <a:r>
              <a:rPr lang="en-US" sz="2400" dirty="0" smtClean="0"/>
              <a:t>?</a:t>
            </a:r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 marL="0" indent="0">
              <a:buFont typeface="Wingdings" charset="0"/>
              <a:buNone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sz="1400" dirty="0" smtClean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 smtClean="0"/>
          </a:p>
          <a:p>
            <a:pPr>
              <a:buFont typeface="Wingdings" charset="0"/>
              <a:buChar char="n"/>
              <a:defRPr/>
            </a:pPr>
            <a:endParaRPr lang="en-US" dirty="0"/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529692-5E8F-49A3-8100-AB403C13A879}" type="slidenum">
              <a:rPr lang="en-US"/>
              <a:pPr/>
              <a:t>12</a:t>
            </a:fld>
            <a:endParaRPr lang="en-US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971600" y="2924944"/>
            <a:ext cx="1423988" cy="1423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57150" tIns="23813" rIns="57150" bIns="23813">
            <a:spAutoFit/>
          </a:bodyPr>
          <a:lstStyle/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v &lt;= a + b;   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w &lt;= b * 2;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x &lt;= v - w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y &lt;= v + w</a:t>
            </a:r>
          </a:p>
          <a:p>
            <a:pPr defTabSz="742950">
              <a:lnSpc>
                <a:spcPct val="85000"/>
              </a:lnSpc>
            </a:pPr>
            <a:r>
              <a:rPr lang="en-US" sz="2100" b="1" dirty="0">
                <a:latin typeface="Calibri" pitchFamily="34" charset="0"/>
              </a:rPr>
              <a:t>z &lt;= x * y</a:t>
            </a: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4953000" y="29606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6248400" y="29606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*2</a:t>
            </a: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4953000" y="39512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6248400" y="39512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30729" name="Oval 9"/>
          <p:cNvSpPr>
            <a:spLocks noChangeArrowheads="1"/>
          </p:cNvSpPr>
          <p:nvPr/>
        </p:nvSpPr>
        <p:spPr bwMode="auto">
          <a:xfrm>
            <a:off x="5638800" y="4789488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*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4854575" y="2071688"/>
            <a:ext cx="339725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a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6303963" y="2128838"/>
            <a:ext cx="346075" cy="461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b</a:t>
            </a:r>
          </a:p>
        </p:txBody>
      </p:sp>
      <p:cxnSp>
        <p:nvCxnSpPr>
          <p:cNvPr id="30732" name="AutoShape 12"/>
          <p:cNvCxnSpPr>
            <a:cxnSpLocks noChangeShapeType="1"/>
            <a:stCxn id="30730" idx="2"/>
            <a:endCxn id="30725" idx="1"/>
          </p:cNvCxnSpPr>
          <p:nvPr/>
        </p:nvCxnSpPr>
        <p:spPr bwMode="auto">
          <a:xfrm rot="5400000">
            <a:off x="4772819" y="2775744"/>
            <a:ext cx="498475" cy="476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3" name="AutoShape 14"/>
          <p:cNvCxnSpPr>
            <a:cxnSpLocks noChangeShapeType="1"/>
            <a:stCxn id="30731" idx="2"/>
            <a:endCxn id="30726" idx="7"/>
          </p:cNvCxnSpPr>
          <p:nvPr/>
        </p:nvCxnSpPr>
        <p:spPr bwMode="auto">
          <a:xfrm rot="16200000" flipH="1">
            <a:off x="6339681" y="2728119"/>
            <a:ext cx="436563" cy="1619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4" name="AutoShape 15"/>
          <p:cNvCxnSpPr>
            <a:cxnSpLocks noChangeShapeType="1"/>
            <a:stCxn id="30731" idx="2"/>
            <a:endCxn id="30725" idx="7"/>
          </p:cNvCxnSpPr>
          <p:nvPr/>
        </p:nvCxnSpPr>
        <p:spPr bwMode="auto">
          <a:xfrm rot="5400000">
            <a:off x="5691981" y="2242344"/>
            <a:ext cx="436563" cy="1133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5" name="AutoShape 16"/>
          <p:cNvCxnSpPr>
            <a:cxnSpLocks noChangeShapeType="1"/>
            <a:stCxn id="30725" idx="4"/>
            <a:endCxn id="30727" idx="1"/>
          </p:cNvCxnSpPr>
          <p:nvPr/>
        </p:nvCxnSpPr>
        <p:spPr bwMode="auto">
          <a:xfrm rot="5400000">
            <a:off x="4810125" y="3636963"/>
            <a:ext cx="581025" cy="161925"/>
          </a:xfrm>
          <a:prstGeom prst="bentConnector3">
            <a:avLst>
              <a:gd name="adj1" fmla="val 44264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6" name="AutoShape 17"/>
          <p:cNvCxnSpPr>
            <a:cxnSpLocks noChangeShapeType="1"/>
            <a:stCxn id="30725" idx="4"/>
            <a:endCxn id="30728" idx="1"/>
          </p:cNvCxnSpPr>
          <p:nvPr/>
        </p:nvCxnSpPr>
        <p:spPr bwMode="auto">
          <a:xfrm rot="16200000" flipH="1">
            <a:off x="5457825" y="3151188"/>
            <a:ext cx="581025" cy="1133475"/>
          </a:xfrm>
          <a:prstGeom prst="bentConnector3">
            <a:avLst>
              <a:gd name="adj1" fmla="val 44264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7" name="AutoShape 18"/>
          <p:cNvCxnSpPr>
            <a:cxnSpLocks noChangeShapeType="1"/>
            <a:stCxn id="30726" idx="4"/>
            <a:endCxn id="30728" idx="7"/>
          </p:cNvCxnSpPr>
          <p:nvPr/>
        </p:nvCxnSpPr>
        <p:spPr bwMode="auto">
          <a:xfrm rot="16200000" flipH="1">
            <a:off x="6267450" y="3636963"/>
            <a:ext cx="581025" cy="161925"/>
          </a:xfrm>
          <a:prstGeom prst="bentConnector3">
            <a:avLst>
              <a:gd name="adj1" fmla="val 6803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8" name="AutoShape 19"/>
          <p:cNvCxnSpPr>
            <a:cxnSpLocks noChangeShapeType="1"/>
            <a:stCxn id="30726" idx="4"/>
            <a:endCxn id="30727" idx="7"/>
          </p:cNvCxnSpPr>
          <p:nvPr/>
        </p:nvCxnSpPr>
        <p:spPr bwMode="auto">
          <a:xfrm rot="5400000">
            <a:off x="5619750" y="3151188"/>
            <a:ext cx="581025" cy="1133475"/>
          </a:xfrm>
          <a:prstGeom prst="bentConnector3">
            <a:avLst>
              <a:gd name="adj1" fmla="val 68579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39" name="AutoShape 20"/>
          <p:cNvCxnSpPr>
            <a:cxnSpLocks noChangeShapeType="1"/>
            <a:stCxn id="30727" idx="4"/>
            <a:endCxn id="30729" idx="1"/>
          </p:cNvCxnSpPr>
          <p:nvPr/>
        </p:nvCxnSpPr>
        <p:spPr bwMode="auto">
          <a:xfrm rot="16200000" flipH="1">
            <a:off x="5229225" y="4370388"/>
            <a:ext cx="428625" cy="523875"/>
          </a:xfrm>
          <a:prstGeom prst="bentConnector3">
            <a:avLst>
              <a:gd name="adj1" fmla="val 4222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0740" name="AutoShape 21"/>
          <p:cNvCxnSpPr>
            <a:cxnSpLocks noChangeShapeType="1"/>
          </p:cNvCxnSpPr>
          <p:nvPr/>
        </p:nvCxnSpPr>
        <p:spPr bwMode="auto">
          <a:xfrm rot="5400000">
            <a:off x="6021685" y="4427587"/>
            <a:ext cx="428625" cy="447675"/>
          </a:xfrm>
          <a:prstGeom prst="bentConnector3">
            <a:avLst>
              <a:gd name="adj1" fmla="val 4222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5715000" y="5557838"/>
            <a:ext cx="306388" cy="4619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alibri" pitchFamily="34" charset="0"/>
              </a:rPr>
              <a:t>z</a:t>
            </a:r>
          </a:p>
        </p:txBody>
      </p:sp>
      <p:cxnSp>
        <p:nvCxnSpPr>
          <p:cNvPr id="30742" name="AutoShape 23"/>
          <p:cNvCxnSpPr>
            <a:cxnSpLocks noChangeShapeType="1"/>
            <a:stCxn id="30729" idx="4"/>
            <a:endCxn id="35861" idx="0"/>
          </p:cNvCxnSpPr>
          <p:nvPr/>
        </p:nvCxnSpPr>
        <p:spPr bwMode="auto">
          <a:xfrm rot="16200000" flipH="1">
            <a:off x="5712619" y="5401469"/>
            <a:ext cx="311150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99592" y="4797152"/>
            <a:ext cx="13926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sr-Latn-RS" dirty="0" smtClean="0">
                <a:solidFill>
                  <a:srgbClr val="FF0000"/>
                </a:solidFill>
              </a:rPr>
              <a:t>ekvencijalni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705600" y="5105400"/>
            <a:ext cx="21764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sr-Latn-RS" dirty="0" smtClean="0">
                <a:solidFill>
                  <a:srgbClr val="FF0000"/>
                </a:solidFill>
              </a:rPr>
              <a:t>odel toka podataka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30725" grpId="0" animBg="1"/>
      <p:bldP spid="30726" grpId="0" animBg="1"/>
      <p:bldP spid="30727" grpId="0" animBg="1"/>
      <p:bldP spid="30728" grpId="0" animBg="1"/>
      <p:bldP spid="30729" grpId="0" animBg="1"/>
      <p:bldP spid="30730" grpId="0"/>
      <p:bldP spid="30731" grpId="0"/>
      <p:bldP spid="35861" grpId="0"/>
      <p:bldP spid="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Mo</a:t>
            </a:r>
            <a:r>
              <a:rPr lang="sr-Latn-RS" dirty="0" smtClean="0">
                <a:ea typeface="ＭＳ Ｐゴシック" pitchFamily="34" charset="-128"/>
              </a:rPr>
              <a:t>del toka podataka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10600" cy="51943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Po modelu toka podataka</a:t>
            </a:r>
            <a:r>
              <a:rPr lang="en-US" dirty="0" smtClean="0">
                <a:ea typeface="ＭＳ Ｐゴシック" pitchFamily="34" charset="-128"/>
              </a:rPr>
              <a:t>, program </a:t>
            </a:r>
            <a:r>
              <a:rPr lang="sr-Latn-RS" dirty="0" smtClean="0">
                <a:ea typeface="ＭＳ Ｐゴシック" pitchFamily="34" charset="-128"/>
              </a:rPr>
              <a:t>se sastoji od </a:t>
            </a:r>
            <a:r>
              <a:rPr lang="en-US" dirty="0" smtClean="0">
                <a:ea typeface="ＭＳ Ｐゴシック" pitchFamily="34" charset="-128"/>
              </a:rPr>
              <a:t>data flow </a:t>
            </a:r>
            <a:r>
              <a:rPr lang="sr-Latn-RS" dirty="0" smtClean="0">
                <a:ea typeface="ＭＳ Ｐゴシック" pitchFamily="34" charset="-128"/>
              </a:rPr>
              <a:t>čvorova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data flow </a:t>
            </a:r>
            <a:r>
              <a:rPr lang="sr-Latn-RS" dirty="0" smtClean="0">
                <a:ea typeface="ＭＳ Ｐゴシック" pitchFamily="34" charset="-128"/>
              </a:rPr>
              <a:t>čvor izvršava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instrukciju </a:t>
            </a:r>
            <a:r>
              <a:rPr lang="en-US" dirty="0" smtClean="0">
                <a:ea typeface="ＭＳ Ｐゴシック" pitchFamily="34" charset="-128"/>
              </a:rPr>
              <a:t>(</a:t>
            </a:r>
            <a:r>
              <a:rPr lang="sr-Latn-RS" dirty="0" smtClean="0">
                <a:ea typeface="ＭＳ Ｐゴシック" pitchFamily="34" charset="-128"/>
              </a:rPr>
              <a:t>prihvat i izvršenje</a:t>
            </a:r>
            <a:r>
              <a:rPr lang="en-US" dirty="0" smtClean="0">
                <a:ea typeface="ＭＳ Ｐゴシック" pitchFamily="34" charset="-128"/>
              </a:rPr>
              <a:t>) </a:t>
            </a:r>
            <a:r>
              <a:rPr lang="sr-Latn-RS" dirty="0" smtClean="0">
                <a:ea typeface="ＭＳ Ｐゴシック" pitchFamily="34" charset="-128"/>
              </a:rPr>
              <a:t>kada su svi ulazi spremni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O</a:t>
            </a:r>
            <a:r>
              <a:rPr lang="sr-Latn-RS" dirty="0" smtClean="0">
                <a:ea typeface="ＭＳ Ｐゴシック" pitchFamily="34" charset="-128"/>
              </a:rPr>
              <a:t>dnosno kad su tokeni aktivni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Data flow </a:t>
            </a:r>
            <a:r>
              <a:rPr lang="sr-Latn-RS" dirty="0" smtClean="0">
                <a:ea typeface="ＭＳ Ｐゴシック" pitchFamily="34" charset="-128"/>
              </a:rPr>
              <a:t>čvor i njegova</a:t>
            </a:r>
            <a:r>
              <a:rPr lang="en-US" dirty="0" smtClean="0">
                <a:ea typeface="ＭＳ Ｐゴシック" pitchFamily="34" charset="-128"/>
              </a:rPr>
              <a:t> ISA </a:t>
            </a:r>
            <a:r>
              <a:rPr lang="en-US" dirty="0" err="1" smtClean="0">
                <a:ea typeface="ＭＳ Ｐゴシック" pitchFamily="34" charset="-128"/>
              </a:rPr>
              <a:t>repre</a:t>
            </a:r>
            <a:r>
              <a:rPr lang="sr-Latn-RS" dirty="0" smtClean="0">
                <a:ea typeface="ＭＳ Ｐゴシック" pitchFamily="34" charset="-128"/>
              </a:rPr>
              <a:t>zentacija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A5B6B9-7619-4919-870B-080D2B05CAE1}" type="slidenum">
              <a:rPr lang="en-US"/>
              <a:pPr/>
              <a:t>13</a:t>
            </a:fld>
            <a:endParaRPr lang="en-US"/>
          </a:p>
        </p:txBody>
      </p:sp>
      <p:pic>
        <p:nvPicPr>
          <p:cNvPr id="47108" name="Picture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19600"/>
            <a:ext cx="914400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Čvorovi u modelu toka podataka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481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08125" y="996950"/>
            <a:ext cx="6051550" cy="5194300"/>
          </a:xfrm>
        </p:spPr>
      </p:pic>
      <p:sp>
        <p:nvSpPr>
          <p:cNvPr id="481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0E888F-7110-4DB4-A8C0-A2CD6886CA01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rimer programa po modelu toka podataka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49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86000" y="996950"/>
            <a:ext cx="4913313" cy="5678488"/>
          </a:xfrm>
        </p:spPr>
      </p:pic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A7401B-99BA-4D02-97C1-9BE7CF1D4657}" type="slidenum">
              <a:rPr lang="en-US"/>
              <a:pPr/>
              <a:t>15</a:t>
            </a:fld>
            <a:endParaRPr lang="en-US"/>
          </a:p>
        </p:txBody>
      </p:sp>
      <p:sp>
        <p:nvSpPr>
          <p:cNvPr id="49156" name="TextBox 4"/>
          <p:cNvSpPr txBox="1">
            <a:spLocks noChangeArrowheads="1"/>
          </p:cNvSpPr>
          <p:nvPr/>
        </p:nvSpPr>
        <p:spPr bwMode="auto">
          <a:xfrm>
            <a:off x="2209800" y="5410200"/>
            <a:ext cx="6858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cs typeface="Arial" pitchFamily="34" charset="0"/>
              </a:rPr>
              <a:t>OUT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>
          <a:xfrm>
            <a:off x="971600" y="228600"/>
            <a:ext cx="7272808" cy="1219200"/>
          </a:xfrm>
        </p:spPr>
        <p:txBody>
          <a:bodyPr>
            <a:normAutofit fontScale="90000"/>
          </a:bodyPr>
          <a:lstStyle/>
          <a:p>
            <a:r>
              <a:rPr lang="en-US" sz="3600" dirty="0" err="1" smtClean="0">
                <a:ea typeface="ＭＳ Ｐゴシック" pitchFamily="34" charset="-128"/>
              </a:rPr>
              <a:t>Realizacija</a:t>
            </a:r>
            <a:r>
              <a:rPr lang="en-US" sz="3600" dirty="0" smtClean="0">
                <a:ea typeface="ＭＳ Ｐゴシック" pitchFamily="34" charset="-128"/>
              </a:rPr>
              <a:t> </a:t>
            </a:r>
            <a:r>
              <a:rPr lang="en-US" sz="3600" dirty="0" err="1" smtClean="0">
                <a:ea typeface="ＭＳ Ｐゴシック" pitchFamily="34" charset="-128"/>
              </a:rPr>
              <a:t>arhitekture</a:t>
            </a:r>
            <a:r>
              <a:rPr lang="en-US" sz="3600" dirty="0" smtClean="0">
                <a:ea typeface="ＭＳ Ｐゴシック" pitchFamily="34" charset="-128"/>
              </a:rPr>
              <a:t> </a:t>
            </a:r>
            <a:r>
              <a:rPr lang="en-US" sz="3600" dirty="0" err="1" smtClean="0">
                <a:ea typeface="ＭＳ Ｐゴシック" pitchFamily="34" charset="-128"/>
              </a:rPr>
              <a:t>instrukcijskog</a:t>
            </a:r>
            <a:r>
              <a:rPr lang="en-US" sz="3600" dirty="0" smtClean="0">
                <a:ea typeface="ＭＳ Ｐゴシック" pitchFamily="34" charset="-128"/>
              </a:rPr>
              <a:t> seta </a:t>
            </a:r>
            <a:br>
              <a:rPr lang="en-US" sz="3600" dirty="0" smtClean="0">
                <a:ea typeface="ＭＳ Ｐゴシック" pitchFamily="34" charset="-128"/>
              </a:rPr>
            </a:br>
            <a:r>
              <a:rPr lang="en-US" sz="3600" dirty="0" smtClean="0">
                <a:ea typeface="ＭＳ Ｐゴシック" pitchFamily="34" charset="-128"/>
              </a:rPr>
              <a:t>ISA (Instruction Set Architecture)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395536" y="1977678"/>
            <a:ext cx="8015808" cy="4880322"/>
          </a:xfrm>
        </p:spPr>
        <p:txBody>
          <a:bodyPr>
            <a:normAutofit/>
          </a:bodyPr>
          <a:lstStyle/>
          <a:p>
            <a:pPr>
              <a:buFont typeface="Wingdings" charset="0"/>
              <a:buChar char="n"/>
              <a:defRPr/>
            </a:pPr>
            <a:r>
              <a:rPr lang="en-US" dirty="0" err="1" smtClean="0"/>
              <a:t>Potreba</a:t>
            </a:r>
            <a:r>
              <a:rPr lang="en-US" dirty="0" smtClean="0"/>
              <a:t> za </a:t>
            </a:r>
            <a:r>
              <a:rPr lang="en-US" dirty="0" err="1" smtClean="0"/>
              <a:t>pokaziva</a:t>
            </a:r>
            <a:r>
              <a:rPr lang="sr-Latn-RS" dirty="0" smtClean="0"/>
              <a:t>čem instrukcije (prog. brojačem) u </a:t>
            </a:r>
            <a:r>
              <a:rPr lang="en-US" dirty="0" smtClean="0"/>
              <a:t>ISA</a:t>
            </a:r>
            <a:r>
              <a:rPr lang="en-US" dirty="0"/>
              <a:t>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 smtClean="0">
                <a:ea typeface="ＭＳ Ｐゴシック" charset="0"/>
              </a:rPr>
              <a:t> </a:t>
            </a:r>
            <a:r>
              <a:rPr lang="sr-Latn-RS" dirty="0" smtClean="0">
                <a:ea typeface="ＭＳ Ｐゴシック" charset="0"/>
              </a:rPr>
              <a:t>Fon Nojman model</a:t>
            </a:r>
            <a:r>
              <a:rPr lang="en-US" dirty="0" smtClean="0">
                <a:ea typeface="ＭＳ Ｐゴシック" charset="0"/>
              </a:rPr>
              <a:t>, se</a:t>
            </a:r>
            <a:r>
              <a:rPr lang="sr-Latn-RS" dirty="0" smtClean="0">
                <a:ea typeface="ＭＳ Ｐゴシック" charset="0"/>
              </a:rPr>
              <a:t>kvencijalno izvršavanje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 smtClean="0">
                <a:ea typeface="ＭＳ Ｐゴシック" charset="0"/>
              </a:rPr>
              <a:t>Instrukcija se izvršava kad PC pokazuje na nju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 smtClean="0">
                <a:ea typeface="ＭＳ Ｐゴシック" charset="0"/>
              </a:rPr>
              <a:t>PC se automatski inkrementira </a:t>
            </a:r>
            <a:r>
              <a:rPr lang="en-US" dirty="0" smtClean="0">
                <a:ea typeface="ＭＳ Ｐゴシック" charset="0"/>
              </a:rPr>
              <a:t>(</a:t>
            </a:r>
            <a:r>
              <a:rPr lang="sr-Latn-RS" dirty="0" smtClean="0">
                <a:ea typeface="ＭＳ Ｐゴシック" charset="0"/>
              </a:rPr>
              <a:t>osim instrukcija kontrole toka</a:t>
            </a:r>
            <a:r>
              <a:rPr lang="en-US" dirty="0" smtClean="0">
                <a:ea typeface="ＭＳ Ｐゴシック" charset="0"/>
              </a:rPr>
              <a:t>)</a:t>
            </a:r>
            <a:r>
              <a:rPr lang="sr-Latn-RS" dirty="0" smtClean="0">
                <a:ea typeface="ＭＳ Ｐゴシック" charset="0"/>
              </a:rPr>
              <a:t/>
            </a:r>
            <a:br>
              <a:rPr lang="sr-Latn-RS" dirty="0" smtClean="0">
                <a:ea typeface="ＭＳ Ｐゴシック" charset="0"/>
              </a:rPr>
            </a:br>
            <a:r>
              <a:rPr lang="sr-Latn-RS" dirty="0" smtClean="0">
                <a:ea typeface="ＭＳ Ｐゴシック" charset="0"/>
              </a:rPr>
              <a:t>(control driven)</a:t>
            </a:r>
            <a:endParaRPr lang="en-US" dirty="0">
              <a:ea typeface="ＭＳ Ｐゴシック" charset="0"/>
            </a:endParaRPr>
          </a:p>
          <a:p>
            <a:pPr lvl="1">
              <a:buFont typeface="Wingdings" charset="0"/>
              <a:buChar char="q"/>
              <a:defRPr/>
            </a:pPr>
            <a:r>
              <a:rPr lang="sr-Latn-RS" dirty="0" smtClean="0">
                <a:ea typeface="ＭＳ Ｐゴシック" charset="0"/>
              </a:rPr>
              <a:t>Model toka podataka</a:t>
            </a:r>
            <a:r>
              <a:rPr lang="en-US" dirty="0" smtClean="0">
                <a:ea typeface="ＭＳ Ｐゴシック" charset="0"/>
              </a:rPr>
              <a:t>, </a:t>
            </a:r>
            <a:r>
              <a:rPr lang="en-US" dirty="0" err="1" smtClean="0">
                <a:ea typeface="ＭＳ Ｐゴシック" charset="0"/>
              </a:rPr>
              <a:t>paralel</a:t>
            </a:r>
            <a:r>
              <a:rPr lang="sr-Latn-RS" dirty="0" smtClean="0">
                <a:ea typeface="ＭＳ Ｐゴシック" charset="0"/>
              </a:rPr>
              <a:t>no</a:t>
            </a:r>
            <a:r>
              <a:rPr lang="en-US" dirty="0" smtClean="0">
                <a:ea typeface="ＭＳ Ｐゴシック" charset="0"/>
              </a:rPr>
              <a:t> </a:t>
            </a:r>
            <a:r>
              <a:rPr lang="sr-Latn-RS" dirty="0" smtClean="0">
                <a:ea typeface="ＭＳ Ｐゴシック" charset="0"/>
              </a:rPr>
              <a:t>izvršavanje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r>
              <a:rPr lang="sr-Latn-RS" dirty="0" smtClean="0">
                <a:ea typeface="ＭＳ Ｐゴシック" charset="0"/>
              </a:rPr>
              <a:t>Instrukcjia se izvršava kad su svi potrebni operandi spremni</a:t>
            </a:r>
            <a:r>
              <a:rPr lang="en-US" dirty="0" smtClean="0">
                <a:ea typeface="ＭＳ Ｐゴシック" charset="0"/>
              </a:rPr>
              <a:t> </a:t>
            </a:r>
            <a:r>
              <a:rPr lang="sr-Latn-RS" dirty="0" smtClean="0">
                <a:ea typeface="ＭＳ Ｐゴシック" charset="0"/>
              </a:rPr>
              <a:t/>
            </a:r>
            <a:br>
              <a:rPr lang="sr-Latn-RS" dirty="0" smtClean="0">
                <a:ea typeface="ＭＳ Ｐゴシック" charset="0"/>
              </a:rPr>
            </a:br>
            <a:r>
              <a:rPr lang="en-US" dirty="0" smtClean="0">
                <a:ea typeface="ＭＳ Ｐゴシック" charset="0"/>
              </a:rPr>
              <a:t>(</a:t>
            </a:r>
            <a:r>
              <a:rPr lang="en-US" dirty="0">
                <a:ea typeface="ＭＳ Ｐゴシック" charset="0"/>
              </a:rPr>
              <a:t>data </a:t>
            </a:r>
            <a:r>
              <a:rPr lang="sr-Latn-RS" dirty="0" smtClean="0">
                <a:ea typeface="ＭＳ Ｐゴシック" charset="0"/>
              </a:rPr>
              <a:t>driven)</a:t>
            </a:r>
            <a:endParaRPr lang="en-US" dirty="0">
              <a:ea typeface="ＭＳ Ｐゴシック" charset="0"/>
            </a:endParaRPr>
          </a:p>
          <a:p>
            <a:pPr lvl="2">
              <a:buFont typeface="Wingdings" charset="0"/>
              <a:buChar char="n"/>
              <a:defRPr/>
            </a:pPr>
            <a:endParaRPr lang="en-US" dirty="0">
              <a:ea typeface="ＭＳ Ｐゴシック" charset="0"/>
            </a:endParaRPr>
          </a:p>
          <a:p>
            <a:pPr marL="344487" lvl="1" indent="0">
              <a:buFont typeface="Wingdings" charset="0"/>
              <a:buNone/>
              <a:defRPr/>
            </a:pPr>
            <a:endParaRPr lang="en-US" sz="2000" dirty="0">
              <a:ea typeface="ＭＳ Ｐゴシック" charset="0"/>
            </a:endParaRPr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81C4E6-9B5C-4557-BC17-43A2A82C89CA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Veza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izme</a:t>
            </a:r>
            <a:r>
              <a:rPr lang="sr-Latn-RS" dirty="0" smtClean="0">
                <a:ea typeface="ＭＳ Ｐゴシック" pitchFamily="34" charset="-128"/>
              </a:rPr>
              <a:t>đu </a:t>
            </a:r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40768"/>
            <a:ext cx="8915400" cy="51943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Povezuje SW i HW nivo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ISA: </a:t>
            </a:r>
            <a:r>
              <a:rPr lang="en-US" dirty="0" err="1" smtClean="0">
                <a:ea typeface="ＭＳ Ｐゴシック" pitchFamily="34" charset="-128"/>
              </a:rPr>
              <a:t>Specifi</a:t>
            </a:r>
            <a:r>
              <a:rPr lang="sr-Latn-RS" dirty="0" smtClean="0">
                <a:ea typeface="ＭＳ Ｐゴシック" pitchFamily="34" charset="-128"/>
              </a:rPr>
              <a:t>cira kako </a:t>
            </a:r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vidi instrukcije koje treba izvršiti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vidi</a:t>
            </a:r>
            <a:r>
              <a:rPr lang="en-US" dirty="0" smtClean="0">
                <a:ea typeface="ＭＳ Ｐゴシック" pitchFamily="34" charset="-128"/>
              </a:rPr>
              <a:t> se</a:t>
            </a:r>
            <a:r>
              <a:rPr lang="sr-Latn-RS" dirty="0" smtClean="0">
                <a:ea typeface="ＭＳ Ｐゴシック" pitchFamily="34" charset="-128"/>
              </a:rPr>
              <a:t>kvencijalne instrukcije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(</a:t>
            </a:r>
            <a:r>
              <a:rPr lang="en-US" dirty="0" smtClean="0">
                <a:ea typeface="ＭＳ Ｐゴシック" pitchFamily="34" charset="-128"/>
              </a:rPr>
              <a:t>control-flow</a:t>
            </a:r>
            <a:r>
              <a:rPr lang="sr-Latn-RS" dirty="0" smtClean="0">
                <a:ea typeface="ＭＳ Ｐゴシック" pitchFamily="34" charset="-128"/>
              </a:rPr>
              <a:t>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vidi instrukcije po modelu toka podataka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(</a:t>
            </a:r>
            <a:r>
              <a:rPr lang="en-US" dirty="0" smtClean="0">
                <a:ea typeface="ＭＳ Ｐゴシック" pitchFamily="34" charset="-128"/>
              </a:rPr>
              <a:t>data-flow</a:t>
            </a:r>
            <a:r>
              <a:rPr lang="sr-Latn-RS" dirty="0" smtClean="0">
                <a:ea typeface="ＭＳ Ｐゴシック" pitchFamily="34" charset="-128"/>
              </a:rPr>
              <a:t>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kroarhitektura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Kako niži nivo zapravo izvršava instukcije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može da izvršava instrukcije u bilo kom redosledu sve dok je to saglasno sa sementikom kojiu specificira ISA.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vidi redosled koji specificira </a:t>
            </a:r>
            <a:r>
              <a:rPr lang="en-US" dirty="0" smtClean="0">
                <a:ea typeface="ＭＳ Ｐゴシック" pitchFamily="34" charset="-128"/>
              </a:rPr>
              <a:t>ISA</a:t>
            </a: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D4D54F-CCCF-436F-85E4-18853BBFF599}" type="slidenum">
              <a:rPr lang="en-US"/>
              <a:pPr/>
              <a:t>17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F</a:t>
            </a:r>
            <a:r>
              <a:rPr lang="en-US" dirty="0" smtClean="0">
                <a:ea typeface="ＭＳ Ｐゴシック" pitchFamily="34" charset="-128"/>
              </a:rPr>
              <a:t>on</a:t>
            </a:r>
            <a:r>
              <a:rPr lang="sr-Latn-RS" dirty="0" smtClean="0">
                <a:ea typeface="ＭＳ Ｐゴシック" pitchFamily="34" charset="-128"/>
              </a:rPr>
              <a:t> </a:t>
            </a:r>
            <a:r>
              <a:rPr lang="en-US" dirty="0" smtClean="0">
                <a:ea typeface="ＭＳ Ｐゴシック" pitchFamily="34" charset="-128"/>
              </a:rPr>
              <a:t>N</a:t>
            </a:r>
            <a:r>
              <a:rPr lang="sr-Latn-RS" dirty="0" smtClean="0">
                <a:ea typeface="ＭＳ Ｐゴシック" pitchFamily="34" charset="-128"/>
              </a:rPr>
              <a:t>oj</a:t>
            </a:r>
            <a:r>
              <a:rPr lang="en-US" dirty="0" smtClean="0">
                <a:ea typeface="ＭＳ Ｐゴシック" pitchFamily="34" charset="-128"/>
              </a:rPr>
              <a:t>man </a:t>
            </a:r>
            <a:r>
              <a:rPr lang="sr-Latn-RS" dirty="0" smtClean="0">
                <a:ea typeface="ＭＳ Ｐゴシック" pitchFamily="34" charset="-128"/>
              </a:rPr>
              <a:t>m</a:t>
            </a:r>
            <a:r>
              <a:rPr lang="en-US" dirty="0" err="1" smtClean="0">
                <a:ea typeface="ＭＳ Ｐゴシック" pitchFamily="34" charset="-128"/>
              </a:rPr>
              <a:t>odel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63000" cy="51943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Većina savremenih ISA</a:t>
            </a:r>
            <a:r>
              <a:rPr lang="en-US" i="1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danas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koriste ovaj model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x86, ARM, MIPS, SPARC, Alpha</a:t>
            </a:r>
            <a:r>
              <a:rPr lang="sr-Latn-RS" dirty="0" smtClean="0">
                <a:ea typeface="ＭＳ Ｐゴシック" pitchFamily="34" charset="-128"/>
              </a:rPr>
              <a:t>...</a:t>
            </a:r>
            <a:endParaRPr lang="en-US" dirty="0" smtClean="0">
              <a:ea typeface="ＭＳ Ｐゴシック" pitchFamily="34" charset="-128"/>
            </a:endParaRPr>
          </a:p>
          <a:p>
            <a:endParaRPr lang="en-US" sz="14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Na nižem nivou </a:t>
            </a:r>
            <a:r>
              <a:rPr lang="en-US" dirty="0" smtClean="0">
                <a:ea typeface="ＭＳ Ｐゴシック" pitchFamily="34" charset="-128"/>
              </a:rPr>
              <a:t>(</a:t>
            </a:r>
            <a:r>
              <a:rPr lang="sr-Latn-RS" dirty="0" smtClean="0">
                <a:ea typeface="ＭＳ Ｐゴシック" pitchFamily="34" charset="-128"/>
              </a:rPr>
              <a:t>novo</a:t>
            </a:r>
            <a:r>
              <a:rPr lang="en-US" dirty="0" smtClean="0">
                <a:ea typeface="ＭＳ Ｐゴシック" pitchFamily="34" charset="-128"/>
              </a:rPr>
              <a:t> 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ture</a:t>
            </a:r>
            <a:r>
              <a:rPr lang="en-US" dirty="0" smtClean="0">
                <a:ea typeface="ＭＳ Ｐゴシック" pitchFamily="34" charset="-128"/>
              </a:rPr>
              <a:t>),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praktično sve implementacije su značajno različite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Izvršavanje </a:t>
            </a:r>
            <a:r>
              <a:rPr lang="en-US" dirty="0" smtClean="0">
                <a:ea typeface="ＭＳ Ｐゴシック" pitchFamily="34" charset="-128"/>
              </a:rPr>
              <a:t>Pipelined </a:t>
            </a:r>
            <a:r>
              <a:rPr lang="sr-Latn-RS" dirty="0" smtClean="0">
                <a:ea typeface="ＭＳ Ｐゴシック" pitchFamily="34" charset="-128"/>
              </a:rPr>
              <a:t>instrukcija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en-US" i="1" dirty="0" smtClean="0">
                <a:ea typeface="ＭＳ Ｐゴシック" pitchFamily="34" charset="-128"/>
              </a:rPr>
              <a:t>Intel 80486 </a:t>
            </a:r>
            <a:r>
              <a:rPr lang="en-US" i="1" dirty="0" err="1" smtClean="0">
                <a:ea typeface="ＭＳ Ｐゴシック" pitchFamily="34" charset="-128"/>
              </a:rPr>
              <a:t>uarch</a:t>
            </a:r>
            <a:endParaRPr lang="en-US" i="1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Paralelno izvršavanje više </a:t>
            </a:r>
            <a:r>
              <a:rPr lang="en-US" dirty="0" err="1" smtClean="0">
                <a:ea typeface="ＭＳ Ｐゴシック" pitchFamily="34" charset="-128"/>
              </a:rPr>
              <a:t>instru</a:t>
            </a:r>
            <a:r>
              <a:rPr lang="sr-Latn-RS" dirty="0" smtClean="0">
                <a:ea typeface="ＭＳ Ｐゴシック" pitchFamily="34" charset="-128"/>
              </a:rPr>
              <a:t>kcija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en-US" i="1" dirty="0" smtClean="0">
                <a:ea typeface="ＭＳ Ｐゴシック" pitchFamily="34" charset="-128"/>
              </a:rPr>
              <a:t>Intel Pentium </a:t>
            </a:r>
            <a:r>
              <a:rPr lang="en-US" i="1" dirty="0" err="1" smtClean="0">
                <a:ea typeface="ＭＳ Ｐゴシック" pitchFamily="34" charset="-128"/>
              </a:rPr>
              <a:t>uarch</a:t>
            </a:r>
            <a:endParaRPr lang="en-US" i="1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Izvršavanje van redosleda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en-US" i="1" dirty="0" smtClean="0">
                <a:ea typeface="ＭＳ Ｐゴシック" pitchFamily="34" charset="-128"/>
              </a:rPr>
              <a:t>Intel Pentium Pro </a:t>
            </a:r>
            <a:r>
              <a:rPr lang="en-US" i="1" dirty="0" err="1" smtClean="0">
                <a:ea typeface="ＭＳ Ｐゴシック" pitchFamily="34" charset="-128"/>
              </a:rPr>
              <a:t>uarch</a:t>
            </a:r>
            <a:endParaRPr lang="en-US" i="1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Razdvajanje keša instrukcija i keša podataka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sz="14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Nivo mikroarhitekture tipično nije potpuno konzistentan sa Fon Nojmanovim modelom. Međutim softver to direktno ne vidi.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41A9F9-EFB0-4648-AADB-15F4BDD29283}" type="slidenum">
              <a:rPr lang="en-US"/>
              <a:pPr/>
              <a:t>18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Vraćamo se ponovo na pitanje šta je to arhitektura računara</a:t>
            </a:r>
            <a:r>
              <a:rPr lang="en-US" dirty="0" smtClean="0">
                <a:ea typeface="ＭＳ Ｐゴシック" pitchFamily="34" charset="-128"/>
              </a:rPr>
              <a:t>?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/>
          </a:bodyPr>
          <a:lstStyle/>
          <a:p>
            <a:r>
              <a:rPr lang="en-US" b="1" dirty="0" smtClean="0">
                <a:ea typeface="ＭＳ Ｐゴシック" pitchFamily="34" charset="-128"/>
              </a:rPr>
              <a:t>A</a:t>
            </a:r>
            <a:r>
              <a:rPr lang="sr-Latn-RS" b="1" dirty="0" smtClean="0">
                <a:ea typeface="ＭＳ Ｐゴシック" pitchFamily="34" charset="-128"/>
              </a:rPr>
              <a:t>ktuelnija definicija (</a:t>
            </a:r>
            <a:r>
              <a:rPr lang="en-US" b="1" dirty="0" smtClean="0">
                <a:ea typeface="ＭＳ Ｐゴシック" pitchFamily="34" charset="-128"/>
              </a:rPr>
              <a:t>ISA+</a:t>
            </a:r>
            <a:r>
              <a:rPr lang="sr-Latn-RS" b="1" dirty="0" smtClean="0">
                <a:ea typeface="ＭＳ Ｐゴシック" pitchFamily="34" charset="-128"/>
              </a:rPr>
              <a:t>)</a:t>
            </a:r>
            <a:r>
              <a:rPr lang="en-US" b="1" dirty="0" smtClean="0">
                <a:ea typeface="ＭＳ Ｐゴシック" pitchFamily="34" charset="-128"/>
              </a:rPr>
              <a:t>: </a:t>
            </a:r>
            <a:r>
              <a:rPr lang="sr-Latn-RS" dirty="0" smtClean="0"/>
              <a:t>Pristup projektovanju, dizajnu i povezivanju hardverskih računarskih komponenti, njihovo povezivanje preko HW/SW sprege pri kreiranju računarskog sistema po zadatim kriterijumima kao što su funkcionalnost, potrošnja energije, cena, specifični ciljevi.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en-US" b="1" dirty="0" err="1" smtClean="0">
                <a:ea typeface="ＭＳ Ｐゴシック" pitchFamily="34" charset="-128"/>
              </a:rPr>
              <a:t>Tradi</a:t>
            </a:r>
            <a:r>
              <a:rPr lang="sr-Latn-RS" b="1" dirty="0" smtClean="0">
                <a:ea typeface="ＭＳ Ｐゴシック" pitchFamily="34" charset="-128"/>
              </a:rPr>
              <a:t>cionalna </a:t>
            </a:r>
            <a:r>
              <a:rPr lang="en-US" b="1" dirty="0" smtClean="0">
                <a:ea typeface="ＭＳ Ｐゴシック" pitchFamily="34" charset="-128"/>
              </a:rPr>
              <a:t>(ISA):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Termin arhitektura označava atribute sistema koje vidi programer, koji su odvojeni od HW organizacije, tokova podataka i kontrola, logičkog dizajna i fizičke implementacije.</a:t>
            </a:r>
            <a:r>
              <a:rPr lang="en-US" altLang="ja-JP" dirty="0" smtClean="0">
                <a:ea typeface="ＭＳ Ｐゴシック" pitchFamily="34" charset="-128"/>
              </a:rPr>
              <a:t> </a:t>
            </a:r>
            <a:r>
              <a:rPr lang="en-US" altLang="ja-JP" i="1" dirty="0" smtClean="0">
                <a:ea typeface="ＭＳ Ｐゴシック" pitchFamily="34" charset="-128"/>
              </a:rPr>
              <a:t>Gene Amdahl</a:t>
            </a:r>
            <a:r>
              <a:rPr lang="en-US" altLang="ja-JP" dirty="0" smtClean="0">
                <a:ea typeface="ＭＳ Ｐゴシック" pitchFamily="34" charset="-128"/>
              </a:rPr>
              <a:t>, IBM Journal of R&amp;D, April 1964</a:t>
            </a: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4DAC51-0320-4452-A645-D4EC051EADF7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sr-Latn-RS" dirty="0" smtClean="0">
                <a:ea typeface="ＭＳ Ｐゴシック" pitchFamily="34" charset="-128"/>
              </a:rPr>
              <a:t>naspram</a:t>
            </a:r>
            <a:r>
              <a:rPr lang="en-US" dirty="0" smtClean="0">
                <a:ea typeface="ＭＳ Ｐゴシック" pitchFamily="34" charset="-128"/>
              </a:rPr>
              <a:t> 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5298" name="Content Placeholder 24"/>
          <p:cNvSpPr>
            <a:spLocks noGrp="1"/>
          </p:cNvSpPr>
          <p:nvPr>
            <p:ph sz="half" idx="1"/>
          </p:nvPr>
        </p:nvSpPr>
        <p:spPr>
          <a:xfrm>
            <a:off x="179512" y="1628800"/>
            <a:ext cx="6537325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ea typeface="ＭＳ Ｐゴシック" pitchFamily="34" charset="-128"/>
              </a:rPr>
              <a:t>ISA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redstavlja spregu između SW i HW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SW</a:t>
            </a:r>
            <a:r>
              <a:rPr lang="sr-Latn-RS" dirty="0" smtClean="0">
                <a:ea typeface="ＭＳ Ｐゴシック" pitchFamily="34" charset="-128"/>
              </a:rPr>
              <a:t> podrazumeva</a:t>
            </a:r>
            <a:r>
              <a:rPr lang="en-US" dirty="0" smtClean="0">
                <a:ea typeface="ＭＳ Ｐゴシック" pitchFamily="34" charset="-128"/>
              </a:rPr>
              <a:t>, HW </a:t>
            </a:r>
            <a:r>
              <a:rPr lang="sr-Latn-RS" dirty="0" smtClean="0">
                <a:ea typeface="ＭＳ Ｐゴシック" pitchFamily="34" charset="-128"/>
              </a:rPr>
              <a:t>obezbeđuje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Š</a:t>
            </a:r>
            <a:r>
              <a:rPr lang="sr-Latn-RS" dirty="0" smtClean="0">
                <a:ea typeface="ＭＳ Ｐゴシック" pitchFamily="34" charset="-128"/>
              </a:rPr>
              <a:t>ta programer treba da zna da bi pisao i debagovao SW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redstavlja specifičnu </a:t>
            </a:r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sr-Latn-RS" dirty="0" smtClean="0">
                <a:ea typeface="ＭＳ Ｐゴシック" pitchFamily="34" charset="-128"/>
              </a:rPr>
              <a:t>implementaciju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Nije vidljiva SW svetu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roprocesor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b="1" dirty="0" smtClean="0">
                <a:ea typeface="ＭＳ Ｐゴシック" pitchFamily="34" charset="-128"/>
              </a:rPr>
              <a:t>ISA, </a:t>
            </a:r>
            <a:r>
              <a:rPr lang="en-US" b="1" dirty="0" err="1" smtClean="0">
                <a:ea typeface="ＭＳ Ｐゴシック" pitchFamily="34" charset="-128"/>
              </a:rPr>
              <a:t>uarch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>kola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dirty="0" err="1" smtClean="0">
                <a:ea typeface="ＭＳ Ｐゴシック" pitchFamily="34" charset="-128"/>
              </a:rPr>
              <a:t>Arhite</a:t>
            </a:r>
            <a:r>
              <a:rPr lang="sr-Latn-RS" altLang="ja-JP" dirty="0" smtClean="0">
                <a:ea typeface="ＭＳ Ｐゴシック" pitchFamily="34" charset="-128"/>
              </a:rPr>
              <a:t>k</a:t>
            </a:r>
            <a:r>
              <a:rPr lang="en-US" altLang="ja-JP" dirty="0" err="1" smtClean="0">
                <a:ea typeface="ＭＳ Ｐゴシック" pitchFamily="34" charset="-128"/>
              </a:rPr>
              <a:t>tur</a:t>
            </a:r>
            <a:r>
              <a:rPr lang="sr-Latn-RS" altLang="ja-JP" dirty="0" smtClean="0">
                <a:ea typeface="ＭＳ Ｐゴシック" pitchFamily="34" charset="-128"/>
              </a:rPr>
              <a:t>a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dirty="0" smtClean="0">
                <a:ea typeface="ＭＳ Ｐゴシック" pitchFamily="34" charset="-128"/>
              </a:rPr>
              <a:t> = ISA + mi</a:t>
            </a:r>
            <a:r>
              <a:rPr lang="sr-Latn-RS" altLang="ja-JP" dirty="0" smtClean="0">
                <a:ea typeface="ＭＳ Ｐゴシック" pitchFamily="34" charset="-128"/>
              </a:rPr>
              <a:t>k</a:t>
            </a:r>
            <a:r>
              <a:rPr lang="en-US" altLang="ja-JP" dirty="0" err="1" smtClean="0">
                <a:ea typeface="ＭＳ Ｐゴシック" pitchFamily="34" charset="-128"/>
              </a:rPr>
              <a:t>roarhite</a:t>
            </a:r>
            <a:r>
              <a:rPr lang="sr-Latn-RS" altLang="ja-JP" dirty="0" smtClean="0">
                <a:ea typeface="ＭＳ Ｐゴシック" pitchFamily="34" charset="-128"/>
              </a:rPr>
              <a:t>k</a:t>
            </a:r>
            <a:r>
              <a:rPr lang="en-US" altLang="ja-JP" dirty="0" err="1" smtClean="0">
                <a:ea typeface="ＭＳ Ｐゴシック" pitchFamily="34" charset="-128"/>
              </a:rPr>
              <a:t>tur</a:t>
            </a:r>
            <a:r>
              <a:rPr lang="sr-Latn-RS" altLang="ja-JP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574F73-7449-4B87-8050-B5BFF581848B}" type="slidenum">
              <a:rPr lang="en-US"/>
              <a:pPr/>
              <a:t>20</a:t>
            </a:fld>
            <a:endParaRPr lang="en-US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765925" y="3408363"/>
            <a:ext cx="1910531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Mi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cs typeface="Arial" pitchFamily="34" charset="0"/>
              </a:rPr>
              <a:t>roarhite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cs typeface="Arial" pitchFamily="34" charset="0"/>
              </a:rPr>
              <a:t>tur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a</a:t>
            </a:r>
            <a:endParaRPr lang="en-US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1" name="Text Box 5"/>
          <p:cNvSpPr txBox="1">
            <a:spLocks noChangeAspect="1" noChangeArrowheads="1"/>
          </p:cNvSpPr>
          <p:nvPr/>
        </p:nvSpPr>
        <p:spPr bwMode="auto">
          <a:xfrm>
            <a:off x="6765925" y="3027363"/>
            <a:ext cx="1946275" cy="3762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cs typeface="Arial" pitchFamily="34" charset="0"/>
              </a:rPr>
              <a:t>ISA</a:t>
            </a:r>
          </a:p>
        </p:txBody>
      </p:sp>
      <p:sp>
        <p:nvSpPr>
          <p:cNvPr id="55302" name="Text Box 6"/>
          <p:cNvSpPr txBox="1">
            <a:spLocks noChangeAspect="1" noChangeArrowheads="1"/>
          </p:cNvSpPr>
          <p:nvPr/>
        </p:nvSpPr>
        <p:spPr bwMode="auto">
          <a:xfrm>
            <a:off x="6765925" y="2646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Program</a:t>
            </a:r>
          </a:p>
        </p:txBody>
      </p:sp>
      <p:sp>
        <p:nvSpPr>
          <p:cNvPr id="55303" name="Text Box 7"/>
          <p:cNvSpPr txBox="1">
            <a:spLocks noChangeAspect="1" noChangeArrowheads="1"/>
          </p:cNvSpPr>
          <p:nvPr/>
        </p:nvSpPr>
        <p:spPr bwMode="auto">
          <a:xfrm>
            <a:off x="6765925" y="2265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 smtClean="0">
                <a:solidFill>
                  <a:srgbClr val="000000"/>
                </a:solidFill>
                <a:cs typeface="Arial" pitchFamily="34" charset="0"/>
              </a:rPr>
              <a:t>Algorit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m</a:t>
            </a:r>
            <a:endParaRPr lang="en-US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55304" name="Text Box 8"/>
          <p:cNvSpPr txBox="1">
            <a:spLocks noChangeAspect="1" noChangeArrowheads="1"/>
          </p:cNvSpPr>
          <p:nvPr/>
        </p:nvSpPr>
        <p:spPr bwMode="auto">
          <a:xfrm>
            <a:off x="6765925" y="1884363"/>
            <a:ext cx="194627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Problem</a:t>
            </a:r>
          </a:p>
        </p:txBody>
      </p:sp>
      <p:sp>
        <p:nvSpPr>
          <p:cNvPr id="12" name="Text Box 22"/>
          <p:cNvSpPr txBox="1">
            <a:spLocks noChangeAspect="1" noChangeArrowheads="1"/>
          </p:cNvSpPr>
          <p:nvPr/>
        </p:nvSpPr>
        <p:spPr bwMode="auto">
          <a:xfrm>
            <a:off x="6732240" y="378904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cs typeface="Arial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cs typeface="Arial" pitchFamily="34" charset="0"/>
              </a:rPr>
              <a:t>čka kola, 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mem</a:t>
            </a:r>
            <a:endParaRPr lang="en-US" dirty="0" err="1">
              <a:solidFill>
                <a:srgbClr val="000000"/>
              </a:solidFill>
              <a:cs typeface="Arial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3" name="Text Box 23"/>
          <p:cNvSpPr txBox="1">
            <a:spLocks noChangeAspect="1" noChangeArrowheads="1"/>
          </p:cNvSpPr>
          <p:nvPr/>
        </p:nvSpPr>
        <p:spPr bwMode="auto">
          <a:xfrm>
            <a:off x="6732240" y="4149080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E</a:t>
            </a:r>
            <a:r>
              <a:rPr lang="sr-Latn-RS" dirty="0" smtClean="0">
                <a:solidFill>
                  <a:srgbClr val="000000"/>
                </a:solidFill>
                <a:cs typeface="Arial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Šta pripada</a:t>
            </a:r>
            <a:r>
              <a:rPr lang="en-US" dirty="0" smtClean="0">
                <a:ea typeface="ＭＳ Ｐゴシック" pitchFamily="34" charset="-128"/>
              </a:rPr>
              <a:t> ISA</a:t>
            </a:r>
            <a:r>
              <a:rPr lang="sr-Latn-RS" dirty="0" smtClean="0">
                <a:ea typeface="ＭＳ Ｐゴシック" pitchFamily="34" charset="-128"/>
              </a:rPr>
              <a:t>, a šta mikroarhitekturi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P</a:t>
            </a:r>
            <a:r>
              <a:rPr lang="sr-Latn-RS" sz="2000" dirty="0" smtClean="0">
                <a:ea typeface="ＭＳ Ｐゴシック" pitchFamily="34" charset="-128"/>
              </a:rPr>
              <a:t>apučica gasa</a:t>
            </a:r>
            <a:r>
              <a:rPr lang="en-US" sz="2000" dirty="0" smtClean="0">
                <a:ea typeface="ＭＳ Ｐゴシック" pitchFamily="34" charset="-128"/>
              </a:rPr>
              <a:t>: </a:t>
            </a:r>
            <a:r>
              <a:rPr lang="sr-Latn-RS" sz="2000" dirty="0" smtClean="0">
                <a:ea typeface="ＭＳ Ｐゴシック" pitchFamily="34" charset="-128"/>
              </a:rPr>
              <a:t>sprega ka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sr-Latn-RS" altLang="ja-JP" sz="2000" dirty="0" smtClean="0">
                <a:ea typeface="ＭＳ Ｐゴシック" pitchFamily="34" charset="-128"/>
              </a:rPr>
              <a:t>ubrzanju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altLang="ja-JP" sz="2000" dirty="0" smtClean="0"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K</a:t>
            </a:r>
            <a:r>
              <a:rPr lang="sr-Latn-RS" sz="2000" dirty="0" smtClean="0">
                <a:ea typeface="ＭＳ Ｐゴシック" pitchFamily="34" charset="-128"/>
              </a:rPr>
              <a:t>onstrukcija motora, pogona</a:t>
            </a:r>
            <a:r>
              <a:rPr lang="en-US" sz="2000" dirty="0" smtClean="0">
                <a:ea typeface="ＭＳ Ｐゴシック" pitchFamily="34" charset="-128"/>
              </a:rPr>
              <a:t>: </a:t>
            </a:r>
            <a:r>
              <a:rPr lang="sr-Latn-RS" sz="2000" dirty="0" smtClean="0">
                <a:ea typeface="ＭＳ Ｐゴシック" pitchFamily="34" charset="-128"/>
              </a:rPr>
              <a:t>implementacija </a:t>
            </a:r>
            <a:r>
              <a:rPr lang="en-US" sz="2000" dirty="0" smtClean="0">
                <a:ea typeface="ＭＳ Ｐゴシック" pitchFamily="34" charset="-128"/>
              </a:rPr>
              <a:t>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sr-Latn-RS" altLang="ja-JP" sz="2000" dirty="0" smtClean="0">
                <a:ea typeface="ＭＳ Ｐゴシック" pitchFamily="34" charset="-128"/>
              </a:rPr>
              <a:t>ubrzanja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altLang="ja-JP" sz="2000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en-US" dirty="0" err="1" smtClean="0">
                <a:ea typeface="ＭＳ Ｐゴシック" pitchFamily="34" charset="-128"/>
              </a:rPr>
              <a:t>Implementa</a:t>
            </a:r>
            <a:r>
              <a:rPr lang="sr-Latn-RS" dirty="0" smtClean="0">
                <a:ea typeface="ＭＳ Ｐゴシック" pitchFamily="34" charset="-128"/>
              </a:rPr>
              <a:t>cija mikroarhitekture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može biti različita, sve dok zadovoljava </a:t>
            </a:r>
            <a:r>
              <a:rPr lang="en-US" dirty="0" smtClean="0">
                <a:ea typeface="ＭＳ Ｐゴシック" pitchFamily="34" charset="-128"/>
              </a:rPr>
              <a:t>ISA</a:t>
            </a:r>
            <a:r>
              <a:rPr lang="sr-Latn-RS" dirty="0" smtClean="0">
                <a:ea typeface="ＭＳ Ｐゴシック" pitchFamily="34" charset="-128"/>
              </a:rPr>
              <a:t> specifikaciju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Add </a:t>
            </a:r>
            <a:r>
              <a:rPr lang="sr-Latn-RS" sz="2000" dirty="0" smtClean="0">
                <a:ea typeface="ＭＳ Ｐゴシック" pitchFamily="34" charset="-128"/>
              </a:rPr>
              <a:t>instrukcija naspram </a:t>
            </a:r>
            <a:r>
              <a:rPr lang="en-US" sz="2000" dirty="0" err="1" smtClean="0">
                <a:ea typeface="ＭＳ Ｐゴシック" pitchFamily="34" charset="-128"/>
              </a:rPr>
              <a:t>implementa</a:t>
            </a:r>
            <a:r>
              <a:rPr lang="sr-Latn-RS" sz="2000" dirty="0" smtClean="0">
                <a:ea typeface="ＭＳ Ｐゴシック" pitchFamily="34" charset="-128"/>
              </a:rPr>
              <a:t>cije sabirača</a:t>
            </a:r>
            <a:endParaRPr lang="en-US" sz="2000" dirty="0" smtClean="0">
              <a:ea typeface="ＭＳ Ｐゴシック" pitchFamily="34" charset="-128"/>
            </a:endParaRPr>
          </a:p>
          <a:p>
            <a:pPr lvl="2"/>
            <a:r>
              <a:rPr lang="en-US" sz="1800" dirty="0" smtClean="0">
                <a:ea typeface="ＭＳ Ｐゴシック" pitchFamily="34" charset="-128"/>
              </a:rPr>
              <a:t>P</a:t>
            </a:r>
            <a:r>
              <a:rPr lang="sr-Latn-RS" sz="1800" dirty="0" smtClean="0">
                <a:ea typeface="ＭＳ Ｐゴシック" pitchFamily="34" charset="-128"/>
              </a:rPr>
              <a:t>un sabirač, serijski sabirač,</a:t>
            </a:r>
            <a:r>
              <a:rPr lang="en-US" sz="1800" dirty="0" smtClean="0">
                <a:ea typeface="ＭＳ Ｐゴシック" pitchFamily="34" charset="-128"/>
              </a:rPr>
              <a:t> carry </a:t>
            </a:r>
            <a:r>
              <a:rPr lang="en-US" sz="1800" dirty="0" err="1" smtClean="0">
                <a:ea typeface="ＭＳ Ｐゴシック" pitchFamily="34" charset="-128"/>
              </a:rPr>
              <a:t>lookahead</a:t>
            </a:r>
            <a:r>
              <a:rPr lang="sr-Latn-RS" sz="1800" dirty="0" smtClean="0">
                <a:ea typeface="ＭＳ Ｐゴシック" pitchFamily="34" charset="-128"/>
              </a:rPr>
              <a:t> sabirač, svi mogu biti sastavni deo </a:t>
            </a:r>
            <a:r>
              <a:rPr lang="en-US" sz="1800" dirty="0" smtClean="0">
                <a:ea typeface="ＭＳ Ｐゴシック" pitchFamily="34" charset="-128"/>
              </a:rPr>
              <a:t>mi</a:t>
            </a:r>
            <a:r>
              <a:rPr lang="sr-Latn-RS" sz="1800" dirty="0" smtClean="0">
                <a:ea typeface="ＭＳ Ｐゴシック" pitchFamily="34" charset="-128"/>
              </a:rPr>
              <a:t>k</a:t>
            </a:r>
            <a:r>
              <a:rPr lang="en-US" sz="1800" dirty="0" err="1" smtClean="0">
                <a:ea typeface="ＭＳ Ｐゴシック" pitchFamily="34" charset="-128"/>
              </a:rPr>
              <a:t>roarhite</a:t>
            </a:r>
            <a:r>
              <a:rPr lang="sr-Latn-RS" sz="1800" dirty="0" smtClean="0">
                <a:ea typeface="ＭＳ Ｐゴシック" pitchFamily="34" charset="-128"/>
              </a:rPr>
              <a:t>k</a:t>
            </a:r>
            <a:r>
              <a:rPr lang="en-US" sz="1800" dirty="0" err="1" smtClean="0">
                <a:ea typeface="ＭＳ Ｐゴシック" pitchFamily="34" charset="-128"/>
              </a:rPr>
              <a:t>ture</a:t>
            </a:r>
            <a:endParaRPr lang="en-US" sz="1800" dirty="0" smtClean="0"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x86 ISA </a:t>
            </a:r>
            <a:r>
              <a:rPr lang="sr-Latn-RS" sz="2000" dirty="0" smtClean="0">
                <a:ea typeface="ＭＳ Ｐゴシック" pitchFamily="34" charset="-128"/>
              </a:rPr>
              <a:t>je realizovana na više implementacija</a:t>
            </a:r>
            <a:r>
              <a:rPr lang="en-US" sz="2000" dirty="0" smtClean="0">
                <a:ea typeface="ＭＳ Ｐゴシック" pitchFamily="34" charset="-128"/>
              </a:rPr>
              <a:t>: 286, 386, 486, Pentium, Pentium Pro, Pentium 4,…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kroarthitekture se tipično menjaju brže nego </a:t>
            </a:r>
            <a:r>
              <a:rPr lang="en-US" dirty="0" smtClean="0">
                <a:ea typeface="ＭＳ Ｐゴシック" pitchFamily="34" charset="-128"/>
              </a:rPr>
              <a:t>ISA</a:t>
            </a:r>
          </a:p>
          <a:p>
            <a:pPr lvl="1"/>
            <a:r>
              <a:rPr lang="sr-Latn-RS" sz="2000" dirty="0" smtClean="0">
                <a:ea typeface="ＭＳ Ｐゴシック" pitchFamily="34" charset="-128"/>
              </a:rPr>
              <a:t>Tipične </a:t>
            </a:r>
            <a:r>
              <a:rPr lang="en-US" sz="2000" dirty="0" smtClean="0">
                <a:ea typeface="ＭＳ Ｐゴシック" pitchFamily="34" charset="-128"/>
              </a:rPr>
              <a:t>ISA</a:t>
            </a:r>
            <a:r>
              <a:rPr lang="sr-Latn-RS" sz="2000" dirty="0" smtClean="0">
                <a:ea typeface="ＭＳ Ｐゴシック" pitchFamily="34" charset="-128"/>
              </a:rPr>
              <a:t>:</a:t>
            </a:r>
            <a:r>
              <a:rPr lang="en-US" sz="2000" dirty="0" smtClean="0">
                <a:ea typeface="ＭＳ Ｐゴシック" pitchFamily="34" charset="-128"/>
              </a:rPr>
              <a:t> x86, ARM, SPARC, MIPS, Alpha</a:t>
            </a:r>
            <a:r>
              <a:rPr lang="sr-Latn-RS" sz="2000" dirty="0" smtClean="0">
                <a:ea typeface="ＭＳ Ｐゴシック" pitchFamily="34" charset="-128"/>
              </a:rPr>
              <a:t>, sve se realizuju na velikom mnoštvu različitih mikroarhitektura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i="1" dirty="0" smtClean="0">
                <a:ea typeface="ＭＳ Ｐゴシック" pitchFamily="34" charset="-128"/>
              </a:rPr>
              <a:t>Zašto</a:t>
            </a:r>
            <a:r>
              <a:rPr lang="en-US" sz="2000" i="1" dirty="0" smtClean="0">
                <a:ea typeface="ＭＳ Ｐゴシック" pitchFamily="34" charset="-128"/>
              </a:rPr>
              <a:t>?</a:t>
            </a: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155C2C-2737-4CCB-B41E-40B16C142FCD}" type="slidenum">
              <a:rPr lang="en-US"/>
              <a:pPr/>
              <a:t>21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7544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ISA </a:t>
            </a:r>
            <a:r>
              <a:rPr kumimoji="0" lang="sr-Latn-R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naspram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 Mi</a:t>
            </a:r>
            <a:r>
              <a:rPr kumimoji="0" lang="sr-Latn-R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k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roarhite</a:t>
            </a:r>
            <a:r>
              <a:rPr kumimoji="0" lang="sr-Latn-R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k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ＭＳ Ｐゴシック" pitchFamily="34" charset="-128"/>
                <a:cs typeface="+mj-cs"/>
              </a:rPr>
              <a:t>ture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ＭＳ Ｐゴシック" pitchFamily="34" charset="-128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Instru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ci</a:t>
            </a:r>
            <a:r>
              <a:rPr lang="sr-Latn-RS" dirty="0" smtClean="0">
                <a:ea typeface="ＭＳ Ｐゴシック" pitchFamily="34" charset="-128"/>
              </a:rPr>
              <a:t>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sz="1800" dirty="0" smtClean="0">
                <a:ea typeface="ＭＳ Ｐゴシック" pitchFamily="34" charset="-128"/>
              </a:rPr>
              <a:t>Op</a:t>
            </a:r>
            <a:r>
              <a:rPr lang="sr-Latn-RS" sz="1800" dirty="0" smtClean="0">
                <a:ea typeface="ＭＳ Ｐゴシック" pitchFamily="34" charset="-128"/>
              </a:rPr>
              <a:t>kodovi</a:t>
            </a:r>
            <a:r>
              <a:rPr lang="en-US" sz="1800" dirty="0" smtClean="0">
                <a:ea typeface="ＭＳ Ｐゴシック" pitchFamily="34" charset="-128"/>
              </a:rPr>
              <a:t>, </a:t>
            </a:r>
            <a:r>
              <a:rPr lang="sr-Latn-RS" sz="1800" dirty="0" smtClean="0">
                <a:ea typeface="ＭＳ Ｐゴシック" pitchFamily="34" charset="-128"/>
              </a:rPr>
              <a:t>a</a:t>
            </a:r>
            <a:r>
              <a:rPr lang="en-US" sz="1800" dirty="0" err="1" smtClean="0">
                <a:ea typeface="ＭＳ Ｐゴシック" pitchFamily="34" charset="-128"/>
              </a:rPr>
              <a:t>dres</a:t>
            </a:r>
            <a:r>
              <a:rPr lang="sr-Latn-RS" sz="1800" dirty="0" smtClean="0">
                <a:ea typeface="ＭＳ Ｐゴシック" pitchFamily="34" charset="-128"/>
              </a:rPr>
              <a:t>ni modovi</a:t>
            </a:r>
            <a:r>
              <a:rPr lang="en-US" sz="1800" dirty="0" smtClean="0">
                <a:ea typeface="ＭＳ Ｐゴシック" pitchFamily="34" charset="-128"/>
              </a:rPr>
              <a:t>, </a:t>
            </a:r>
            <a:r>
              <a:rPr lang="sr-Latn-RS" sz="1800" dirty="0" smtClean="0">
                <a:ea typeface="ＭＳ Ｐゴシック" pitchFamily="34" charset="-128"/>
              </a:rPr>
              <a:t>tipovi podataka</a:t>
            </a:r>
            <a:endParaRPr lang="en-US" sz="1800" dirty="0" smtClean="0">
              <a:ea typeface="ＭＳ Ｐゴシック" pitchFamily="34" charset="-128"/>
            </a:endParaRPr>
          </a:p>
          <a:p>
            <a:pPr lvl="1"/>
            <a:r>
              <a:rPr lang="en-US" sz="1800" dirty="0" err="1" smtClean="0">
                <a:ea typeface="ＭＳ Ｐゴシック" pitchFamily="34" charset="-128"/>
              </a:rPr>
              <a:t>Instru</a:t>
            </a:r>
            <a:r>
              <a:rPr lang="sr-Latn-RS" sz="1800" dirty="0" smtClean="0">
                <a:ea typeface="ＭＳ Ｐゴシック" pitchFamily="34" charset="-128"/>
              </a:rPr>
              <a:t>kcije, tipovi i formati</a:t>
            </a:r>
            <a:endParaRPr lang="en-US" sz="1800" dirty="0" smtClean="0">
              <a:ea typeface="ＭＳ Ｐゴシック" pitchFamily="34" charset="-128"/>
            </a:endParaRPr>
          </a:p>
          <a:p>
            <a:pPr lvl="1"/>
            <a:r>
              <a:rPr lang="en-US" sz="1800" dirty="0" err="1" smtClean="0">
                <a:ea typeface="ＭＳ Ｐゴシック" pitchFamily="34" charset="-128"/>
              </a:rPr>
              <a:t>Registr</a:t>
            </a:r>
            <a:r>
              <a:rPr lang="sr-Latn-RS" sz="1800" dirty="0" smtClean="0">
                <a:ea typeface="ＭＳ Ｐゴシック" pitchFamily="34" charset="-128"/>
              </a:rPr>
              <a:t>i</a:t>
            </a:r>
            <a:endParaRPr lang="en-US" sz="1800" dirty="0" smtClean="0">
              <a:ea typeface="ＭＳ Ｐゴシック" pitchFamily="34" charset="-128"/>
            </a:endParaRPr>
          </a:p>
          <a:p>
            <a:r>
              <a:rPr lang="en-US" dirty="0" err="1" smtClean="0">
                <a:ea typeface="ＭＳ Ｐゴシック" pitchFamily="34" charset="-128"/>
              </a:rPr>
              <a:t>Memor</a:t>
            </a:r>
            <a:r>
              <a:rPr lang="sr-Latn-RS" dirty="0" smtClean="0">
                <a:ea typeface="ＭＳ Ｐゴシック" pitchFamily="34" charset="-128"/>
              </a:rPr>
              <a:t>ija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sz="1800" dirty="0" err="1" smtClean="0">
                <a:ea typeface="ＭＳ Ｐゴシック" pitchFamily="34" charset="-128"/>
              </a:rPr>
              <a:t>Adres</a:t>
            </a:r>
            <a:r>
              <a:rPr lang="sr-Latn-RS" sz="1800" dirty="0" smtClean="0">
                <a:ea typeface="ＭＳ Ｐゴシック" pitchFamily="34" charset="-128"/>
              </a:rPr>
              <a:t>ni prostor</a:t>
            </a:r>
            <a:r>
              <a:rPr lang="en-US" sz="1800" dirty="0" smtClean="0">
                <a:ea typeface="ＭＳ Ｐゴシック" pitchFamily="34" charset="-128"/>
              </a:rPr>
              <a:t>, </a:t>
            </a:r>
          </a:p>
          <a:p>
            <a:pPr lvl="1"/>
            <a:r>
              <a:rPr lang="sr-Latn-RS" sz="1800" dirty="0" smtClean="0">
                <a:ea typeface="ＭＳ Ｐゴシック" pitchFamily="34" charset="-128"/>
              </a:rPr>
              <a:t>Rukovanje virtualnom memorijom</a:t>
            </a:r>
            <a:endParaRPr lang="en-US" sz="18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Pozivi, prekidi</a:t>
            </a:r>
            <a:r>
              <a:rPr lang="en-US" dirty="0" smtClean="0">
                <a:ea typeface="ＭＳ Ｐゴシック" pitchFamily="34" charset="-128"/>
              </a:rPr>
              <a:t>/</a:t>
            </a:r>
            <a:r>
              <a:rPr lang="sr-Latn-RS" dirty="0" smtClean="0">
                <a:ea typeface="ＭＳ Ｐゴシック" pitchFamily="34" charset="-128"/>
              </a:rPr>
              <a:t>rukovaoci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K</a:t>
            </a:r>
            <a:r>
              <a:rPr lang="sr-Latn-RS" dirty="0" smtClean="0">
                <a:ea typeface="ＭＳ Ｐゴシック" pitchFamily="34" charset="-128"/>
              </a:rPr>
              <a:t>ontrola pristupa, prioriteti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I/O: </a:t>
            </a:r>
            <a:r>
              <a:rPr lang="sr-Latn-RS" dirty="0" smtClean="0">
                <a:ea typeface="ＭＳ Ｐゴシック" pitchFamily="34" charset="-128"/>
              </a:rPr>
              <a:t>memorijski mapiran naspram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pristupa specifičnim instrukcjiama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Rukovanje t</a:t>
            </a:r>
            <a:r>
              <a:rPr lang="en-US" dirty="0" smtClean="0">
                <a:ea typeface="ＭＳ Ｐゴシック" pitchFamily="34" charset="-128"/>
              </a:rPr>
              <a:t>ask</a:t>
            </a:r>
            <a:r>
              <a:rPr lang="sr-Latn-RS" dirty="0" smtClean="0">
                <a:ea typeface="ＭＳ Ｐゴシック" pitchFamily="34" charset="-128"/>
              </a:rPr>
              <a:t>ovima</a:t>
            </a:r>
            <a:r>
              <a:rPr lang="en-US" dirty="0" smtClean="0">
                <a:ea typeface="ＭＳ Ｐゴシック" pitchFamily="34" charset="-128"/>
              </a:rPr>
              <a:t>/thread</a:t>
            </a:r>
            <a:r>
              <a:rPr lang="sr-Latn-RS" dirty="0" smtClean="0">
                <a:ea typeface="ＭＳ Ｐゴシック" pitchFamily="34" charset="-128"/>
              </a:rPr>
              <a:t>ovima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r>
              <a:rPr lang="sr-Latn-RS" dirty="0" smtClean="0">
                <a:ea typeface="ＭＳ Ｐゴシック" pitchFamily="34" charset="-128"/>
              </a:rPr>
              <a:t>Potrošnja energije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Podrška m</a:t>
            </a:r>
            <a:r>
              <a:rPr lang="en-US" dirty="0" err="1" smtClean="0">
                <a:ea typeface="ＭＳ Ｐゴシック" pitchFamily="34" charset="-128"/>
              </a:rPr>
              <a:t>ulti</a:t>
            </a:r>
            <a:r>
              <a:rPr lang="en-US" dirty="0" smtClean="0">
                <a:ea typeface="ＭＳ Ｐゴシック" pitchFamily="34" charset="-128"/>
              </a:rPr>
              <a:t>-threading</a:t>
            </a:r>
            <a:r>
              <a:rPr lang="sr-Latn-RS" dirty="0" smtClean="0">
                <a:ea typeface="ＭＳ Ｐゴシック" pitchFamily="34" charset="-128"/>
              </a:rPr>
              <a:t>u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>m</a:t>
            </a:r>
            <a:r>
              <a:rPr lang="en-US" dirty="0" err="1" smtClean="0">
                <a:ea typeface="ＭＳ Ｐゴシック" pitchFamily="34" charset="-128"/>
              </a:rPr>
              <a:t>ultiprocesor</a:t>
            </a:r>
            <a:r>
              <a:rPr lang="sr-Latn-RS" dirty="0" smtClean="0">
                <a:ea typeface="ＭＳ Ｐゴシック" pitchFamily="34" charset="-128"/>
              </a:rPr>
              <a:t>ima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0CCE4B-E9FB-48D5-92C2-0D09C30CC041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4717628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Implementacija </a:t>
            </a:r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sr-Latn-RS" dirty="0" smtClean="0">
                <a:ea typeface="ＭＳ Ｐゴシック" pitchFamily="34" charset="-128"/>
              </a:rPr>
              <a:t>u okviru specifičnih okvira i ciljeva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Sve što je urađeno u hardveru, a nije vidljivo SW sloju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Pipelining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ristup memoriji / raspoređivač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Superscalar processing</a:t>
            </a:r>
            <a:r>
              <a:rPr lang="sr-Latn-RS" dirty="0" smtClean="0">
                <a:ea typeface="ＭＳ Ｐゴシック" pitchFamily="34" charset="-128"/>
              </a:rPr>
              <a:t> (paralelno izvršavanje instrukcija)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Clock gating</a:t>
            </a:r>
            <a:r>
              <a:rPr lang="sr-Latn-RS" dirty="0" smtClean="0">
                <a:ea typeface="ＭＳ Ｐゴシック" pitchFamily="34" charset="-128"/>
              </a:rPr>
              <a:t> (deaktivacija takta po potrebi po blokovima)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Rukovanje kešom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ea typeface="ＭＳ Ｐゴシック" pitchFamily="34" charset="-128"/>
              </a:rPr>
              <a:t>Prefetching</a:t>
            </a:r>
            <a:r>
              <a:rPr lang="sr-Latn-RS" dirty="0" smtClean="0">
                <a:ea typeface="ＭＳ Ｐゴシック" pitchFamily="34" charset="-128"/>
              </a:rPr>
              <a:t> (predprihvat)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Voltage/frequency scaling</a:t>
            </a:r>
            <a:r>
              <a:rPr lang="sr-Latn-RS" dirty="0" smtClean="0">
                <a:ea typeface="ＭＳ Ｐゴシック" pitchFamily="34" charset="-128"/>
              </a:rPr>
              <a:t> (u cilju uštede energije)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Error correction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13A99D-B528-4D9D-9C1F-D2D1E166AEB2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err="1" smtClean="0">
                <a:ea typeface="ＭＳ Ｐゴシック" pitchFamily="34" charset="-128"/>
              </a:rPr>
              <a:t>Elementi</a:t>
            </a:r>
            <a:r>
              <a:rPr lang="en-US" dirty="0" smtClean="0">
                <a:ea typeface="ＭＳ Ｐゴシック" pitchFamily="34" charset="-128"/>
              </a:rPr>
              <a:t>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Tok instrukcija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Control flow </a:t>
            </a:r>
            <a:r>
              <a:rPr lang="sr-Latn-RS" sz="2000" dirty="0" smtClean="0">
                <a:ea typeface="ＭＳ Ｐゴシック" pitchFamily="34" charset="-128"/>
              </a:rPr>
              <a:t>naspram</a:t>
            </a:r>
            <a:r>
              <a:rPr lang="en-US" sz="2000" dirty="0" smtClean="0">
                <a:ea typeface="ＭＳ Ｐゴシック" pitchFamily="34" charset="-128"/>
              </a:rPr>
              <a:t> data flow</a:t>
            </a:r>
            <a:r>
              <a:rPr lang="sr-Latn-RS" sz="2000" dirty="0" smtClean="0">
                <a:ea typeface="ＭＳ Ｐゴシック" pitchFamily="34" charset="-128"/>
              </a:rPr>
              <a:t> tehnike</a:t>
            </a:r>
            <a:endParaRPr lang="en-US" sz="2000" dirty="0" smtClean="0">
              <a:ea typeface="ＭＳ Ｐゴシック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sz="1400" dirty="0" smtClean="0"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Procesiranje instrukcije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Specificira se broj operanada sa kojima instrukcija rukuje i na koji način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0, 1, 2, 3 </a:t>
            </a:r>
            <a:r>
              <a:rPr lang="en-US" dirty="0" err="1" smtClean="0">
                <a:ea typeface="ＭＳ Ｐゴシック" pitchFamily="34" charset="-128"/>
              </a:rPr>
              <a:t>adres</a:t>
            </a:r>
            <a:r>
              <a:rPr lang="sr-Latn-RS" dirty="0" smtClean="0">
                <a:ea typeface="ＭＳ Ｐゴシック" pitchFamily="34" charset="-128"/>
              </a:rPr>
              <a:t>ne mašine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sz="1800" dirty="0" smtClean="0">
                <a:ea typeface="ＭＳ Ｐゴシック" pitchFamily="34" charset="-128"/>
              </a:rPr>
              <a:t>0-adres</a:t>
            </a:r>
            <a:r>
              <a:rPr lang="sr-Latn-RS" sz="1800" dirty="0" smtClean="0">
                <a:ea typeface="ＭＳ Ｐゴシック" pitchFamily="34" charset="-128"/>
              </a:rPr>
              <a:t>ne</a:t>
            </a:r>
            <a:r>
              <a:rPr lang="en-US" sz="1800" dirty="0" smtClean="0">
                <a:ea typeface="ＭＳ Ｐゴシック" pitchFamily="34" charset="-128"/>
              </a:rPr>
              <a:t>: </a:t>
            </a:r>
            <a:r>
              <a:rPr lang="en-US" sz="1800" dirty="0" err="1" smtClean="0">
                <a:ea typeface="ＭＳ Ｐゴシック" pitchFamily="34" charset="-128"/>
              </a:rPr>
              <a:t>st</a:t>
            </a:r>
            <a:r>
              <a:rPr lang="sr-Latn-RS" sz="1800" dirty="0" smtClean="0">
                <a:ea typeface="ＭＳ Ｐゴシック" pitchFamily="34" charset="-128"/>
              </a:rPr>
              <a:t>e</a:t>
            </a:r>
            <a:r>
              <a:rPr lang="en-US" sz="1800" dirty="0" smtClean="0">
                <a:ea typeface="ＭＳ Ｐゴシック" pitchFamily="34" charset="-128"/>
              </a:rPr>
              <a:t>k </a:t>
            </a:r>
            <a:r>
              <a:rPr lang="sr-Latn-RS" sz="1800" dirty="0" smtClean="0">
                <a:ea typeface="ＭＳ Ｐゴシック" pitchFamily="34" charset="-128"/>
              </a:rPr>
              <a:t>mašine</a:t>
            </a:r>
            <a:r>
              <a:rPr lang="en-US" sz="1800" dirty="0" smtClean="0">
                <a:ea typeface="ＭＳ Ｐゴシック" pitchFamily="34" charset="-128"/>
              </a:rPr>
              <a:t> (op, push A, pop A)</a:t>
            </a:r>
          </a:p>
          <a:p>
            <a:pPr lvl="2"/>
            <a:r>
              <a:rPr lang="en-US" sz="1800" dirty="0" smtClean="0">
                <a:ea typeface="ＭＳ Ｐゴシック" pitchFamily="34" charset="-128"/>
              </a:rPr>
              <a:t>1-adres</a:t>
            </a:r>
            <a:r>
              <a:rPr lang="sr-Latn-RS" sz="1800" dirty="0" smtClean="0">
                <a:ea typeface="ＭＳ Ｐゴシック" pitchFamily="34" charset="-128"/>
              </a:rPr>
              <a:t>ne</a:t>
            </a:r>
            <a:r>
              <a:rPr lang="en-US" sz="1800" dirty="0" smtClean="0">
                <a:ea typeface="ＭＳ Ｐゴシック" pitchFamily="34" charset="-128"/>
              </a:rPr>
              <a:t>: </a:t>
            </a:r>
            <a:r>
              <a:rPr lang="sr-Latn-RS" sz="1800" dirty="0" smtClean="0">
                <a:ea typeface="ＭＳ Ｐゴシック" pitchFamily="34" charset="-128"/>
              </a:rPr>
              <a:t>akumulatorske mašine</a:t>
            </a:r>
            <a:r>
              <a:rPr lang="en-US" sz="1800" dirty="0" smtClean="0">
                <a:ea typeface="ＭＳ Ｐゴシック" pitchFamily="34" charset="-128"/>
              </a:rPr>
              <a:t> (op ACC, ld A, </a:t>
            </a:r>
            <a:r>
              <a:rPr lang="en-US" sz="1800" dirty="0" err="1" smtClean="0">
                <a:ea typeface="ＭＳ Ｐゴシック" pitchFamily="34" charset="-128"/>
              </a:rPr>
              <a:t>st</a:t>
            </a:r>
            <a:r>
              <a:rPr lang="en-US" sz="1800" dirty="0" smtClean="0">
                <a:ea typeface="ＭＳ Ｐゴシック" pitchFamily="34" charset="-128"/>
              </a:rPr>
              <a:t> A)</a:t>
            </a:r>
          </a:p>
          <a:p>
            <a:pPr lvl="2"/>
            <a:r>
              <a:rPr lang="en-US" sz="1800" dirty="0" smtClean="0">
                <a:ea typeface="ＭＳ Ｐゴシック" pitchFamily="34" charset="-128"/>
              </a:rPr>
              <a:t>2-adres</a:t>
            </a:r>
            <a:r>
              <a:rPr lang="sr-Latn-RS" sz="1800" dirty="0" smtClean="0">
                <a:ea typeface="ＭＳ Ｐゴシック" pitchFamily="34" charset="-128"/>
              </a:rPr>
              <a:t>ne</a:t>
            </a:r>
            <a:r>
              <a:rPr lang="en-US" sz="1800" dirty="0" smtClean="0">
                <a:ea typeface="ＭＳ Ｐゴシック" pitchFamily="34" charset="-128"/>
              </a:rPr>
              <a:t>: </a:t>
            </a:r>
            <a:r>
              <a:rPr lang="sr-Latn-RS" sz="1800" dirty="0" smtClean="0">
                <a:ea typeface="ＭＳ Ｐゴシック" pitchFamily="34" charset="-128"/>
              </a:rPr>
              <a:t>mašine sa dva operanda</a:t>
            </a:r>
            <a:r>
              <a:rPr lang="en-US" sz="1800" dirty="0" smtClean="0">
                <a:ea typeface="ＭＳ Ｐゴシック" pitchFamily="34" charset="-128"/>
              </a:rPr>
              <a:t> (op S,D</a:t>
            </a:r>
            <a:r>
              <a:rPr lang="sr-Latn-RS" sz="1800" dirty="0" smtClean="0">
                <a:ea typeface="ＭＳ Ｐゴシック" pitchFamily="34" charset="-128"/>
              </a:rPr>
              <a:t>; jedan se prepisuje</a:t>
            </a:r>
            <a:r>
              <a:rPr lang="en-US" sz="1800" dirty="0" smtClean="0">
                <a:ea typeface="ＭＳ Ｐゴシック" pitchFamily="34" charset="-128"/>
              </a:rPr>
              <a:t>)</a:t>
            </a:r>
            <a:endParaRPr lang="sr-Latn-RS" sz="1800" dirty="0" smtClean="0">
              <a:ea typeface="ＭＳ Ｐゴシック" pitchFamily="34" charset="-128"/>
            </a:endParaRPr>
          </a:p>
          <a:p>
            <a:pPr lvl="2"/>
            <a:r>
              <a:rPr lang="en-US" sz="1800" dirty="0" smtClean="0">
                <a:ea typeface="ＭＳ Ｐゴシック" pitchFamily="34" charset="-128"/>
              </a:rPr>
              <a:t>3-adres</a:t>
            </a:r>
            <a:r>
              <a:rPr lang="sr-Latn-RS" sz="1800" dirty="0" smtClean="0">
                <a:ea typeface="ＭＳ Ｐゴシック" pitchFamily="34" charset="-128"/>
              </a:rPr>
              <a:t>ne</a:t>
            </a:r>
            <a:r>
              <a:rPr lang="en-US" sz="1800" dirty="0" smtClean="0">
                <a:ea typeface="ＭＳ Ｐゴシック" pitchFamily="34" charset="-128"/>
              </a:rPr>
              <a:t>: </a:t>
            </a:r>
            <a:r>
              <a:rPr lang="sr-Latn-RS" sz="1800" dirty="0" smtClean="0">
                <a:ea typeface="ＭＳ Ｐゴシック" pitchFamily="34" charset="-128"/>
              </a:rPr>
              <a:t>mašine sa tri operanda</a:t>
            </a:r>
            <a:r>
              <a:rPr lang="en-US" sz="1800" dirty="0" smtClean="0">
                <a:ea typeface="ＭＳ Ｐゴシック" pitchFamily="34" charset="-128"/>
              </a:rPr>
              <a:t> (op S1,S2,D;</a:t>
            </a:r>
            <a:r>
              <a:rPr lang="sr-Latn-RS" sz="1800" dirty="0" smtClean="0">
                <a:ea typeface="ＭＳ Ｐゴシック" pitchFamily="34" charset="-128"/>
              </a:rPr>
              <a:t> sve odvojeno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CF18F9-5F75-4812-8999-F0B36BF7F22A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Primer</a:t>
            </a:r>
            <a:r>
              <a:rPr lang="en-US" dirty="0" smtClean="0">
                <a:ea typeface="ＭＳ Ｐゴシック" pitchFamily="34" charset="-128"/>
              </a:rPr>
              <a:t>: St</a:t>
            </a:r>
            <a:r>
              <a:rPr lang="sr-Latn-RS" dirty="0" smtClean="0">
                <a:ea typeface="ＭＳ Ｐゴシック" pitchFamily="34" charset="-128"/>
              </a:rPr>
              <a:t>e</a:t>
            </a:r>
            <a:r>
              <a:rPr lang="en-US" dirty="0" smtClean="0">
                <a:ea typeface="ＭＳ Ｐゴシック" pitchFamily="34" charset="-128"/>
              </a:rPr>
              <a:t>k Ma</a:t>
            </a:r>
            <a:r>
              <a:rPr lang="sr-Latn-RS" dirty="0" smtClean="0">
                <a:ea typeface="ＭＳ Ｐゴシック" pitchFamily="34" charset="-128"/>
              </a:rPr>
              <a:t>š</a:t>
            </a:r>
            <a:r>
              <a:rPr lang="en-US" dirty="0" smtClean="0">
                <a:ea typeface="ＭＳ Ｐゴシック" pitchFamily="34" charset="-128"/>
              </a:rPr>
              <a:t>n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dirty="0" smtClean="0">
                <a:ea typeface="ＭＳ Ｐゴシック" pitchFamily="34" charset="-128"/>
              </a:rPr>
              <a:t>+ </a:t>
            </a:r>
            <a:r>
              <a:rPr lang="sr-Latn-RS" dirty="0" smtClean="0">
                <a:ea typeface="ＭＳ Ｐゴシック" pitchFamily="34" charset="-128"/>
              </a:rPr>
              <a:t>Same instrukcije su znatno manje, jer se ne prosleđuju operandi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  <a:sym typeface="Wingdings" pitchFamily="2" charset="2"/>
              </a:rPr>
              <a:t>J</a:t>
            </a:r>
            <a:r>
              <a:rPr lang="sr-Latn-RS" dirty="0" smtClean="0">
                <a:ea typeface="ＭＳ Ｐゴシック" pitchFamily="34" charset="-128"/>
                <a:sym typeface="Wingdings" pitchFamily="2" charset="2"/>
              </a:rPr>
              <a:t>ednostavna logika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K</a:t>
            </a:r>
            <a:r>
              <a:rPr lang="sr-Latn-RS" dirty="0" smtClean="0">
                <a:ea typeface="ＭＳ Ｐゴシック" pitchFamily="34" charset="-128"/>
              </a:rPr>
              <a:t>ompaktan kod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r>
              <a:rPr lang="en-US" dirty="0" smtClean="0">
                <a:ea typeface="ＭＳ Ｐゴシック" pitchFamily="34" charset="-128"/>
              </a:rPr>
              <a:t>+ </a:t>
            </a:r>
            <a:r>
              <a:rPr lang="sr-Latn-RS" dirty="0" smtClean="0">
                <a:ea typeface="ＭＳ Ｐゴシック" pitchFamily="34" charset="-128"/>
              </a:rPr>
              <a:t>Jednostavni pozivi procedura, svi parametri na steku</a:t>
            </a:r>
            <a:endParaRPr lang="en-US" dirty="0" smtClean="0">
              <a:ea typeface="ＭＳ Ｐゴシック" pitchFamily="34" charset="-128"/>
            </a:endParaRPr>
          </a:p>
          <a:p>
            <a:pPr lvl="1">
              <a:buNone/>
            </a:pPr>
            <a:endParaRPr lang="en-US" dirty="0" smtClean="0"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r>
              <a:rPr lang="en-US" dirty="0" smtClean="0">
                <a:ea typeface="ＭＳ Ｐゴシック" pitchFamily="34" charset="-128"/>
              </a:rPr>
              <a:t>-- </a:t>
            </a:r>
            <a:r>
              <a:rPr lang="sr-Latn-RS" dirty="0" smtClean="0">
                <a:ea typeface="ＭＳ Ｐゴシック" pitchFamily="34" charset="-128"/>
              </a:rPr>
              <a:t>Složenije aritmetičke operacije je teško mapirati na stek mašine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Odgovara uskom spektru problema.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Slaba fleksibilnost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C0CFFF-E05B-4839-8A21-54626EAFCED4}" type="slidenum">
              <a:rPr lang="en-US"/>
              <a:pPr/>
              <a:t>25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Primer operacija na stek mašini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60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5D73B74-5234-469B-909F-86632D613FE7}" type="slidenum">
              <a:rPr lang="en-US"/>
              <a:pPr/>
              <a:t>26</a:t>
            </a:fld>
            <a:endParaRPr lang="en-US"/>
          </a:p>
        </p:txBody>
      </p:sp>
      <p:pic>
        <p:nvPicPr>
          <p:cNvPr id="46083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71600"/>
            <a:ext cx="4127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4" name="TextBox 5"/>
          <p:cNvSpPr txBox="1">
            <a:spLocks noChangeArrowheads="1"/>
          </p:cNvSpPr>
          <p:nvPr/>
        </p:nvSpPr>
        <p:spPr bwMode="auto">
          <a:xfrm>
            <a:off x="5791200" y="2590800"/>
            <a:ext cx="3200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sr-Latn-RS" sz="2000" dirty="0" smtClean="0"/>
              <a:t>(45+12)*98</a:t>
            </a: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Pregled ostalih tehnika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PDP-11:  2-adres</a:t>
            </a:r>
            <a:r>
              <a:rPr lang="sr-Latn-RS" dirty="0" smtClean="0">
                <a:ea typeface="ＭＳ Ｐゴシック" pitchFamily="34" charset="-128"/>
              </a:rPr>
              <a:t>na</a:t>
            </a:r>
            <a:r>
              <a:rPr lang="en-US" dirty="0" smtClean="0">
                <a:ea typeface="ＭＳ Ｐゴシック" pitchFamily="34" charset="-128"/>
              </a:rPr>
              <a:t> ma</a:t>
            </a:r>
            <a:r>
              <a:rPr lang="sr-Latn-RS" dirty="0" smtClean="0">
                <a:ea typeface="ＭＳ Ｐゴシック" pitchFamily="34" charset="-128"/>
              </a:rPr>
              <a:t>šina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PDP-11 ADD: 4-b </a:t>
            </a:r>
            <a:r>
              <a:rPr lang="en-US" dirty="0" err="1" smtClean="0">
                <a:ea typeface="ＭＳ Ｐゴシック" pitchFamily="34" charset="-128"/>
              </a:rPr>
              <a:t>opcode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>dva</a:t>
            </a:r>
            <a:r>
              <a:rPr lang="en-US" dirty="0" smtClean="0">
                <a:ea typeface="ＭＳ Ｐゴシック" pitchFamily="34" charset="-128"/>
              </a:rPr>
              <a:t> 6-b </a:t>
            </a:r>
            <a:r>
              <a:rPr lang="sr-Latn-RS" dirty="0" smtClean="0">
                <a:ea typeface="ＭＳ Ｐゴシック" pitchFamily="34" charset="-128"/>
              </a:rPr>
              <a:t>specifikatora </a:t>
            </a:r>
            <a:r>
              <a:rPr lang="en-US" dirty="0" smtClean="0">
                <a:ea typeface="ＭＳ Ｐゴシック" pitchFamily="34" charset="-128"/>
              </a:rPr>
              <a:t>operand</a:t>
            </a:r>
            <a:r>
              <a:rPr lang="sr-Latn-RS" dirty="0" smtClean="0">
                <a:ea typeface="ＭＳ Ｐゴシック" pitchFamily="34" charset="-128"/>
              </a:rPr>
              <a:t>a koji opredeljuju adresu, odnosno registar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Nedostatak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jedan operand se uvek prepisuje rezultatom</a:t>
            </a:r>
            <a:endParaRPr lang="en-US" dirty="0" smtClean="0">
              <a:ea typeface="ＭＳ Ｐゴシック" pitchFamily="34" charset="-128"/>
            </a:endParaRPr>
          </a:p>
          <a:p>
            <a:pPr lvl="1"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X86:  2-adres</a:t>
            </a:r>
            <a:r>
              <a:rPr lang="sr-Latn-RS" dirty="0" smtClean="0">
                <a:ea typeface="ＭＳ Ｐゴシック" pitchFamily="34" charset="-128"/>
              </a:rPr>
              <a:t>ne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mašine </a:t>
            </a:r>
            <a:r>
              <a:rPr lang="en-US" dirty="0" smtClean="0">
                <a:ea typeface="ＭＳ Ｐゴシック" pitchFamily="34" charset="-128"/>
              </a:rPr>
              <a:t>(</a:t>
            </a:r>
            <a:r>
              <a:rPr lang="en-US" dirty="0" err="1" smtClean="0">
                <a:ea typeface="ＭＳ Ｐゴシック" pitchFamily="34" charset="-128"/>
              </a:rPr>
              <a:t>memor</a:t>
            </a:r>
            <a:r>
              <a:rPr lang="sr-Latn-RS" dirty="0" smtClean="0">
                <a:ea typeface="ＭＳ Ｐゴシック" pitchFamily="34" charset="-128"/>
              </a:rPr>
              <a:t>ija</a:t>
            </a:r>
            <a:r>
              <a:rPr lang="en-US" dirty="0" smtClean="0">
                <a:ea typeface="ＭＳ Ｐゴシック" pitchFamily="34" charset="-128"/>
              </a:rPr>
              <a:t>/</a:t>
            </a:r>
            <a:r>
              <a:rPr lang="en-US" dirty="0" err="1" smtClean="0">
                <a:ea typeface="ＭＳ Ｐゴシック" pitchFamily="34" charset="-128"/>
              </a:rPr>
              <a:t>memor</a:t>
            </a:r>
            <a:r>
              <a:rPr lang="sr-Latn-RS" dirty="0" smtClean="0">
                <a:ea typeface="ＭＳ Ｐゴシック" pitchFamily="34" charset="-128"/>
              </a:rPr>
              <a:t>ija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r>
              <a:rPr lang="en-US" dirty="0" smtClean="0">
                <a:ea typeface="ＭＳ Ｐゴシック" pitchFamily="34" charset="-128"/>
              </a:rPr>
              <a:t>Alpha: 3-adres</a:t>
            </a:r>
            <a:r>
              <a:rPr lang="sr-Latn-RS" dirty="0" smtClean="0">
                <a:ea typeface="ＭＳ Ｐゴシック" pitchFamily="34" charset="-128"/>
              </a:rPr>
              <a:t>ne mašine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MIPS</a:t>
            </a:r>
            <a:r>
              <a:rPr lang="sr-Latn-RS" dirty="0" smtClean="0">
                <a:ea typeface="ＭＳ Ｐゴシック" pitchFamily="34" charset="-128"/>
              </a:rPr>
              <a:t> (32b verzije su </a:t>
            </a:r>
            <a:r>
              <a:rPr lang="en-US" dirty="0" smtClean="0">
                <a:ea typeface="ＭＳ Ｐゴシック" pitchFamily="34" charset="-128"/>
              </a:rPr>
              <a:t>3-adres</a:t>
            </a:r>
            <a:r>
              <a:rPr lang="sr-Latn-RS" dirty="0" smtClean="0">
                <a:ea typeface="ＭＳ Ｐゴシック" pitchFamily="34" charset="-128"/>
              </a:rPr>
              <a:t>ne)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r>
              <a:rPr lang="en-US" dirty="0" smtClean="0">
                <a:ea typeface="ＭＳ Ｐゴシック" pitchFamily="34" charset="-128"/>
              </a:rPr>
              <a:t>ARM</a:t>
            </a:r>
            <a:r>
              <a:rPr lang="sr-Latn-RS" dirty="0" smtClean="0">
                <a:ea typeface="ＭＳ Ｐゴシック" pitchFamily="34" charset="-128"/>
              </a:rPr>
              <a:t> (32b verzije su </a:t>
            </a:r>
            <a:r>
              <a:rPr lang="en-US" dirty="0" smtClean="0">
                <a:ea typeface="ＭＳ Ｐゴシック" pitchFamily="34" charset="-128"/>
              </a:rPr>
              <a:t>3-adres</a:t>
            </a:r>
            <a:r>
              <a:rPr lang="sr-Latn-RS" dirty="0" smtClean="0">
                <a:ea typeface="ＭＳ Ｐゴシック" pitchFamily="34" charset="-128"/>
              </a:rPr>
              <a:t>ne)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670B4E-7EB4-43BC-92D5-41B0DE9C4FB7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Ostali elementi</a:t>
            </a:r>
            <a:r>
              <a:rPr lang="en-US" dirty="0" smtClean="0">
                <a:ea typeface="ＭＳ Ｐゴシック" pitchFamily="34" charset="-128"/>
              </a:rPr>
              <a:t>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000000"/>
                </a:solidFill>
                <a:ea typeface="ＭＳ Ｐゴシック" pitchFamily="34" charset="-128"/>
              </a:rPr>
              <a:t>Registr</a:t>
            </a:r>
            <a:r>
              <a:rPr lang="sr-Latn-RS" sz="2800" dirty="0" smtClean="0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endParaRPr lang="en-US" sz="2800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B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roj registara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V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eličina registra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r>
              <a:rPr lang="sr-Latn-RS" sz="2800" dirty="0" smtClean="0">
                <a:solidFill>
                  <a:srgbClr val="000000"/>
                </a:solidFill>
                <a:ea typeface="ＭＳ Ｐゴシック" pitchFamily="34" charset="-128"/>
              </a:rPr>
              <a:t>Otkud potreba za registrima</a:t>
            </a:r>
            <a:r>
              <a:rPr lang="en-US" sz="2800" dirty="0" smtClean="0">
                <a:solidFill>
                  <a:srgbClr val="000000"/>
                </a:solidFill>
                <a:ea typeface="ＭＳ Ｐゴシック" pitchFamily="34" charset="-128"/>
              </a:rPr>
              <a:t>?</a:t>
            </a:r>
          </a:p>
          <a:p>
            <a:pPr lvl="1"/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Značajna je karakteristika lokalnost podataka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D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irektno im se pristupa preko ALU / upravljačke jedinice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B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rzina pristupa </a:t>
            </a:r>
          </a:p>
          <a:p>
            <a:pPr lvl="1"/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Koncept registra je evoluirao ka keš memorijama</a:t>
            </a:r>
          </a:p>
          <a:p>
            <a:pPr lvl="1"/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lvl="2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522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1F37F4-C4EB-4920-A300-402CCE0B0A4F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sr-Latn-RS" dirty="0" smtClean="0">
                <a:ea typeface="ＭＳ Ｐゴシック" pitchFamily="34" charset="-128"/>
              </a:rPr>
              <a:t>ski vidljivo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kroz ISA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10600" cy="5194300"/>
          </a:xfrm>
        </p:spPr>
        <p:txBody>
          <a:bodyPr/>
          <a:lstStyle/>
          <a:p>
            <a:pPr>
              <a:buNone/>
            </a:pP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4308B-8A2A-4328-A882-DB5B73078A95}" type="slidenum">
              <a:rPr lang="en-US"/>
              <a:pPr/>
              <a:t>29</a:t>
            </a:fld>
            <a:endParaRPr 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1115616" y="1484784"/>
            <a:ext cx="2891408" cy="2971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143000" y="173513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M[0]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1143000" y="202565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M[1]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1143000" y="2314575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M[2]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1143000" y="260508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M[3]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143000" y="289560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M[4]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1187624" y="4005064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M[N-1]</a:t>
            </a:r>
          </a:p>
        </p:txBody>
      </p:sp>
      <p:sp>
        <p:nvSpPr>
          <p:cNvPr id="53259" name="Rectangle 10"/>
          <p:cNvSpPr>
            <a:spLocks noChangeArrowheads="1"/>
          </p:cNvSpPr>
          <p:nvPr/>
        </p:nvSpPr>
        <p:spPr bwMode="auto">
          <a:xfrm>
            <a:off x="76200" y="4648200"/>
            <a:ext cx="4876800" cy="67710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 smtClean="0">
                <a:latin typeface="Calibri" pitchFamily="34" charset="0"/>
              </a:rPr>
              <a:t>Memor</a:t>
            </a:r>
            <a:r>
              <a:rPr lang="sr-Latn-RS" dirty="0" smtClean="0">
                <a:latin typeface="Calibri" pitchFamily="34" charset="0"/>
              </a:rPr>
              <a:t>ija</a:t>
            </a:r>
            <a:endParaRPr lang="en-US" dirty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N</a:t>
            </a:r>
            <a:r>
              <a:rPr lang="sr-Latn-RS" sz="2000" dirty="0" smtClean="0">
                <a:latin typeface="Calibri" pitchFamily="34" charset="0"/>
              </a:rPr>
              <a:t>iz lokacija indeksiranih adresom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53260" name="Rectangle 11"/>
          <p:cNvSpPr>
            <a:spLocks noChangeArrowheads="1"/>
          </p:cNvSpPr>
          <p:nvPr/>
        </p:nvSpPr>
        <p:spPr bwMode="auto">
          <a:xfrm>
            <a:off x="5004048" y="4581128"/>
            <a:ext cx="32766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/>
          <a:lstStyle/>
          <a:p>
            <a:r>
              <a:rPr lang="en-US" dirty="0" smtClean="0">
                <a:latin typeface="Calibri" pitchFamily="34" charset="0"/>
              </a:rPr>
              <a:t>Program</a:t>
            </a:r>
            <a:r>
              <a:rPr lang="sr-Latn-RS" dirty="0" smtClean="0">
                <a:latin typeface="Calibri" pitchFamily="34" charset="0"/>
              </a:rPr>
              <a:t>ski brojač</a:t>
            </a:r>
            <a:endParaRPr lang="en-US" sz="1900" dirty="0">
              <a:solidFill>
                <a:schemeClr val="bg2"/>
              </a:solidFill>
              <a:latin typeface="Calibri" pitchFamily="34" charset="0"/>
            </a:endParaRPr>
          </a:p>
          <a:p>
            <a:r>
              <a:rPr lang="en-US" sz="1900" dirty="0" err="1" smtClean="0">
                <a:latin typeface="Calibri" pitchFamily="34" charset="0"/>
              </a:rPr>
              <a:t>memor</a:t>
            </a:r>
            <a:r>
              <a:rPr lang="sr-Latn-RS" sz="1900" dirty="0" smtClean="0">
                <a:latin typeface="Calibri" pitchFamily="34" charset="0"/>
              </a:rPr>
              <a:t>ijska</a:t>
            </a:r>
            <a:r>
              <a:rPr lang="en-US" sz="1900" dirty="0" smtClean="0">
                <a:latin typeface="Calibri" pitchFamily="34" charset="0"/>
              </a:rPr>
              <a:t> </a:t>
            </a:r>
            <a:r>
              <a:rPr lang="en-US" sz="1900" dirty="0" err="1" smtClean="0">
                <a:latin typeface="Calibri" pitchFamily="34" charset="0"/>
              </a:rPr>
              <a:t>adres</a:t>
            </a:r>
            <a:r>
              <a:rPr lang="sr-Latn-RS" sz="1900" dirty="0" smtClean="0">
                <a:latin typeface="Calibri" pitchFamily="34" charset="0"/>
              </a:rPr>
              <a:t>a</a:t>
            </a:r>
            <a:endParaRPr lang="en-US" sz="1900" dirty="0">
              <a:latin typeface="Calibri" pitchFamily="34" charset="0"/>
            </a:endParaRPr>
          </a:p>
          <a:p>
            <a:r>
              <a:rPr lang="sr-Latn-RS" sz="1900" dirty="0" smtClean="0">
                <a:latin typeface="Calibri" pitchFamily="34" charset="0"/>
              </a:rPr>
              <a:t>aktuelne instrukcije</a:t>
            </a:r>
            <a:endParaRPr lang="en-US" sz="1900" dirty="0">
              <a:latin typeface="Calibri" pitchFamily="34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34000" y="1676400"/>
            <a:ext cx="4114800" cy="2898775"/>
            <a:chOff x="3168" y="912"/>
            <a:chExt cx="2592" cy="1826"/>
          </a:xfrm>
        </p:grpSpPr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3456" y="100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3552" y="124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6" name="Rectangle 17"/>
            <p:cNvSpPr>
              <a:spLocks noChangeArrowheads="1"/>
            </p:cNvSpPr>
            <p:nvPr/>
          </p:nvSpPr>
          <p:spPr bwMode="auto">
            <a:xfrm>
              <a:off x="3840" y="912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7" name="Rectangle 18"/>
            <p:cNvSpPr>
              <a:spLocks noChangeArrowheads="1"/>
            </p:cNvSpPr>
            <p:nvPr/>
          </p:nvSpPr>
          <p:spPr bwMode="auto">
            <a:xfrm>
              <a:off x="3168" y="1536"/>
              <a:ext cx="2592" cy="120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 err="1" smtClean="0">
                  <a:latin typeface="Calibri" pitchFamily="34" charset="0"/>
                </a:rPr>
                <a:t>Registr</a:t>
              </a:r>
              <a:r>
                <a:rPr lang="sr-Latn-RS" dirty="0" smtClean="0">
                  <a:latin typeface="Calibri" pitchFamily="34" charset="0"/>
                </a:rPr>
                <a:t>i</a:t>
              </a:r>
              <a:endParaRPr lang="en-US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 smtClean="0">
                  <a:latin typeface="Calibri" pitchFamily="34" charset="0"/>
                </a:rPr>
                <a:t>Direktno imenovani u okviru </a:t>
              </a:r>
              <a:r>
                <a:rPr lang="en-US" sz="2000" dirty="0" smtClean="0">
                  <a:latin typeface="Calibri" pitchFamily="34" charset="0"/>
                </a:rPr>
                <a:t>ISA</a:t>
              </a:r>
              <a:endParaRPr lang="en-US" sz="2000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     </a:t>
              </a:r>
              <a:r>
                <a:rPr lang="en-US" sz="2000" dirty="0" smtClean="0">
                  <a:latin typeface="Calibri" pitchFamily="34" charset="0"/>
                </a:rPr>
                <a:t>(</a:t>
              </a:r>
              <a:r>
                <a:rPr lang="sr-Latn-RS" sz="2000" dirty="0" smtClean="0">
                  <a:latin typeface="Calibri" pitchFamily="34" charset="0"/>
                </a:rPr>
                <a:t>nasuprot adresama</a:t>
              </a:r>
              <a:r>
                <a:rPr lang="en-US" sz="2000" dirty="0" smtClean="0">
                  <a:latin typeface="Calibri" pitchFamily="34" charset="0"/>
                </a:rPr>
                <a:t>)</a:t>
              </a:r>
              <a:endParaRPr lang="en-US" sz="2000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 smtClean="0">
                  <a:latin typeface="Calibri" pitchFamily="34" charset="0"/>
                </a:rPr>
                <a:t>Mogu biti generalni ili posebne namene</a:t>
              </a:r>
              <a:endParaRPr lang="en-US" sz="2000" dirty="0">
                <a:latin typeface="Calibri" pitchFamily="34" charset="0"/>
              </a:endParaRPr>
            </a:p>
            <a:p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2520848" y="5715000"/>
            <a:ext cx="6208815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 err="1" smtClean="0">
                <a:latin typeface="Calibri" pitchFamily="34" charset="0"/>
              </a:rPr>
              <a:t>Instru</a:t>
            </a:r>
            <a:r>
              <a:rPr lang="sr-Latn-RS" sz="2400" dirty="0" smtClean="0">
                <a:latin typeface="Calibri" pitchFamily="34" charset="0"/>
              </a:rPr>
              <a:t>k</a:t>
            </a:r>
            <a:r>
              <a:rPr lang="en-US" sz="2400" dirty="0" err="1" smtClean="0">
                <a:latin typeface="Calibri" pitchFamily="34" charset="0"/>
              </a:rPr>
              <a:t>ci</a:t>
            </a:r>
            <a:r>
              <a:rPr lang="sr-Latn-RS" sz="2400" dirty="0" smtClean="0">
                <a:latin typeface="Calibri" pitchFamily="34" charset="0"/>
              </a:rPr>
              <a:t>je i programi</a:t>
            </a:r>
            <a:r>
              <a:rPr lang="en-US" sz="2400" dirty="0" smtClean="0">
                <a:latin typeface="Calibri" pitchFamily="34" charset="0"/>
              </a:rPr>
              <a:t> </a:t>
            </a:r>
            <a:r>
              <a:rPr lang="sr-Latn-RS" sz="2400" dirty="0" smtClean="0">
                <a:latin typeface="Calibri" pitchFamily="34" charset="0"/>
              </a:rPr>
              <a:t>opredeljuju transformaciju</a:t>
            </a:r>
            <a:endParaRPr lang="en-US" sz="2400" dirty="0">
              <a:latin typeface="Calibri" pitchFamily="34" charset="0"/>
            </a:endParaRPr>
          </a:p>
          <a:p>
            <a:pPr algn="r"/>
            <a:r>
              <a:rPr lang="sr-Latn-RS" sz="2400" dirty="0" smtClean="0">
                <a:latin typeface="Calibri" pitchFamily="34" charset="0"/>
              </a:rPr>
              <a:t>vrednosti stanja vidljivih programeru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Niži nivo apstrakcije, sakriven od programera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28600" y="1628800"/>
            <a:ext cx="8610600" cy="456245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Mikroarhitektura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en-US" dirty="0" err="1" smtClean="0">
                <a:ea typeface="ＭＳ Ｐゴシック" pitchFamily="34" charset="-128"/>
              </a:rPr>
              <a:t>Programer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mu ne pristupa direktno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C92430-504E-419A-B3B4-9F1C19B24A02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Evolu</a:t>
            </a:r>
            <a:r>
              <a:rPr lang="sr-Latn-RS" dirty="0" smtClean="0">
                <a:ea typeface="ＭＳ Ｐゴシック" pitchFamily="34" charset="-128"/>
              </a:rPr>
              <a:t>cija koncepta r</a:t>
            </a:r>
            <a:r>
              <a:rPr lang="en-US" dirty="0" err="1" smtClean="0">
                <a:ea typeface="ＭＳ Ｐゴシック" pitchFamily="34" charset="-128"/>
              </a:rPr>
              <a:t>egist</a:t>
            </a:r>
            <a:r>
              <a:rPr lang="sr-Latn-RS" dirty="0" smtClean="0">
                <a:ea typeface="ＭＳ Ｐゴシック" pitchFamily="34" charset="-128"/>
              </a:rPr>
              <a:t>ara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A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umulator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osnovno nasleđe sabirača</a:t>
            </a:r>
            <a:endParaRPr lang="en-US" dirty="0" smtClean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A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umulator</a:t>
            </a:r>
            <a:r>
              <a:rPr lang="en-US" dirty="0" smtClean="0">
                <a:ea typeface="ＭＳ Ｐゴシック" pitchFamily="34" charset="-128"/>
              </a:rPr>
              <a:t> + ad</a:t>
            </a:r>
            <a:r>
              <a:rPr lang="sr-Latn-RS" dirty="0" smtClean="0">
                <a:ea typeface="ＭＳ Ｐゴシック" pitchFamily="34" charset="-128"/>
              </a:rPr>
              <a:t>r</a:t>
            </a:r>
            <a:r>
              <a:rPr lang="en-US" dirty="0" err="1" smtClean="0">
                <a:ea typeface="ＭＳ Ｐゴシック" pitchFamily="34" charset="-128"/>
              </a:rPr>
              <a:t>es</a:t>
            </a:r>
            <a:r>
              <a:rPr lang="sr-Latn-RS" dirty="0" smtClean="0">
                <a:ea typeface="ＭＳ Ｐゴシック" pitchFamily="34" charset="-128"/>
              </a:rPr>
              <a:t>ni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registr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otreba za indirektnim pristupom operandima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err="1" smtClean="0">
                <a:ea typeface="ＭＳ Ｐゴシック" pitchFamily="34" charset="-128"/>
              </a:rPr>
              <a:t>ni</a:t>
            </a:r>
            <a:r>
              <a:rPr lang="sr-Latn-RS" dirty="0" smtClean="0">
                <a:ea typeface="ＭＳ Ｐゴシック" pitchFamily="34" charset="-128"/>
              </a:rPr>
              <a:t>cijalno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adres</a:t>
            </a:r>
            <a:r>
              <a:rPr lang="sr-Latn-RS" dirty="0" smtClean="0">
                <a:ea typeface="ＭＳ Ｐゴシック" pitchFamily="34" charset="-128"/>
              </a:rPr>
              <a:t>ni </a:t>
            </a:r>
            <a:r>
              <a:rPr lang="en-US" dirty="0" err="1" smtClean="0">
                <a:ea typeface="ＭＳ Ｐゴシック" pitchFamily="34" charset="-128"/>
              </a:rPr>
              <a:t>registr</a:t>
            </a:r>
            <a:r>
              <a:rPr lang="sr-Latn-RS" dirty="0" smtClean="0">
                <a:ea typeface="ＭＳ Ｐゴシック" pitchFamily="34" charset="-128"/>
              </a:rPr>
              <a:t>i su bili posebne namene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>mogli su se puniti isključivo adresama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Z</a:t>
            </a:r>
            <a:r>
              <a:rPr lang="sr-Latn-RS" dirty="0" smtClean="0">
                <a:ea typeface="ＭＳ Ｐゴシック" pitchFamily="34" charset="-128"/>
              </a:rPr>
              <a:t>atim su aritmetički prošireni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Registri opšte namene</a:t>
            </a:r>
            <a:r>
              <a:rPr lang="en-US" dirty="0" smtClean="0">
                <a:ea typeface="ＭＳ Ｐゴシック" pitchFamily="34" charset="-128"/>
              </a:rPr>
              <a:t> (GPR)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S</a:t>
            </a:r>
            <a:r>
              <a:rPr lang="sr-Latn-RS" dirty="0" smtClean="0">
                <a:ea typeface="ＭＳ Ｐゴシック" pitchFamily="34" charset="-128"/>
              </a:rPr>
              <a:t>vi registri dobijaju opštost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Tipično ih u RISC arhitekturama imamo</a:t>
            </a:r>
            <a:r>
              <a:rPr lang="en-US" dirty="0" smtClean="0">
                <a:ea typeface="ＭＳ Ｐゴシック" pitchFamily="34" charset="-128"/>
              </a:rPr>
              <a:t> 32</a:t>
            </a: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4D30F1-FE05-4347-8D3C-A2CF406A846B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Klase i</a:t>
            </a:r>
            <a:r>
              <a:rPr lang="en-US" dirty="0" err="1" smtClean="0">
                <a:ea typeface="ＭＳ Ｐゴシック" pitchFamily="34" charset="-128"/>
              </a:rPr>
              <a:t>nstru</a:t>
            </a:r>
            <a:r>
              <a:rPr lang="sr-Latn-RS" dirty="0" smtClean="0">
                <a:ea typeface="ＭＳ Ｐゴシック" pitchFamily="34" charset="-128"/>
              </a:rPr>
              <a:t>kcija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610600" cy="51943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Opera</a:t>
            </a:r>
            <a:r>
              <a:rPr lang="sr-Latn-RS" dirty="0" smtClean="0">
                <a:ea typeface="ＭＳ Ｐゴシック" pitchFamily="34" charset="-128"/>
              </a:rPr>
              <a:t>cione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instru</a:t>
            </a:r>
            <a:r>
              <a:rPr lang="sr-Latn-RS" dirty="0" smtClean="0">
                <a:ea typeface="ＭＳ Ｐゴシック" pitchFamily="34" charset="-128"/>
              </a:rPr>
              <a:t>kcije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ea typeface="ＭＳ Ｐゴシック" pitchFamily="34" charset="-128"/>
              </a:rPr>
              <a:t>Proces</a:t>
            </a:r>
            <a:r>
              <a:rPr lang="sr-Latn-RS" dirty="0" smtClean="0">
                <a:ea typeface="ＭＳ Ｐゴシック" pitchFamily="34" charset="-128"/>
              </a:rPr>
              <a:t>iranje podataka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en-US" dirty="0" err="1" smtClean="0">
                <a:ea typeface="ＭＳ Ｐゴシック" pitchFamily="34" charset="-128"/>
              </a:rPr>
              <a:t>aritmeti</a:t>
            </a:r>
            <a:r>
              <a:rPr lang="sr-Latn-RS" dirty="0" smtClean="0">
                <a:ea typeface="ＭＳ Ｐゴシック" pitchFamily="34" charset="-128"/>
              </a:rPr>
              <a:t>čke i logičke </a:t>
            </a:r>
            <a:r>
              <a:rPr lang="en-US" dirty="0" smtClean="0">
                <a:ea typeface="ＭＳ Ｐゴシック" pitchFamily="34" charset="-128"/>
              </a:rPr>
              <a:t>opera</a:t>
            </a:r>
            <a:r>
              <a:rPr lang="sr-Latn-RS" dirty="0" smtClean="0">
                <a:ea typeface="ＭＳ Ｐゴシック" pitchFamily="34" charset="-128"/>
              </a:rPr>
              <a:t>c</a:t>
            </a:r>
            <a:r>
              <a:rPr lang="en-US" dirty="0" err="1" smtClean="0">
                <a:ea typeface="ＭＳ Ｐゴシック" pitchFamily="34" charset="-128"/>
              </a:rPr>
              <a:t>i</a:t>
            </a:r>
            <a:r>
              <a:rPr lang="sr-Latn-RS" dirty="0" smtClean="0">
                <a:ea typeface="ＭＳ Ｐゴシック" pitchFamily="34" charset="-128"/>
              </a:rPr>
              <a:t>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Prihvat operanada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>kalkulacija rezultata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sr-Latn-RS" dirty="0" smtClean="0">
                <a:ea typeface="ＭＳ Ｐゴシック" pitchFamily="34" charset="-128"/>
              </a:rPr>
              <a:t/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čuvanje rezultata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Implicit</a:t>
            </a:r>
            <a:r>
              <a:rPr lang="sr-Latn-RS" dirty="0" smtClean="0">
                <a:ea typeface="ＭＳ Ｐゴシック" pitchFamily="34" charset="-128"/>
              </a:rPr>
              <a:t>na sekvencijalna kontrola toka izvršavanja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Instrukcije prenosa podataka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Prenos podataka na liniji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memor</a:t>
            </a:r>
            <a:r>
              <a:rPr lang="sr-Latn-RS" dirty="0" smtClean="0">
                <a:ea typeface="ＭＳ Ｐゴシック" pitchFamily="34" charset="-128"/>
              </a:rPr>
              <a:t>ije</a:t>
            </a:r>
            <a:r>
              <a:rPr lang="en-US" dirty="0" smtClean="0">
                <a:ea typeface="ＭＳ Ｐゴシック" pitchFamily="34" charset="-128"/>
              </a:rPr>
              <a:t>, </a:t>
            </a:r>
            <a:r>
              <a:rPr lang="en-US" dirty="0" err="1" smtClean="0">
                <a:ea typeface="ＭＳ Ｐゴシック" pitchFamily="34" charset="-128"/>
              </a:rPr>
              <a:t>registr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, I/O </a:t>
            </a:r>
            <a:r>
              <a:rPr lang="sr-Latn-RS" dirty="0" smtClean="0">
                <a:ea typeface="ＭＳ Ｐゴシック" pitchFamily="34" charset="-128"/>
              </a:rPr>
              <a:t>uređaji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Implicit</a:t>
            </a:r>
            <a:r>
              <a:rPr lang="sr-Latn-RS" dirty="0" smtClean="0">
                <a:ea typeface="ＭＳ Ｐゴシック" pitchFamily="34" charset="-128"/>
              </a:rPr>
              <a:t>na sekvencijalna kontrola toka izvršavanja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Instrukcije kontrole toka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Menjaju sekvencu instrukcija koje se izvršavaju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CAF72C-58BD-4697-9A09-FCB99D3E7DC8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Elementi</a:t>
            </a:r>
            <a:r>
              <a:rPr lang="en-US" dirty="0" smtClean="0">
                <a:ea typeface="ＭＳ Ｐゴシック" pitchFamily="34" charset="-128"/>
              </a:rPr>
              <a:t> ISA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/>
          <a:lstStyle/>
          <a:p>
            <a:r>
              <a:rPr lang="en-US" sz="2800" dirty="0" smtClean="0">
                <a:solidFill>
                  <a:srgbClr val="000000"/>
                </a:solidFill>
                <a:ea typeface="ＭＳ Ｐゴシック" pitchFamily="34" charset="-128"/>
              </a:rPr>
              <a:t>Load/store </a:t>
            </a:r>
            <a:r>
              <a:rPr lang="sr-Latn-RS" sz="2800" dirty="0" smtClean="0">
                <a:solidFill>
                  <a:srgbClr val="000000"/>
                </a:solidFill>
                <a:ea typeface="ＭＳ Ｐゴシック" pitchFamily="34" charset="-128"/>
              </a:rPr>
              <a:t>naspram</a:t>
            </a:r>
            <a:r>
              <a:rPr lang="en-US" sz="2800" dirty="0" smtClean="0">
                <a:solidFill>
                  <a:srgbClr val="000000"/>
                </a:solidFill>
                <a:ea typeface="ＭＳ Ｐゴシック" pitchFamily="34" charset="-128"/>
              </a:rPr>
              <a:t> memory/memory </a:t>
            </a:r>
            <a:r>
              <a:rPr lang="en-US" sz="2800" dirty="0" err="1" smtClean="0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sz="2800" dirty="0" smtClean="0">
                <a:solidFill>
                  <a:srgbClr val="000000"/>
                </a:solidFill>
                <a:ea typeface="ＭＳ Ｐゴシック" pitchFamily="34" charset="-128"/>
              </a:rPr>
              <a:t>ktura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Load/store 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ture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: opera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cione 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instru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ci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je rade isključivo sa registrima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2"/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Na primer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MIPS, ARM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većina ostalih 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RISC ISA</a:t>
            </a:r>
          </a:p>
          <a:p>
            <a:pPr lvl="2"/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Memory/memory 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arhite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ture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: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operacione 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instru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kc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i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je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mogu da rade sa </a:t>
            </a:r>
            <a:r>
              <a:rPr lang="en-US" dirty="0" err="1" smtClean="0">
                <a:solidFill>
                  <a:srgbClr val="000000"/>
                </a:solidFill>
                <a:ea typeface="ＭＳ Ｐゴシック" pitchFamily="34" charset="-128"/>
              </a:rPr>
              <a:t>memor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ijskim lokacijama</a:t>
            </a:r>
            <a:endParaRPr lang="en-US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pPr lvl="2"/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Na primer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x86, VAX </a:t>
            </a:r>
            <a:r>
              <a:rPr lang="sr-Latn-RS" dirty="0" smtClean="0">
                <a:solidFill>
                  <a:srgbClr val="000000"/>
                </a:solidFill>
                <a:ea typeface="ＭＳ Ｐゴシック" pitchFamily="34" charset="-128"/>
              </a:rPr>
              <a:t>i većina</a:t>
            </a:r>
            <a:r>
              <a:rPr lang="en-US" dirty="0" smtClean="0">
                <a:solidFill>
                  <a:srgbClr val="000000"/>
                </a:solidFill>
                <a:ea typeface="ＭＳ Ｐゴシック" pitchFamily="34" charset="-128"/>
              </a:rPr>
              <a:t> CISC ISA</a:t>
            </a:r>
          </a:p>
          <a:p>
            <a:pPr lvl="1"/>
            <a:endParaRPr lang="en-US" i="1" dirty="0" smtClean="0">
              <a:solidFill>
                <a:srgbClr val="000000"/>
              </a:solidFill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0BEEA4-3C61-48D3-8FAD-1F778D138DC5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Element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ISA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Adresn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mod</a:t>
            </a:r>
            <a:r>
              <a:rPr lang="sr-Latn-RS" dirty="0" smtClean="0">
                <a:ea typeface="ＭＳ Ｐゴシック" pitchFamily="34" charset="-128"/>
              </a:rPr>
              <a:t>ovi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specif</a:t>
            </a:r>
            <a:r>
              <a:rPr lang="sr-Latn-RS" dirty="0" smtClean="0">
                <a:ea typeface="ＭＳ Ｐゴシック" pitchFamily="34" charset="-128"/>
              </a:rPr>
              <a:t>iciraju kako se dolazi do operanada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A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psolutni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10000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postavljena vrednost se tumači kao adresa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Regist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arski indirektni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: 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koristi sadržaj navedenog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Regist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arski indirektni sa ofsetom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: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offset</a:t>
            </a:r>
            <a:r>
              <a:rPr lang="sr-Latn-R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offset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+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Registarski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:		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+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index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kao adresu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Memor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ijski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Indire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ktni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((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))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koristi vrednost sa lokacije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M[ GPR[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baseline="-25000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 kao adresu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Auto in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krement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/de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rement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LW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Rt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solidFill>
                  <a:schemeClr val="accent2"/>
                </a:solidFill>
                <a:latin typeface="Calibri" pitchFamily="34" charset="0"/>
                <a:ea typeface="ＭＳ Ｐゴシック" pitchFamily="34" charset="-128"/>
              </a:rPr>
              <a:t>)</a:t>
            </a:r>
          </a:p>
          <a:p>
            <a:pPr lvl="1">
              <a:buFontTx/>
              <a:buNone/>
            </a:pP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	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koristi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GRP[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kao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adres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u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,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potom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inc.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ili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dec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. GPR[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r</a:t>
            </a:r>
            <a:r>
              <a:rPr lang="en-US" baseline="-25000" dirty="0" err="1" smtClean="0">
                <a:latin typeface="Calibri" pitchFamily="34" charset="0"/>
                <a:ea typeface="ＭＳ Ｐゴシック" pitchFamily="34" charset="-128"/>
              </a:rPr>
              <a:t>base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]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svaki put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AF9E4A-E856-457C-9DA5-0EBB0F1D4C99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1066800"/>
          </a:xfrm>
        </p:spPr>
        <p:txBody>
          <a:bodyPr/>
          <a:lstStyle/>
          <a:p>
            <a:r>
              <a:rPr lang="sr-Latn-RS" sz="3000" dirty="0" smtClean="0">
                <a:ea typeface="ＭＳ Ｐゴシック" pitchFamily="34" charset="-128"/>
              </a:rPr>
              <a:t>Prednosti različitih adresnih modova</a:t>
            </a:r>
            <a:endParaRPr lang="en-US" sz="3000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Omogućavaju bolje mapiranje konstrukcija visokog nivoa na mašinu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pojedine vrste pristupa se bolje realizuju različitim modovima</a:t>
            </a:r>
          </a:p>
          <a:p>
            <a:pPr lvl="1"/>
            <a:r>
              <a:rPr lang="en-US" dirty="0" smtClean="0">
                <a:ea typeface="ＭＳ Ｐゴシック" pitchFamily="34" charset="-128"/>
                <a:sym typeface="Wingdings" pitchFamily="2" charset="2"/>
              </a:rPr>
              <a:t>R</a:t>
            </a:r>
            <a:r>
              <a:rPr lang="sr-Latn-RS" dirty="0" smtClean="0">
                <a:ea typeface="ＭＳ Ｐゴシック" pitchFamily="34" charset="-128"/>
                <a:sym typeface="Wingdings" pitchFamily="2" charset="2"/>
              </a:rPr>
              <a:t>edukuje se broj instrukcija i veličina koda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P</a:t>
            </a:r>
            <a:r>
              <a:rPr lang="sr-Latn-RS" dirty="0" smtClean="0">
                <a:ea typeface="ＭＳ Ｐゴシック" pitchFamily="34" charset="-128"/>
              </a:rPr>
              <a:t>ristup nizu</a:t>
            </a:r>
            <a:r>
              <a:rPr lang="en-US" dirty="0" smtClean="0">
                <a:ea typeface="ＭＳ Ｐゴシック" pitchFamily="34" charset="-128"/>
              </a:rPr>
              <a:t> (</a:t>
            </a:r>
            <a:r>
              <a:rPr lang="en-US" dirty="0" err="1" smtClean="0">
                <a:ea typeface="ＭＳ Ｐゴシック" pitchFamily="34" charset="-128"/>
              </a:rPr>
              <a:t>autoin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rement</a:t>
            </a:r>
            <a:r>
              <a:rPr lang="en-US" dirty="0" smtClean="0">
                <a:ea typeface="ＭＳ Ｐゴシック" pitchFamily="34" charset="-128"/>
              </a:rPr>
              <a:t> mod)</a:t>
            </a:r>
          </a:p>
          <a:p>
            <a:pPr lvl="2"/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err="1" smtClean="0">
                <a:ea typeface="ＭＳ Ｐゴシック" pitchFamily="34" charset="-128"/>
              </a:rPr>
              <a:t>ndire</a:t>
            </a:r>
            <a:r>
              <a:rPr lang="sr-Latn-RS" dirty="0" smtClean="0">
                <a:ea typeface="ＭＳ Ｐゴシック" pitchFamily="34" charset="-128"/>
              </a:rPr>
              <a:t>kcija</a:t>
            </a:r>
            <a:r>
              <a:rPr lang="en-US" dirty="0" smtClean="0">
                <a:ea typeface="ＭＳ Ｐゴシック" pitchFamily="34" charset="-128"/>
              </a:rPr>
              <a:t> (</a:t>
            </a:r>
            <a:r>
              <a:rPr lang="sr-Latn-RS" dirty="0" smtClean="0">
                <a:ea typeface="ＭＳ Ｐゴシック" pitchFamily="34" charset="-128"/>
              </a:rPr>
              <a:t>rukovanje </a:t>
            </a:r>
            <a:r>
              <a:rPr lang="en-US" dirty="0" smtClean="0">
                <a:ea typeface="ＭＳ Ｐゴシック" pitchFamily="34" charset="-128"/>
              </a:rPr>
              <a:t>pointer</a:t>
            </a:r>
            <a:r>
              <a:rPr lang="sr-Latn-RS" dirty="0" smtClean="0">
                <a:ea typeface="ＭＳ Ｐゴシック" pitchFamily="34" charset="-128"/>
              </a:rPr>
              <a:t>om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pPr lvl="1"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Nedostatci</a:t>
            </a:r>
            <a:r>
              <a:rPr lang="en-US" dirty="0" smtClean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sz="3200" dirty="0" smtClean="0">
                <a:ea typeface="ＭＳ Ｐゴシック" pitchFamily="34" charset="-128"/>
              </a:rPr>
              <a:t>Više posla za kompajler</a:t>
            </a:r>
            <a:endParaRPr lang="en-US" sz="3200" dirty="0" smtClean="0">
              <a:ea typeface="ＭＳ Ｐゴシック" pitchFamily="34" charset="-128"/>
            </a:endParaRPr>
          </a:p>
          <a:p>
            <a:pPr lvl="1"/>
            <a:r>
              <a:rPr lang="en-US" sz="3200" dirty="0" smtClean="0">
                <a:ea typeface="ＭＳ Ｐゴシック" pitchFamily="34" charset="-128"/>
              </a:rPr>
              <a:t>S</a:t>
            </a:r>
            <a:r>
              <a:rPr lang="sr-Latn-RS" sz="3200" dirty="0" smtClean="0">
                <a:ea typeface="ＭＳ Ｐゴシック" pitchFamily="34" charset="-128"/>
              </a:rPr>
              <a:t>loženija mikroarhitektura</a:t>
            </a:r>
            <a:endParaRPr lang="en-US" sz="3200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EEEB6E3-BC0E-46B3-AFF9-5AC74547A8B1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MIKROARHITEKTURE</a:t>
            </a:r>
            <a:endParaRPr lang="en-US" dirty="0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406775" y="3678238"/>
            <a:ext cx="2029321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Mi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kr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oarhite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k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tur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3" name="Text Box 18"/>
          <p:cNvSpPr txBox="1">
            <a:spLocks noChangeAspect="1" noChangeArrowheads="1"/>
          </p:cNvSpPr>
          <p:nvPr/>
        </p:nvSpPr>
        <p:spPr bwMode="auto">
          <a:xfrm>
            <a:off x="3406775" y="3306763"/>
            <a:ext cx="2041525" cy="366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ISA (</a:t>
            </a:r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Ar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hitektura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4" name="Text Box 19"/>
          <p:cNvSpPr txBox="1">
            <a:spLocks noChangeAspect="1" noChangeArrowheads="1"/>
          </p:cNvSpPr>
          <p:nvPr/>
        </p:nvSpPr>
        <p:spPr bwMode="auto">
          <a:xfrm>
            <a:off x="3403600" y="2262188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Program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5" name="Text Box 20"/>
          <p:cNvSpPr txBox="1">
            <a:spLocks noChangeAspect="1" noChangeArrowheads="1"/>
          </p:cNvSpPr>
          <p:nvPr/>
        </p:nvSpPr>
        <p:spPr bwMode="auto">
          <a:xfrm>
            <a:off x="3403600" y="1890713"/>
            <a:ext cx="2043113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err="1" smtClean="0">
                <a:solidFill>
                  <a:srgbClr val="000000"/>
                </a:solidFill>
                <a:latin typeface="Tahoma" pitchFamily="34" charset="0"/>
              </a:rPr>
              <a:t>Algorit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m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6" name="Text Box 21"/>
          <p:cNvSpPr txBox="1">
            <a:spLocks noChangeAspect="1" noChangeArrowheads="1"/>
          </p:cNvSpPr>
          <p:nvPr/>
        </p:nvSpPr>
        <p:spPr bwMode="auto">
          <a:xfrm>
            <a:off x="3403600" y="1524000"/>
            <a:ext cx="2043113" cy="366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>
                <a:solidFill>
                  <a:srgbClr val="000000"/>
                </a:solidFill>
                <a:latin typeface="Tahoma" pitchFamily="34" charset="0"/>
              </a:rPr>
              <a:t>Problem</a:t>
            </a:r>
          </a:p>
        </p:txBody>
      </p:sp>
      <p:sp>
        <p:nvSpPr>
          <p:cNvPr id="17" name="Text Box 22"/>
          <p:cNvSpPr txBox="1">
            <a:spLocks noChangeAspect="1" noChangeArrowheads="1"/>
          </p:cNvSpPr>
          <p:nvPr/>
        </p:nvSpPr>
        <p:spPr bwMode="auto">
          <a:xfrm>
            <a:off x="3406775" y="4051300"/>
            <a:ext cx="2039938" cy="373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Tahoma" pitchFamily="34" charset="0"/>
              </a:rPr>
              <a:t>Logi</a:t>
            </a:r>
            <a:r>
              <a:rPr lang="sr-Latn-RS" dirty="0">
                <a:solidFill>
                  <a:srgbClr val="000000"/>
                </a:solidFill>
                <a:latin typeface="Tahoma" pitchFamily="34" charset="0"/>
              </a:rPr>
              <a:t>čka kola, 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mem</a:t>
            </a:r>
            <a:endParaRPr lang="en-US" dirty="0" err="1">
              <a:solidFill>
                <a:srgbClr val="000000"/>
              </a:solidFill>
              <a:latin typeface="Tahoma" pitchFamily="34" charset="0"/>
            </a:endParaRPr>
          </a:p>
          <a:p>
            <a:pPr>
              <a:defRPr/>
            </a:pPr>
            <a:endParaRPr lang="en-US" sz="1750" dirty="0">
              <a:solidFill>
                <a:srgbClr val="000000"/>
              </a:solidFill>
              <a:latin typeface="Tahoma" pitchFamily="34" charset="0"/>
              <a:ea typeface="+mn-ea"/>
              <a:cs typeface="Arial" charset="0"/>
            </a:endParaRPr>
          </a:p>
        </p:txBody>
      </p:sp>
      <p:sp>
        <p:nvSpPr>
          <p:cNvPr id="18" name="Text Box 23"/>
          <p:cNvSpPr txBox="1">
            <a:spLocks noChangeAspect="1" noChangeArrowheads="1"/>
          </p:cNvSpPr>
          <p:nvPr/>
        </p:nvSpPr>
        <p:spPr bwMode="auto">
          <a:xfrm>
            <a:off x="3406775" y="4422775"/>
            <a:ext cx="20415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E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lektrična kola...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" name="Text Box 24"/>
          <p:cNvSpPr txBox="1">
            <a:spLocks noChangeAspect="1" noChangeArrowheads="1"/>
          </p:cNvSpPr>
          <p:nvPr/>
        </p:nvSpPr>
        <p:spPr bwMode="auto">
          <a:xfrm>
            <a:off x="3406775" y="2636838"/>
            <a:ext cx="2041525" cy="669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stem</a:t>
            </a:r>
            <a:r>
              <a:rPr lang="sr-Latn-RS" dirty="0" smtClean="0">
                <a:solidFill>
                  <a:srgbClr val="000000"/>
                </a:solidFill>
                <a:latin typeface="Tahoma" pitchFamily="34" charset="0"/>
              </a:rPr>
              <a:t> koji izvršava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ahoma" pitchFamily="34" charset="0"/>
              </a:rPr>
              <a:t>(VM, </a:t>
            </a:r>
            <a:r>
              <a:rPr lang="en-US" dirty="0" smtClean="0">
                <a:solidFill>
                  <a:srgbClr val="000000"/>
                </a:solidFill>
                <a:latin typeface="Tahoma" pitchFamily="34" charset="0"/>
              </a:rPr>
              <a:t>OS)</a:t>
            </a:r>
            <a:endParaRPr lang="en-US" dirty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Osnovni pojmovi o m</a:t>
            </a:r>
            <a:r>
              <a:rPr lang="en-US" dirty="0" err="1" smtClean="0">
                <a:ea typeface="ＭＳ Ｐゴシック" pitchFamily="34" charset="-128"/>
              </a:rPr>
              <a:t>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roarhite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tur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150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902243-FD91-474B-92F1-F9092C009576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Kako mašina izvršava instrukciju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Šta podrazumeva izvršavanje instrukcije</a:t>
            </a:r>
            <a:r>
              <a:rPr lang="en-US" dirty="0" smtClean="0">
                <a:ea typeface="ＭＳ Ｐゴシック" pitchFamily="34" charset="-128"/>
              </a:rPr>
              <a:t>?</a:t>
            </a:r>
          </a:p>
          <a:p>
            <a:r>
              <a:rPr lang="sr-Latn-RS" dirty="0" smtClean="0">
                <a:ea typeface="ＭＳ Ｐゴシック" pitchFamily="34" charset="-128"/>
              </a:rPr>
              <a:t>Sećamo se Fon</a:t>
            </a:r>
            <a:r>
              <a:rPr lang="en-US" dirty="0" smtClean="0">
                <a:ea typeface="ＭＳ Ｐゴシック" pitchFamily="34" charset="-128"/>
              </a:rPr>
              <a:t> N</a:t>
            </a:r>
            <a:r>
              <a:rPr lang="sr-Latn-RS" dirty="0" smtClean="0">
                <a:ea typeface="ＭＳ Ｐゴシック" pitchFamily="34" charset="-128"/>
              </a:rPr>
              <a:t>ojmanovog </a:t>
            </a:r>
            <a:r>
              <a:rPr lang="en-US" dirty="0" smtClean="0">
                <a:ea typeface="ＭＳ Ｐゴシック" pitchFamily="34" charset="-128"/>
              </a:rPr>
              <a:t>model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 =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Stanje arhitekture 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(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architectural state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)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vidljivo programeru pre izvršenja instrukcije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sr-Latn-RS" dirty="0" smtClean="0">
                <a:ea typeface="ＭＳ Ｐゴシック" pitchFamily="34" charset="-128"/>
              </a:rPr>
              <a:t>Izvršenje instrukcije</a:t>
            </a:r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AS</a:t>
            </a:r>
            <a:r>
              <a:rPr lang="en-US" altLang="en-US" dirty="0" smtClean="0">
                <a:solidFill>
                  <a:srgbClr val="FF0000"/>
                </a:solidFill>
                <a:ea typeface="ＭＳ Ｐゴシック" pitchFamily="34" charset="-128"/>
              </a:rPr>
              <a:t>’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 = </a:t>
            </a:r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Stanje arhitekture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 (</a:t>
            </a:r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architectural state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) </a:t>
            </a:r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vidljivo programeru nakon izvršenja instrukcije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Izvršenje instrukcije</a:t>
            </a:r>
            <a:r>
              <a:rPr lang="en-US" dirty="0" smtClean="0">
                <a:ea typeface="ＭＳ Ｐゴシック" pitchFamily="34" charset="-128"/>
              </a:rPr>
              <a:t>: Transform</a:t>
            </a:r>
            <a:r>
              <a:rPr lang="sr-Latn-RS" dirty="0" smtClean="0">
                <a:ea typeface="ＭＳ Ｐゴシック" pitchFamily="34" charset="-128"/>
              </a:rPr>
              <a:t>acija</a:t>
            </a:r>
            <a:r>
              <a:rPr lang="en-US" dirty="0" smtClean="0">
                <a:ea typeface="ＭＳ Ｐゴシック" pitchFamily="34" charset="-128"/>
              </a:rPr>
              <a:t> AS </a:t>
            </a:r>
            <a:r>
              <a:rPr lang="sr-Latn-RS" dirty="0" smtClean="0">
                <a:ea typeface="ＭＳ Ｐゴシック" pitchFamily="34" charset="-128"/>
              </a:rPr>
              <a:t>u</a:t>
            </a:r>
            <a:r>
              <a:rPr lang="en-US" dirty="0" smtClean="0">
                <a:ea typeface="ＭＳ Ｐゴシック" pitchFamily="34" charset="-128"/>
              </a:rPr>
              <a:t> AS</a:t>
            </a:r>
            <a:r>
              <a:rPr lang="en-US" altLang="en-US" dirty="0" smtClean="0">
                <a:ea typeface="ＭＳ Ｐゴシック" pitchFamily="34" charset="-128"/>
              </a:rPr>
              <a:t>’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po </a:t>
            </a:r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en-US" dirty="0" err="1" smtClean="0">
                <a:ea typeface="ＭＳ Ｐゴシック" pitchFamily="34" charset="-128"/>
              </a:rPr>
              <a:t>specifi</a:t>
            </a:r>
            <a:r>
              <a:rPr lang="sr-Latn-RS" dirty="0" smtClean="0">
                <a:ea typeface="ＭＳ Ｐゴシック" pitchFamily="34" charset="-128"/>
              </a:rPr>
              <a:t>kaciji za datu instrukciju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E38697-C062-4154-AD2C-FD971CBD9E9D}" type="slidenum">
              <a:rPr lang="en-US"/>
              <a:pPr/>
              <a:t>38</a:t>
            </a:fld>
            <a:endParaRPr lang="en-US"/>
          </a:p>
        </p:txBody>
      </p:sp>
      <p:sp>
        <p:nvSpPr>
          <p:cNvPr id="5" name="Down Arrow 4"/>
          <p:cNvSpPr>
            <a:spLocks noChangeArrowheads="1"/>
          </p:cNvSpPr>
          <p:nvPr/>
        </p:nvSpPr>
        <p:spPr bwMode="auto">
          <a:xfrm>
            <a:off x="4427984" y="3284984"/>
            <a:ext cx="450850" cy="579437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Down Arrow 6"/>
          <p:cNvSpPr>
            <a:spLocks noChangeArrowheads="1"/>
          </p:cNvSpPr>
          <p:nvPr/>
        </p:nvSpPr>
        <p:spPr bwMode="auto">
          <a:xfrm>
            <a:off x="4427984" y="4077072"/>
            <a:ext cx="450850" cy="579438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Izvršenje instrukcije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ISA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na apstraktnom nivou specificira korake 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, 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en-US" altLang="en-US" dirty="0" smtClean="0">
                <a:solidFill>
                  <a:srgbClr val="0000FF"/>
                </a:solidFill>
                <a:ea typeface="ＭＳ Ｐゴシック" pitchFamily="34" charset="-128"/>
              </a:rPr>
              <a:t>’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i samu instrukciju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Definiše konačnu mašinu stanja (sekvencijalni automat) pri čemu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sz="1900" dirty="0" err="1" smtClean="0">
                <a:ea typeface="ＭＳ Ｐゴシック" pitchFamily="34" charset="-128"/>
              </a:rPr>
              <a:t>Sta</a:t>
            </a:r>
            <a:r>
              <a:rPr lang="sr-Latn-RS" sz="1900" dirty="0" smtClean="0">
                <a:ea typeface="ＭＳ Ｐゴシック" pitchFamily="34" charset="-128"/>
              </a:rPr>
              <a:t>nje</a:t>
            </a:r>
            <a:r>
              <a:rPr lang="en-US" sz="1900" dirty="0" smtClean="0">
                <a:ea typeface="ＭＳ Ｐゴシック" pitchFamily="34" charset="-128"/>
              </a:rPr>
              <a:t> =</a:t>
            </a:r>
            <a:r>
              <a:rPr lang="sr-Latn-RS" sz="1900" dirty="0" smtClean="0">
                <a:ea typeface="ＭＳ Ｐゴシック" pitchFamily="34" charset="-128"/>
              </a:rPr>
              <a:t> stanje vidljivo programeru</a:t>
            </a:r>
            <a:endParaRPr lang="en-US" sz="1900" dirty="0" smtClean="0">
              <a:ea typeface="ＭＳ Ｐゴシック" pitchFamily="34" charset="-128"/>
            </a:endParaRPr>
          </a:p>
          <a:p>
            <a:pPr lvl="2"/>
            <a:r>
              <a:rPr lang="sr-Latn-RS" sz="1900" dirty="0" smtClean="0">
                <a:ea typeface="ＭＳ Ｐゴシック" pitchFamily="34" charset="-128"/>
              </a:rPr>
              <a:t>Specifikacija izvršenja instrukcije </a:t>
            </a:r>
            <a:endParaRPr lang="en-US" sz="1900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Iz </a:t>
            </a:r>
            <a:r>
              <a:rPr lang="en-US" dirty="0" smtClean="0">
                <a:ea typeface="ＭＳ Ｐゴシック" pitchFamily="34" charset="-128"/>
              </a:rPr>
              <a:t>ISA </a:t>
            </a:r>
            <a:r>
              <a:rPr lang="sr-Latn-RS" dirty="0" smtClean="0">
                <a:ea typeface="ＭＳ Ｐゴシック" pitchFamily="34" charset="-128"/>
              </a:rPr>
              <a:t>perspektive nema </a:t>
            </a:r>
            <a:r>
              <a:rPr lang="en-US" altLang="en-US" dirty="0" smtClean="0">
                <a:ea typeface="ＭＳ Ｐゴシック" pitchFamily="34" charset="-128"/>
              </a:rPr>
              <a:t>“</a:t>
            </a:r>
            <a:r>
              <a:rPr lang="sr-Latn-RS" altLang="en-US" dirty="0" smtClean="0">
                <a:ea typeface="ＭＳ Ｐゴシック" pitchFamily="34" charset="-128"/>
              </a:rPr>
              <a:t>među-</a:t>
            </a:r>
            <a:r>
              <a:rPr lang="en-US" dirty="0" err="1" smtClean="0">
                <a:ea typeface="ＭＳ Ｐゴシック" pitchFamily="34" charset="-128"/>
              </a:rPr>
              <a:t>sta</a:t>
            </a:r>
            <a:r>
              <a:rPr lang="sr-Latn-RS" dirty="0" smtClean="0">
                <a:ea typeface="ＭＳ Ｐゴシック" pitchFamily="34" charset="-128"/>
              </a:rPr>
              <a:t>nja</a:t>
            </a:r>
            <a:r>
              <a:rPr lang="en-US" altLang="en-US" dirty="0" smtClean="0">
                <a:ea typeface="ＭＳ Ｐゴシック" pitchFamily="34" charset="-128"/>
              </a:rPr>
              <a:t>”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između </a:t>
            </a:r>
            <a:r>
              <a:rPr lang="en-US" dirty="0" smtClean="0">
                <a:ea typeface="ＭＳ Ｐゴシック" pitchFamily="34" charset="-128"/>
              </a:rPr>
              <a:t>AS 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AS</a:t>
            </a:r>
            <a:r>
              <a:rPr lang="en-US" altLang="en-US" dirty="0" smtClean="0">
                <a:ea typeface="ＭＳ Ｐゴシック" pitchFamily="34" charset="-128"/>
              </a:rPr>
              <a:t>’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tokom izvršenja instrukije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sr-Latn-RS" sz="1900" dirty="0" smtClean="0">
                <a:ea typeface="ＭＳ Ｐゴシック" pitchFamily="34" charset="-128"/>
              </a:rPr>
              <a:t>Jedna tranzicija između stanje automata po instrukciji</a:t>
            </a:r>
            <a:endParaRPr lang="en-US" sz="1900" dirty="0" smtClean="0">
              <a:ea typeface="ＭＳ Ｐゴシック" pitchFamily="34" charset="-128"/>
            </a:endParaRPr>
          </a:p>
          <a:p>
            <a:endParaRPr lang="en-US" sz="1000" dirty="0" smtClean="0">
              <a:ea typeface="ＭＳ Ｐゴシック" pitchFamily="34" charset="-128"/>
            </a:endParaRPr>
          </a:p>
          <a:p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ki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roarhite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tur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a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implement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ira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kako se 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transformiše u 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</a:t>
            </a:r>
            <a:r>
              <a:rPr lang="en-US" altLang="en-US" dirty="0" smtClean="0">
                <a:solidFill>
                  <a:srgbClr val="0000FF"/>
                </a:solidFill>
                <a:ea typeface="ＭＳ Ｐゴシック" pitchFamily="34" charset="-128"/>
              </a:rPr>
              <a:t>’</a:t>
            </a:r>
            <a:endParaRPr lang="en-US" altLang="ja-JP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Postoji mnoštvo mogućnosti za različite implementacije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Tranzicija AS</a:t>
            </a:r>
            <a:r>
              <a:rPr lang="en-US" dirty="0" smtClean="0">
                <a:ea typeface="ＭＳ Ｐゴシック" pitchFamily="34" charset="-128"/>
                <a:sym typeface="Wingdings" pitchFamily="2" charset="2"/>
              </a:rPr>
              <a:t>  </a:t>
            </a:r>
            <a:r>
              <a:rPr lang="sr-Latn-RS" dirty="0" smtClean="0">
                <a:ea typeface="ＭＳ Ｐゴシック" pitchFamily="34" charset="-128"/>
                <a:sym typeface="Wingdings" pitchFamily="2" charset="2"/>
              </a:rPr>
              <a:t>AS</a:t>
            </a:r>
            <a:r>
              <a:rPr lang="en-US" dirty="0" smtClean="0">
                <a:ea typeface="ＭＳ Ｐゴシック" pitchFamily="34" charset="-128"/>
                <a:sym typeface="Wingdings" pitchFamily="2" charset="2"/>
              </a:rPr>
              <a:t>’ mo</a:t>
            </a:r>
            <a:r>
              <a:rPr lang="sr-Latn-RS" dirty="0" smtClean="0">
                <a:ea typeface="ＭＳ Ｐゴシック" pitchFamily="34" charset="-128"/>
                <a:sym typeface="Wingdings" pitchFamily="2" charset="2"/>
              </a:rPr>
              <a:t>že biti: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AS  AS</a:t>
            </a:r>
            <a:r>
              <a:rPr lang="en-US" altLang="en-US" sz="1900" dirty="0" smtClean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 (</a:t>
            </a:r>
            <a:r>
              <a:rPr lang="sr-Latn-RS" sz="1900" dirty="0" smtClean="0">
                <a:ea typeface="ＭＳ Ｐゴシック" pitchFamily="34" charset="-128"/>
                <a:sym typeface="Wingdings" pitchFamily="2" charset="2"/>
              </a:rPr>
              <a:t>Transformacija </a:t>
            </a:r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AS </a:t>
            </a:r>
            <a:r>
              <a:rPr lang="sr-Latn-RS" sz="1900" dirty="0" smtClean="0">
                <a:ea typeface="ＭＳ Ｐゴシック" pitchFamily="34" charset="-128"/>
                <a:sym typeface="Wingdings" pitchFamily="2" charset="2"/>
              </a:rPr>
              <a:t>u</a:t>
            </a:r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 AS</a:t>
            </a:r>
            <a:r>
              <a:rPr lang="en-US" altLang="en-US" sz="1900" dirty="0" smtClean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sr-Latn-RS" sz="1900" dirty="0" smtClean="0">
                <a:ea typeface="ＭＳ Ｐゴシック" pitchFamily="34" charset="-128"/>
                <a:sym typeface="Wingdings" pitchFamily="2" charset="2"/>
              </a:rPr>
              <a:t>u jednom takt periodu</a:t>
            </a:r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)</a:t>
            </a:r>
          </a:p>
          <a:p>
            <a:pPr lvl="2"/>
            <a:r>
              <a:rPr lang="en-US" sz="1900" dirty="0" smtClean="0">
                <a:ea typeface="ＭＳ Ｐゴシック" pitchFamily="34" charset="-128"/>
                <a:sym typeface="Wingdings" pitchFamily="2" charset="2"/>
              </a:rPr>
              <a:t>AS  AS+MS1  AS+MS2  AS+MS3  AS</a:t>
            </a:r>
            <a:r>
              <a:rPr lang="en-US" altLang="en-US" sz="1900" dirty="0" smtClean="0">
                <a:ea typeface="ＭＳ Ｐゴシック" pitchFamily="34" charset="-128"/>
                <a:sym typeface="Wingdings" pitchFamily="2" charset="2"/>
              </a:rPr>
              <a:t>’</a:t>
            </a:r>
            <a:r>
              <a:rPr lang="en-US" altLang="ja-JP" sz="1900" dirty="0" smtClean="0">
                <a:ea typeface="ＭＳ Ｐゴシック" pitchFamily="34" charset="-128"/>
                <a:sym typeface="Wingdings" pitchFamily="2" charset="2"/>
              </a:rPr>
              <a:t> (</a:t>
            </a:r>
            <a:r>
              <a:rPr lang="sr-Latn-RS" altLang="ja-JP" sz="1900" dirty="0" smtClean="0">
                <a:ea typeface="ＭＳ Ｐゴシック" pitchFamily="34" charset="-128"/>
                <a:sym typeface="Wingdings" pitchFamily="2" charset="2"/>
              </a:rPr>
              <a:t>više ciklusa takta pri prelasku</a:t>
            </a:r>
            <a:r>
              <a:rPr lang="en-US" altLang="ja-JP" sz="1900" dirty="0" smtClean="0">
                <a:ea typeface="ＭＳ Ｐゴシック" pitchFamily="34" charset="-128"/>
                <a:sym typeface="Wingdings" pitchFamily="2" charset="2"/>
              </a:rPr>
              <a:t> AS </a:t>
            </a:r>
            <a:r>
              <a:rPr lang="sr-Latn-RS" altLang="ja-JP" sz="1900" dirty="0" smtClean="0">
                <a:ea typeface="ＭＳ Ｐゴシック" pitchFamily="34" charset="-128"/>
                <a:sym typeface="Wingdings" pitchFamily="2" charset="2"/>
              </a:rPr>
              <a:t>u</a:t>
            </a:r>
            <a:r>
              <a:rPr lang="en-US" altLang="ja-JP" sz="1900" dirty="0" smtClean="0">
                <a:ea typeface="ＭＳ Ｐゴシック" pitchFamily="34" charset="-128"/>
                <a:sym typeface="Wingdings" pitchFamily="2" charset="2"/>
              </a:rPr>
              <a:t> </a:t>
            </a:r>
            <a:r>
              <a:rPr lang="en-US" altLang="ja-JP" sz="1900" dirty="0" smtClean="0">
                <a:ea typeface="ＭＳ Ｐゴシック" pitchFamily="34" charset="-128"/>
              </a:rPr>
              <a:t>AS</a:t>
            </a:r>
            <a:r>
              <a:rPr lang="en-US" altLang="en-US" sz="1900" dirty="0" smtClean="0">
                <a:ea typeface="ＭＳ Ｐゴシック" pitchFamily="34" charset="-128"/>
              </a:rPr>
              <a:t>’</a:t>
            </a:r>
            <a:r>
              <a:rPr lang="en-US" altLang="ja-JP" sz="1900" dirty="0" smtClean="0">
                <a:ea typeface="ＭＳ Ｐゴシック" pitchFamily="34" charset="-128"/>
              </a:rPr>
              <a:t>)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3E4216-D3D1-4BA4-AD40-56A15822EA2C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Elementarni sistem za izvršenje instrukcija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63700"/>
            <a:ext cx="8610600" cy="5194300"/>
          </a:xfrm>
        </p:spPr>
        <p:txBody>
          <a:bodyPr>
            <a:normAutofit/>
          </a:bodyPr>
          <a:lstStyle/>
          <a:p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Svaka instrukcija se izvršava u jednom ciklusu takta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Isključivo kombinaciona logika realizuje izvršenje instrukcije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lvl="1"/>
            <a:r>
              <a:rPr lang="sr-Latn-RS" i="1" dirty="0" smtClean="0">
                <a:ea typeface="ＭＳ Ｐゴシック" pitchFamily="34" charset="-128"/>
              </a:rPr>
              <a:t>Nema posebnih međustanja, koja programer ne vidi</a:t>
            </a:r>
            <a:endParaRPr lang="en-US" i="1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AS =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Stanje arhitekture na početku ciklusa takta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sr-Latn-RS" dirty="0" smtClean="0">
                <a:ea typeface="ＭＳ Ｐゴシック" pitchFamily="34" charset="-128"/>
              </a:rPr>
              <a:t>Izvršenje u jednom taktu</a:t>
            </a:r>
            <a:endParaRPr lang="en-US" dirty="0" smtClean="0"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AS</a:t>
            </a:r>
            <a:r>
              <a:rPr lang="en-US" altLang="en-US" dirty="0" smtClean="0">
                <a:solidFill>
                  <a:srgbClr val="FF0000"/>
                </a:solidFill>
                <a:ea typeface="ＭＳ Ｐゴシック" pitchFamily="34" charset="-128"/>
              </a:rPr>
              <a:t>’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 = </a:t>
            </a:r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Stanje arhitekrure na kraju ciklusa takta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EB9E4-177C-4D5F-BCE2-D2C423EBDD3C}" type="slidenum">
              <a:rPr lang="en-US"/>
              <a:pPr/>
              <a:t>40</a:t>
            </a:fld>
            <a:endParaRPr lang="en-US"/>
          </a:p>
        </p:txBody>
      </p:sp>
      <p:sp>
        <p:nvSpPr>
          <p:cNvPr id="5" name="Down Arrow 4"/>
          <p:cNvSpPr>
            <a:spLocks noChangeArrowheads="1"/>
          </p:cNvSpPr>
          <p:nvPr/>
        </p:nvSpPr>
        <p:spPr bwMode="auto">
          <a:xfrm>
            <a:off x="4427984" y="3789040"/>
            <a:ext cx="450850" cy="579438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Down Arrow 5"/>
          <p:cNvSpPr>
            <a:spLocks noChangeArrowheads="1"/>
          </p:cNvSpPr>
          <p:nvPr/>
        </p:nvSpPr>
        <p:spPr bwMode="auto">
          <a:xfrm>
            <a:off x="4427984" y="4653136"/>
            <a:ext cx="450850" cy="579437"/>
          </a:xfrm>
          <a:prstGeom prst="downArrow">
            <a:avLst>
              <a:gd name="adj1" fmla="val 50000"/>
              <a:gd name="adj2" fmla="val 50004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Elementarni sistem za izvršenje instrukcija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 fontScale="92500" lnSpcReduction="10000"/>
          </a:bodyPr>
          <a:lstStyle/>
          <a:p>
            <a:endParaRPr lang="sr-Latn-R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Jednociklusna </a:t>
            </a:r>
            <a:r>
              <a:rPr lang="sr-Latn-RS" dirty="0" smtClean="0">
                <a:ea typeface="ＭＳ Ｐゴシック" pitchFamily="34" charset="-128"/>
              </a:rPr>
              <a:t>mašina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Šta opredeljuje periodu takta T</a:t>
            </a:r>
            <a:r>
              <a:rPr lang="sr-Latn-RS" sz="2800" dirty="0" smtClean="0">
                <a:ea typeface="ＭＳ Ｐゴシック" pitchFamily="34" charset="-128"/>
              </a:rPr>
              <a:t>clk</a:t>
            </a:r>
            <a:r>
              <a:rPr lang="en-US" dirty="0" smtClean="0">
                <a:ea typeface="ＭＳ Ｐゴシック" pitchFamily="34" charset="-128"/>
              </a:rPr>
              <a:t>?</a:t>
            </a:r>
          </a:p>
          <a:p>
            <a:r>
              <a:rPr lang="sr-Latn-RS" dirty="0" smtClean="0">
                <a:ea typeface="ＭＳ Ｐゴシック" pitchFamily="34" charset="-128"/>
              </a:rPr>
              <a:t>Šta predstavlja kritična putanja </a:t>
            </a:r>
            <a:r>
              <a:rPr lang="sr-Latn-RS" i="1" dirty="0" smtClean="0">
                <a:ea typeface="ＭＳ Ｐゴシック" pitchFamily="34" charset="-128"/>
              </a:rPr>
              <a:t>(c</a:t>
            </a:r>
            <a:r>
              <a:rPr lang="en-US" i="1" dirty="0" err="1" smtClean="0">
                <a:ea typeface="ＭＳ Ｐゴシック" pitchFamily="34" charset="-128"/>
              </a:rPr>
              <a:t>ritical</a:t>
            </a:r>
            <a:r>
              <a:rPr lang="en-US" i="1" dirty="0" smtClean="0">
                <a:ea typeface="ＭＳ Ｐゴシック" pitchFamily="34" charset="-128"/>
              </a:rPr>
              <a:t> path</a:t>
            </a:r>
            <a:r>
              <a:rPr lang="sr-Latn-RS" i="1" dirty="0" smtClean="0">
                <a:ea typeface="ＭＳ Ｐゴシック" pitchFamily="34" charset="-128"/>
              </a:rPr>
              <a:t>)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u okviru date kombinacione logike</a:t>
            </a:r>
            <a:r>
              <a:rPr lang="en-US" dirty="0" smtClean="0">
                <a:ea typeface="ＭＳ Ｐゴシック" pitchFamily="34" charset="-128"/>
              </a:rPr>
              <a:t>?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71AA67-5624-4783-834E-1BA443F556A6}" type="slidenum">
              <a:rPr lang="en-US"/>
              <a:pPr/>
              <a:t>41</a:t>
            </a:fld>
            <a:endParaRPr lang="en-US"/>
          </a:p>
        </p:txBody>
      </p:sp>
      <p:sp>
        <p:nvSpPr>
          <p:cNvPr id="25604" name="Line 5"/>
          <p:cNvSpPr>
            <a:spLocks noChangeShapeType="1"/>
          </p:cNvSpPr>
          <p:nvPr/>
        </p:nvSpPr>
        <p:spPr bwMode="auto">
          <a:xfrm>
            <a:off x="4562475" y="3124200"/>
            <a:ext cx="838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71675" y="2133600"/>
            <a:ext cx="2662238" cy="2043113"/>
            <a:chOff x="2790" y="1015"/>
            <a:chExt cx="1677" cy="1287"/>
          </a:xfrm>
        </p:grpSpPr>
        <p:sp>
          <p:nvSpPr>
            <p:cNvPr id="25612" name="Oval 8"/>
            <p:cNvSpPr>
              <a:spLocks noChangeArrowheads="1"/>
            </p:cNvSpPr>
            <p:nvPr/>
          </p:nvSpPr>
          <p:spPr bwMode="auto">
            <a:xfrm>
              <a:off x="2790" y="1128"/>
              <a:ext cx="497" cy="49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3" name="Oval 9"/>
            <p:cNvSpPr>
              <a:spLocks noChangeArrowheads="1"/>
            </p:cNvSpPr>
            <p:nvPr/>
          </p:nvSpPr>
          <p:spPr bwMode="auto">
            <a:xfrm>
              <a:off x="2958" y="1241"/>
              <a:ext cx="947" cy="9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4" name="Freeform 10"/>
            <p:cNvSpPr>
              <a:spLocks/>
            </p:cNvSpPr>
            <p:nvPr/>
          </p:nvSpPr>
          <p:spPr bwMode="auto">
            <a:xfrm>
              <a:off x="2925" y="1351"/>
              <a:ext cx="197" cy="254"/>
            </a:xfrm>
            <a:custGeom>
              <a:avLst/>
              <a:gdLst>
                <a:gd name="T0" fmla="*/ 168 w 197"/>
                <a:gd name="T1" fmla="*/ 0 h 254"/>
                <a:gd name="T2" fmla="*/ 0 w 197"/>
                <a:gd name="T3" fmla="*/ 221 h 254"/>
                <a:gd name="T4" fmla="*/ 83 w 197"/>
                <a:gd name="T5" fmla="*/ 253 h 254"/>
                <a:gd name="T6" fmla="*/ 196 w 197"/>
                <a:gd name="T7" fmla="*/ 22 h 254"/>
                <a:gd name="T8" fmla="*/ 168 w 197"/>
                <a:gd name="T9" fmla="*/ 0 h 2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254"/>
                <a:gd name="T17" fmla="*/ 197 w 197"/>
                <a:gd name="T18" fmla="*/ 254 h 2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254">
                  <a:moveTo>
                    <a:pt x="168" y="0"/>
                  </a:moveTo>
                  <a:lnTo>
                    <a:pt x="0" y="221"/>
                  </a:lnTo>
                  <a:lnTo>
                    <a:pt x="83" y="253"/>
                  </a:lnTo>
                  <a:lnTo>
                    <a:pt x="196" y="22"/>
                  </a:lnTo>
                  <a:lnTo>
                    <a:pt x="168" y="0"/>
                  </a:lnTo>
                </a:path>
              </a:pathLst>
            </a:custGeom>
            <a:solidFill>
              <a:srgbClr val="FFFFFF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Oval 11"/>
            <p:cNvSpPr>
              <a:spLocks noChangeArrowheads="1"/>
            </p:cNvSpPr>
            <p:nvPr/>
          </p:nvSpPr>
          <p:spPr bwMode="auto">
            <a:xfrm>
              <a:off x="3295" y="1353"/>
              <a:ext cx="947" cy="9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6" name="Oval 12"/>
            <p:cNvSpPr>
              <a:spLocks noChangeArrowheads="1"/>
            </p:cNvSpPr>
            <p:nvPr/>
          </p:nvSpPr>
          <p:spPr bwMode="auto">
            <a:xfrm>
              <a:off x="4138" y="1522"/>
              <a:ext cx="329" cy="33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7" name="Oval 13"/>
            <p:cNvSpPr>
              <a:spLocks noChangeArrowheads="1"/>
            </p:cNvSpPr>
            <p:nvPr/>
          </p:nvSpPr>
          <p:spPr bwMode="auto">
            <a:xfrm>
              <a:off x="4026" y="2028"/>
              <a:ext cx="216" cy="21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8" name="Oval 14"/>
            <p:cNvSpPr>
              <a:spLocks noChangeArrowheads="1"/>
            </p:cNvSpPr>
            <p:nvPr/>
          </p:nvSpPr>
          <p:spPr bwMode="auto">
            <a:xfrm>
              <a:off x="4026" y="1410"/>
              <a:ext cx="216" cy="21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19" name="Oval 15"/>
            <p:cNvSpPr>
              <a:spLocks noChangeArrowheads="1"/>
            </p:cNvSpPr>
            <p:nvPr/>
          </p:nvSpPr>
          <p:spPr bwMode="auto">
            <a:xfrm>
              <a:off x="4082" y="1747"/>
              <a:ext cx="329" cy="32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0" name="Oval 16"/>
            <p:cNvSpPr>
              <a:spLocks noChangeArrowheads="1"/>
            </p:cNvSpPr>
            <p:nvPr/>
          </p:nvSpPr>
          <p:spPr bwMode="auto">
            <a:xfrm>
              <a:off x="3071" y="1015"/>
              <a:ext cx="497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1" name="Oval 17"/>
            <p:cNvSpPr>
              <a:spLocks noChangeArrowheads="1"/>
            </p:cNvSpPr>
            <p:nvPr/>
          </p:nvSpPr>
          <p:spPr bwMode="auto">
            <a:xfrm>
              <a:off x="3576" y="1128"/>
              <a:ext cx="498" cy="49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2" name="Oval 18"/>
            <p:cNvSpPr>
              <a:spLocks noChangeArrowheads="1"/>
            </p:cNvSpPr>
            <p:nvPr/>
          </p:nvSpPr>
          <p:spPr bwMode="auto">
            <a:xfrm>
              <a:off x="3351" y="1015"/>
              <a:ext cx="498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3" name="Oval 19"/>
            <p:cNvSpPr>
              <a:spLocks noChangeArrowheads="1"/>
            </p:cNvSpPr>
            <p:nvPr/>
          </p:nvSpPr>
          <p:spPr bwMode="auto">
            <a:xfrm>
              <a:off x="3183" y="1634"/>
              <a:ext cx="497" cy="49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624" name="Freeform 20"/>
            <p:cNvSpPr>
              <a:spLocks/>
            </p:cNvSpPr>
            <p:nvPr/>
          </p:nvSpPr>
          <p:spPr bwMode="auto">
            <a:xfrm>
              <a:off x="3077" y="1100"/>
              <a:ext cx="1253" cy="1080"/>
            </a:xfrm>
            <a:custGeom>
              <a:avLst/>
              <a:gdLst>
                <a:gd name="T0" fmla="*/ 295 w 1253"/>
                <a:gd name="T1" fmla="*/ 0 h 1080"/>
                <a:gd name="T2" fmla="*/ 522 w 1253"/>
                <a:gd name="T3" fmla="*/ 134 h 1080"/>
                <a:gd name="T4" fmla="*/ 796 w 1253"/>
                <a:gd name="T5" fmla="*/ 99 h 1080"/>
                <a:gd name="T6" fmla="*/ 971 w 1253"/>
                <a:gd name="T7" fmla="*/ 359 h 1080"/>
                <a:gd name="T8" fmla="*/ 1017 w 1253"/>
                <a:gd name="T9" fmla="*/ 379 h 1080"/>
                <a:gd name="T10" fmla="*/ 1139 w 1253"/>
                <a:gd name="T11" fmla="*/ 461 h 1080"/>
                <a:gd name="T12" fmla="*/ 1171 w 1253"/>
                <a:gd name="T13" fmla="*/ 527 h 1080"/>
                <a:gd name="T14" fmla="*/ 1252 w 1253"/>
                <a:gd name="T15" fmla="*/ 647 h 1080"/>
                <a:gd name="T16" fmla="*/ 1238 w 1253"/>
                <a:gd name="T17" fmla="*/ 685 h 1080"/>
                <a:gd name="T18" fmla="*/ 1048 w 1253"/>
                <a:gd name="T19" fmla="*/ 1037 h 1080"/>
                <a:gd name="T20" fmla="*/ 915 w 1253"/>
                <a:gd name="T21" fmla="*/ 1079 h 1080"/>
                <a:gd name="T22" fmla="*/ 480 w 1253"/>
                <a:gd name="T23" fmla="*/ 1040 h 1080"/>
                <a:gd name="T24" fmla="*/ 448 w 1253"/>
                <a:gd name="T25" fmla="*/ 984 h 1080"/>
                <a:gd name="T26" fmla="*/ 161 w 1253"/>
                <a:gd name="T27" fmla="*/ 920 h 1080"/>
                <a:gd name="T28" fmla="*/ 108 w 1253"/>
                <a:gd name="T29" fmla="*/ 945 h 1080"/>
                <a:gd name="T30" fmla="*/ 0 w 1253"/>
                <a:gd name="T31" fmla="*/ 365 h 1080"/>
                <a:gd name="T32" fmla="*/ 295 w 1253"/>
                <a:gd name="T33" fmla="*/ 0 h 10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53"/>
                <a:gd name="T52" fmla="*/ 0 h 1080"/>
                <a:gd name="T53" fmla="*/ 1253 w 1253"/>
                <a:gd name="T54" fmla="*/ 1080 h 10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53" h="1080">
                  <a:moveTo>
                    <a:pt x="295" y="0"/>
                  </a:moveTo>
                  <a:lnTo>
                    <a:pt x="522" y="134"/>
                  </a:lnTo>
                  <a:lnTo>
                    <a:pt x="796" y="99"/>
                  </a:lnTo>
                  <a:lnTo>
                    <a:pt x="971" y="359"/>
                  </a:lnTo>
                  <a:lnTo>
                    <a:pt x="1017" y="379"/>
                  </a:lnTo>
                  <a:lnTo>
                    <a:pt x="1139" y="461"/>
                  </a:lnTo>
                  <a:lnTo>
                    <a:pt x="1171" y="527"/>
                  </a:lnTo>
                  <a:lnTo>
                    <a:pt x="1252" y="647"/>
                  </a:lnTo>
                  <a:lnTo>
                    <a:pt x="1238" y="685"/>
                  </a:lnTo>
                  <a:lnTo>
                    <a:pt x="1048" y="1037"/>
                  </a:lnTo>
                  <a:lnTo>
                    <a:pt x="915" y="1079"/>
                  </a:lnTo>
                  <a:lnTo>
                    <a:pt x="480" y="1040"/>
                  </a:lnTo>
                  <a:lnTo>
                    <a:pt x="448" y="984"/>
                  </a:lnTo>
                  <a:lnTo>
                    <a:pt x="161" y="920"/>
                  </a:lnTo>
                  <a:lnTo>
                    <a:pt x="108" y="945"/>
                  </a:lnTo>
                  <a:lnTo>
                    <a:pt x="0" y="365"/>
                  </a:lnTo>
                  <a:lnTo>
                    <a:pt x="295" y="0"/>
                  </a:lnTo>
                </a:path>
              </a:pathLst>
            </a:custGeom>
            <a:solidFill>
              <a:srgbClr val="FFFFFF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6" name="Rectangle 23"/>
          <p:cNvSpPr>
            <a:spLocks noChangeArrowheads="1"/>
          </p:cNvSpPr>
          <p:nvPr/>
        </p:nvSpPr>
        <p:spPr bwMode="auto">
          <a:xfrm>
            <a:off x="4648200" y="2438400"/>
            <a:ext cx="6762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800">
                <a:latin typeface="Tahoma" pitchFamily="34" charset="0"/>
              </a:rPr>
              <a:t>AS</a:t>
            </a:r>
            <a:r>
              <a:rPr lang="en-US" altLang="en-US" sz="2800">
                <a:latin typeface="Tahoma" pitchFamily="34" charset="0"/>
              </a:rPr>
              <a:t>’</a:t>
            </a:r>
            <a:r>
              <a:rPr lang="en-US" sz="2800">
                <a:latin typeface="Tahoma" pitchFamily="34" charset="0"/>
              </a:rPr>
              <a:t> </a:t>
            </a:r>
            <a:endParaRPr lang="en-US" sz="2800" baseline="-25000">
              <a:latin typeface="Calibri" pitchFamily="34" charset="0"/>
            </a:endParaRPr>
          </a:p>
        </p:txBody>
      </p:sp>
      <p:sp>
        <p:nvSpPr>
          <p:cNvPr id="51207" name="Rectangle 24"/>
          <p:cNvSpPr>
            <a:spLocks noChangeArrowheads="1"/>
          </p:cNvSpPr>
          <p:nvPr/>
        </p:nvSpPr>
        <p:spPr bwMode="auto">
          <a:xfrm>
            <a:off x="7116763" y="2514600"/>
            <a:ext cx="600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 sz="2800" dirty="0">
                <a:latin typeface="+mn-lt"/>
                <a:ea typeface="ＭＳ Ｐゴシック" charset="0"/>
                <a:cs typeface="ＭＳ Ｐゴシック" charset="0"/>
              </a:rPr>
              <a:t>AS</a:t>
            </a:r>
          </a:p>
        </p:txBody>
      </p:sp>
      <p:sp>
        <p:nvSpPr>
          <p:cNvPr id="25608" name="Freeform 39"/>
          <p:cNvSpPr>
            <a:spLocks/>
          </p:cNvSpPr>
          <p:nvPr/>
        </p:nvSpPr>
        <p:spPr bwMode="auto">
          <a:xfrm>
            <a:off x="1285875" y="3048000"/>
            <a:ext cx="6019800" cy="1600200"/>
          </a:xfrm>
          <a:custGeom>
            <a:avLst/>
            <a:gdLst>
              <a:gd name="T0" fmla="*/ 2147483647 w 3792"/>
              <a:gd name="T1" fmla="*/ 0 h 1008"/>
              <a:gd name="T2" fmla="*/ 2147483647 w 3792"/>
              <a:gd name="T3" fmla="*/ 0 h 1008"/>
              <a:gd name="T4" fmla="*/ 2147483647 w 3792"/>
              <a:gd name="T5" fmla="*/ 2147483647 h 1008"/>
              <a:gd name="T6" fmla="*/ 0 w 3792"/>
              <a:gd name="T7" fmla="*/ 2147483647 h 1008"/>
              <a:gd name="T8" fmla="*/ 0 w 3792"/>
              <a:gd name="T9" fmla="*/ 2147483647 h 1008"/>
              <a:gd name="T10" fmla="*/ 2147483647 w 3792"/>
              <a:gd name="T11" fmla="*/ 2147483647 h 10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92"/>
              <a:gd name="T19" fmla="*/ 0 h 1008"/>
              <a:gd name="T20" fmla="*/ 3792 w 3792"/>
              <a:gd name="T21" fmla="*/ 1008 h 10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92" h="1008">
                <a:moveTo>
                  <a:pt x="3600" y="0"/>
                </a:moveTo>
                <a:lnTo>
                  <a:pt x="3792" y="0"/>
                </a:lnTo>
                <a:lnTo>
                  <a:pt x="3792" y="1008"/>
                </a:lnTo>
                <a:lnTo>
                  <a:pt x="0" y="1008"/>
                </a:lnTo>
                <a:lnTo>
                  <a:pt x="0" y="192"/>
                </a:lnTo>
                <a:lnTo>
                  <a:pt x="576" y="192"/>
                </a:lnTo>
              </a:path>
            </a:pathLst>
          </a:cu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Rectangle 40"/>
          <p:cNvSpPr>
            <a:spLocks noChangeArrowheads="1"/>
          </p:cNvSpPr>
          <p:nvPr/>
        </p:nvSpPr>
        <p:spPr bwMode="auto">
          <a:xfrm>
            <a:off x="5400675" y="2133600"/>
            <a:ext cx="1574800" cy="20574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0" name="Rectangle 24"/>
          <p:cNvSpPr>
            <a:spLocks noChangeArrowheads="1"/>
          </p:cNvSpPr>
          <p:nvPr/>
        </p:nvSpPr>
        <p:spPr bwMode="auto">
          <a:xfrm>
            <a:off x="5486400" y="2667000"/>
            <a:ext cx="150812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latin typeface="Calibri" pitchFamily="34" charset="0"/>
              </a:rPr>
              <a:t>Sequential</a:t>
            </a:r>
          </a:p>
          <a:p>
            <a:r>
              <a:rPr lang="en-US" sz="2400">
                <a:latin typeface="Calibri" pitchFamily="34" charset="0"/>
              </a:rPr>
              <a:t>Logic </a:t>
            </a:r>
          </a:p>
          <a:p>
            <a:r>
              <a:rPr lang="en-US" sz="2400">
                <a:latin typeface="Calibri" pitchFamily="34" charset="0"/>
              </a:rPr>
              <a:t>(State)</a:t>
            </a:r>
          </a:p>
        </p:txBody>
      </p:sp>
      <p:sp>
        <p:nvSpPr>
          <p:cNvPr id="25611" name="Rectangle 24"/>
          <p:cNvSpPr>
            <a:spLocks noChangeArrowheads="1"/>
          </p:cNvSpPr>
          <p:nvPr/>
        </p:nvSpPr>
        <p:spPr bwMode="auto">
          <a:xfrm>
            <a:off x="2286000" y="2819400"/>
            <a:ext cx="20129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400">
                <a:latin typeface="Calibri" pitchFamily="34" charset="0"/>
              </a:rPr>
              <a:t>Combinational</a:t>
            </a:r>
          </a:p>
          <a:p>
            <a:r>
              <a:rPr lang="en-US" sz="2400">
                <a:latin typeface="Calibri" pitchFamily="34" charset="0"/>
              </a:rPr>
              <a:t>Logic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Podsećamo se šta je p</a:t>
            </a:r>
            <a:r>
              <a:rPr lang="en-US" dirty="0" err="1" smtClean="0">
                <a:ea typeface="ＭＳ Ｐゴシック" pitchFamily="34" charset="-128"/>
              </a:rPr>
              <a:t>rogramer</a:t>
            </a:r>
            <a:r>
              <a:rPr lang="sr-Latn-RS" dirty="0" smtClean="0">
                <a:ea typeface="ＭＳ Ｐゴシック" pitchFamily="34" charset="-128"/>
              </a:rPr>
              <a:t>ski vidljivo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kroz ISA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>
              <a:buNone/>
            </a:pP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74308B-8A2A-4328-A882-DB5B73078A95}" type="slidenum">
              <a:rPr lang="en-US"/>
              <a:pPr/>
              <a:t>42</a:t>
            </a:fld>
            <a:endParaRPr 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1115616" y="1484784"/>
            <a:ext cx="2891408" cy="2971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143000" y="173513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M[0]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1143000" y="202565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M[1]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1143000" y="2314575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M[2]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1143000" y="2605088"/>
            <a:ext cx="2819400" cy="2905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M[3]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143000" y="2895600"/>
            <a:ext cx="2819400" cy="2889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M[4]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1187624" y="4005064"/>
            <a:ext cx="2819400" cy="2905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Calibri" pitchFamily="34" charset="0"/>
              </a:rPr>
              <a:t>M[N-1]</a:t>
            </a:r>
          </a:p>
        </p:txBody>
      </p:sp>
      <p:sp>
        <p:nvSpPr>
          <p:cNvPr id="53259" name="Rectangle 10"/>
          <p:cNvSpPr>
            <a:spLocks noChangeArrowheads="1"/>
          </p:cNvSpPr>
          <p:nvPr/>
        </p:nvSpPr>
        <p:spPr bwMode="auto">
          <a:xfrm>
            <a:off x="76200" y="4648200"/>
            <a:ext cx="4876800" cy="67710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 smtClean="0">
                <a:latin typeface="Calibri" pitchFamily="34" charset="0"/>
              </a:rPr>
              <a:t>Memor</a:t>
            </a:r>
            <a:r>
              <a:rPr lang="sr-Latn-RS" dirty="0" smtClean="0">
                <a:latin typeface="Calibri" pitchFamily="34" charset="0"/>
              </a:rPr>
              <a:t>ija</a:t>
            </a:r>
            <a:endParaRPr lang="en-US" dirty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N</a:t>
            </a:r>
            <a:r>
              <a:rPr lang="sr-Latn-RS" sz="2000" dirty="0" smtClean="0">
                <a:latin typeface="Calibri" pitchFamily="34" charset="0"/>
              </a:rPr>
              <a:t>iz lokacija indeksiranih adresom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53260" name="Rectangle 11"/>
          <p:cNvSpPr>
            <a:spLocks noChangeArrowheads="1"/>
          </p:cNvSpPr>
          <p:nvPr/>
        </p:nvSpPr>
        <p:spPr bwMode="auto">
          <a:xfrm>
            <a:off x="5004048" y="4581128"/>
            <a:ext cx="32766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/>
          <a:lstStyle/>
          <a:p>
            <a:r>
              <a:rPr lang="en-US" dirty="0" smtClean="0">
                <a:latin typeface="Calibri" pitchFamily="34" charset="0"/>
              </a:rPr>
              <a:t>Program</a:t>
            </a:r>
            <a:r>
              <a:rPr lang="sr-Latn-RS" dirty="0" smtClean="0">
                <a:latin typeface="Calibri" pitchFamily="34" charset="0"/>
              </a:rPr>
              <a:t>ski brojač</a:t>
            </a:r>
            <a:endParaRPr lang="en-US" sz="1900" dirty="0">
              <a:solidFill>
                <a:schemeClr val="bg2"/>
              </a:solidFill>
              <a:latin typeface="Calibri" pitchFamily="34" charset="0"/>
            </a:endParaRPr>
          </a:p>
          <a:p>
            <a:r>
              <a:rPr lang="en-US" sz="1900" dirty="0" err="1" smtClean="0">
                <a:latin typeface="Calibri" pitchFamily="34" charset="0"/>
              </a:rPr>
              <a:t>memor</a:t>
            </a:r>
            <a:r>
              <a:rPr lang="sr-Latn-RS" sz="1900" dirty="0" smtClean="0">
                <a:latin typeface="Calibri" pitchFamily="34" charset="0"/>
              </a:rPr>
              <a:t>ijska</a:t>
            </a:r>
            <a:r>
              <a:rPr lang="en-US" sz="1900" dirty="0" smtClean="0">
                <a:latin typeface="Calibri" pitchFamily="34" charset="0"/>
              </a:rPr>
              <a:t> </a:t>
            </a:r>
            <a:r>
              <a:rPr lang="en-US" sz="1900" dirty="0" err="1" smtClean="0">
                <a:latin typeface="Calibri" pitchFamily="34" charset="0"/>
              </a:rPr>
              <a:t>adres</a:t>
            </a:r>
            <a:r>
              <a:rPr lang="sr-Latn-RS" sz="1900" dirty="0" smtClean="0">
                <a:latin typeface="Calibri" pitchFamily="34" charset="0"/>
              </a:rPr>
              <a:t>a</a:t>
            </a:r>
            <a:endParaRPr lang="en-US" sz="1900" dirty="0">
              <a:latin typeface="Calibri" pitchFamily="34" charset="0"/>
            </a:endParaRPr>
          </a:p>
          <a:p>
            <a:r>
              <a:rPr lang="sr-Latn-RS" sz="1900" dirty="0" smtClean="0">
                <a:latin typeface="Calibri" pitchFamily="34" charset="0"/>
              </a:rPr>
              <a:t>aktuelne instrukcije</a:t>
            </a:r>
            <a:endParaRPr lang="en-US" sz="1900" dirty="0">
              <a:latin typeface="Calibri" pitchFamily="34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34000" y="1676400"/>
            <a:ext cx="4114800" cy="2898775"/>
            <a:chOff x="3168" y="912"/>
            <a:chExt cx="2592" cy="1826"/>
          </a:xfrm>
        </p:grpSpPr>
        <p:sp>
          <p:nvSpPr>
            <p:cNvPr id="53263" name="Rectangle 14"/>
            <p:cNvSpPr>
              <a:spLocks noChangeArrowheads="1"/>
            </p:cNvSpPr>
            <p:nvPr/>
          </p:nvSpPr>
          <p:spPr bwMode="auto">
            <a:xfrm>
              <a:off x="3456" y="100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4" name="Rectangle 15"/>
            <p:cNvSpPr>
              <a:spLocks noChangeArrowheads="1"/>
            </p:cNvSpPr>
            <p:nvPr/>
          </p:nvSpPr>
          <p:spPr bwMode="auto">
            <a:xfrm>
              <a:off x="3552" y="1248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5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6" name="Rectangle 17"/>
            <p:cNvSpPr>
              <a:spLocks noChangeArrowheads="1"/>
            </p:cNvSpPr>
            <p:nvPr/>
          </p:nvSpPr>
          <p:spPr bwMode="auto">
            <a:xfrm>
              <a:off x="3840" y="912"/>
              <a:ext cx="1200" cy="19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3267" name="Rectangle 18"/>
            <p:cNvSpPr>
              <a:spLocks noChangeArrowheads="1"/>
            </p:cNvSpPr>
            <p:nvPr/>
          </p:nvSpPr>
          <p:spPr bwMode="auto">
            <a:xfrm>
              <a:off x="3168" y="1536"/>
              <a:ext cx="2592" cy="120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 err="1" smtClean="0">
                  <a:latin typeface="Calibri" pitchFamily="34" charset="0"/>
                </a:rPr>
                <a:t>Registr</a:t>
              </a:r>
              <a:r>
                <a:rPr lang="sr-Latn-RS" dirty="0" smtClean="0">
                  <a:latin typeface="Calibri" pitchFamily="34" charset="0"/>
                </a:rPr>
                <a:t>i</a:t>
              </a:r>
              <a:endParaRPr lang="en-US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 smtClean="0">
                  <a:latin typeface="Calibri" pitchFamily="34" charset="0"/>
                </a:rPr>
                <a:t>Direktno imenovani u okviru </a:t>
              </a:r>
              <a:r>
                <a:rPr lang="en-US" sz="2000" dirty="0" smtClean="0">
                  <a:latin typeface="Calibri" pitchFamily="34" charset="0"/>
                </a:rPr>
                <a:t>ISA</a:t>
              </a:r>
              <a:endParaRPr lang="en-US" sz="2000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     </a:t>
              </a:r>
              <a:r>
                <a:rPr lang="en-US" sz="2000" dirty="0" smtClean="0">
                  <a:latin typeface="Calibri" pitchFamily="34" charset="0"/>
                </a:rPr>
                <a:t>(</a:t>
              </a:r>
              <a:r>
                <a:rPr lang="sr-Latn-RS" sz="2000" dirty="0" smtClean="0">
                  <a:latin typeface="Calibri" pitchFamily="34" charset="0"/>
                </a:rPr>
                <a:t>nasuprot adresama</a:t>
              </a:r>
              <a:r>
                <a:rPr lang="en-US" sz="2000" dirty="0" smtClean="0">
                  <a:latin typeface="Calibri" pitchFamily="34" charset="0"/>
                </a:rPr>
                <a:t>)</a:t>
              </a:r>
              <a:endParaRPr lang="en-US" sz="2000" dirty="0">
                <a:latin typeface="Calibri" pitchFamily="34" charset="0"/>
              </a:endParaRPr>
            </a:p>
            <a:p>
              <a:r>
                <a:rPr lang="en-US" sz="2000" dirty="0">
                  <a:latin typeface="Calibri" pitchFamily="34" charset="0"/>
                </a:rPr>
                <a:t>-  </a:t>
              </a:r>
              <a:r>
                <a:rPr lang="sr-Latn-RS" sz="2000" dirty="0" smtClean="0">
                  <a:latin typeface="Calibri" pitchFamily="34" charset="0"/>
                </a:rPr>
                <a:t>Mogu biti generalni ili posebne namene</a:t>
              </a:r>
              <a:endParaRPr lang="en-US" sz="2000" dirty="0">
                <a:latin typeface="Calibri" pitchFamily="34" charset="0"/>
              </a:endParaRPr>
            </a:p>
            <a:p>
              <a:endParaRPr lang="en-US" sz="2000" dirty="0">
                <a:latin typeface="Calibri" pitchFamily="34" charset="0"/>
              </a:endParaRPr>
            </a:p>
          </p:txBody>
        </p:sp>
      </p:grp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2520848" y="5715000"/>
            <a:ext cx="6208815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 err="1" smtClean="0">
                <a:latin typeface="Calibri" pitchFamily="34" charset="0"/>
              </a:rPr>
              <a:t>Instru</a:t>
            </a:r>
            <a:r>
              <a:rPr lang="sr-Latn-RS" sz="2400" dirty="0" smtClean="0">
                <a:latin typeface="Calibri" pitchFamily="34" charset="0"/>
              </a:rPr>
              <a:t>k</a:t>
            </a:r>
            <a:r>
              <a:rPr lang="en-US" sz="2400" dirty="0" err="1" smtClean="0">
                <a:latin typeface="Calibri" pitchFamily="34" charset="0"/>
              </a:rPr>
              <a:t>ci</a:t>
            </a:r>
            <a:r>
              <a:rPr lang="sr-Latn-RS" sz="2400" dirty="0" smtClean="0">
                <a:latin typeface="Calibri" pitchFamily="34" charset="0"/>
              </a:rPr>
              <a:t>je i programi</a:t>
            </a:r>
            <a:r>
              <a:rPr lang="en-US" sz="2400" dirty="0" smtClean="0">
                <a:latin typeface="Calibri" pitchFamily="34" charset="0"/>
              </a:rPr>
              <a:t> </a:t>
            </a:r>
            <a:r>
              <a:rPr lang="sr-Latn-RS" sz="2400" dirty="0" smtClean="0">
                <a:latin typeface="Calibri" pitchFamily="34" charset="0"/>
              </a:rPr>
              <a:t>opredeljuju transformaciju</a:t>
            </a:r>
            <a:endParaRPr lang="en-US" sz="2400" dirty="0">
              <a:latin typeface="Calibri" pitchFamily="34" charset="0"/>
            </a:endParaRPr>
          </a:p>
          <a:p>
            <a:pPr algn="r"/>
            <a:r>
              <a:rPr lang="sr-Latn-RS" sz="2400" dirty="0" smtClean="0">
                <a:latin typeface="Calibri" pitchFamily="34" charset="0"/>
              </a:rPr>
              <a:t>vrednosti stanja vidljivih programeru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J</a:t>
            </a:r>
            <a:r>
              <a:rPr lang="sr-Latn-RS" dirty="0" smtClean="0">
                <a:ea typeface="ＭＳ Ｐゴシック" pitchFamily="34" charset="-128"/>
              </a:rPr>
              <a:t>ednociklusne naspram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višeciklusnih mašina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4784"/>
            <a:ext cx="8915400" cy="5194300"/>
          </a:xfrm>
        </p:spPr>
        <p:txBody>
          <a:bodyPr>
            <a:normAutofit lnSpcReduction="10000"/>
          </a:bodyPr>
          <a:lstStyle/>
          <a:p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jednociklusne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S</a:t>
            </a:r>
            <a:r>
              <a:rPr lang="sr-Latn-RS" sz="2000" dirty="0" smtClean="0">
                <a:ea typeface="ＭＳ Ｐゴシック" pitchFamily="34" charset="-128"/>
              </a:rPr>
              <a:t>va</a:t>
            </a:r>
            <a:r>
              <a:rPr lang="en-US" sz="2000" dirty="0" smtClean="0">
                <a:ea typeface="ＭＳ Ｐゴシック" pitchFamily="34" charset="-128"/>
              </a:rPr>
              <a:t>k</a:t>
            </a:r>
            <a:r>
              <a:rPr lang="sr-Latn-RS" sz="2000" dirty="0" smtClean="0">
                <a:ea typeface="ＭＳ Ｐゴシック" pitchFamily="34" charset="-128"/>
              </a:rPr>
              <a:t>a instrukcija se izvršava u jednom ciklusu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ea typeface="ＭＳ Ｐゴシック" pitchFamily="34" charset="-128"/>
              </a:rPr>
              <a:t>Ažuriranje stanja realizuje se na kraju izvršenja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Nedostatak</a:t>
            </a:r>
            <a:r>
              <a:rPr lang="en-US" sz="2000" dirty="0" smtClean="0">
                <a:solidFill>
                  <a:srgbClr val="0000FF"/>
                </a:solidFill>
                <a:ea typeface="ＭＳ Ｐゴシック" pitchFamily="34" charset="-128"/>
              </a:rPr>
              <a:t>: 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Najsporija </a:t>
            </a:r>
            <a:r>
              <a:rPr lang="sr-Latn-RS" sz="2000" b="1" dirty="0" smtClean="0">
                <a:solidFill>
                  <a:srgbClr val="0000FF"/>
                </a:solidFill>
                <a:ea typeface="ＭＳ Ｐゴシック" pitchFamily="34" charset="-128"/>
              </a:rPr>
              <a:t>instrukcija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 opredeljuje Tclk</a:t>
            </a:r>
            <a:endParaRPr lang="en-US" sz="20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endParaRPr lang="en-US" sz="1200" dirty="0" smtClean="0"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višeciklusne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ea typeface="ＭＳ Ｐゴシック" pitchFamily="34" charset="-128"/>
              </a:rPr>
              <a:t>Izvršenje instrukcije se dekomponuje u više ciklusa/etapa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ea typeface="ＭＳ Ｐゴシック" pitchFamily="34" charset="-128"/>
              </a:rPr>
              <a:t>Ažuriranje međustanja realizuje se tokom izvršenja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ea typeface="ＭＳ Ｐゴシック" pitchFamily="34" charset="-128"/>
              </a:rPr>
              <a:t>Ažuriranje stanja </a:t>
            </a:r>
            <a:r>
              <a:rPr lang="sr-Latn-RS" sz="2000" dirty="0" smtClean="0">
                <a:ea typeface="ＭＳ Ｐゴシック" pitchFamily="34" charset="-128"/>
              </a:rPr>
              <a:t>arhitekture </a:t>
            </a:r>
            <a:r>
              <a:rPr lang="sr-Latn-RS" sz="2000" dirty="0" smtClean="0">
                <a:ea typeface="ＭＳ Ｐゴシック" pitchFamily="34" charset="-128"/>
              </a:rPr>
              <a:t>AS na kraju izvršenja</a:t>
            </a:r>
            <a:endParaRPr lang="en-US" sz="2000" dirty="0" smtClean="0">
              <a:ea typeface="ＭＳ Ｐゴシック" pitchFamily="34" charset="-128"/>
            </a:endParaRPr>
          </a:p>
          <a:p>
            <a:pPr lvl="1"/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Prednosti u odnosu na 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jednociklusne gde</a:t>
            </a:r>
            <a:r>
              <a:rPr lang="en-US" sz="2000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najsporija </a:t>
            </a:r>
            <a:r>
              <a:rPr lang="en-US" sz="2000" dirty="0" smtClean="0">
                <a:solidFill>
                  <a:srgbClr val="0000FF"/>
                </a:solidFill>
                <a:ea typeface="ＭＳ Ｐゴシック" pitchFamily="34" charset="-128"/>
              </a:rPr>
              <a:t>“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kombinaciona </a:t>
            </a:r>
            <a:r>
              <a:rPr lang="sr-Latn-RS" sz="2000" b="1" dirty="0" smtClean="0">
                <a:solidFill>
                  <a:srgbClr val="0000FF"/>
                </a:solidFill>
                <a:ea typeface="ＭＳ Ｐゴシック" pitchFamily="34" charset="-128"/>
              </a:rPr>
              <a:t>mikroinstrukcija</a:t>
            </a:r>
            <a:r>
              <a:rPr lang="en-US" sz="2000" dirty="0" smtClean="0">
                <a:solidFill>
                  <a:srgbClr val="0000FF"/>
                </a:solidFill>
                <a:ea typeface="ＭＳ Ｐゴシック" pitchFamily="34" charset="-128"/>
              </a:rPr>
              <a:t>”</a:t>
            </a:r>
            <a:r>
              <a:rPr lang="sr-Latn-RS" sz="2000" dirty="0" smtClean="0">
                <a:solidFill>
                  <a:srgbClr val="0000FF"/>
                </a:solidFill>
                <a:ea typeface="ＭＳ Ｐゴシック" pitchFamily="34" charset="-128"/>
              </a:rPr>
              <a:t> opredeljuje Tclk</a:t>
            </a:r>
            <a:endParaRPr lang="en-US" sz="20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2"/>
            <a:r>
              <a:rPr lang="en-US" sz="2100" dirty="0" smtClean="0">
                <a:solidFill>
                  <a:srgbClr val="0000FF"/>
                </a:solidFill>
                <a:ea typeface="ＭＳ Ｐゴシック" pitchFamily="34" charset="-128"/>
              </a:rPr>
              <a:t>To tipi</a:t>
            </a:r>
            <a:r>
              <a:rPr lang="sr-Latn-RS" sz="2100" dirty="0" smtClean="0">
                <a:solidFill>
                  <a:srgbClr val="0000FF"/>
                </a:solidFill>
                <a:ea typeface="ＭＳ Ｐゴシック" pitchFamily="34" charset="-128"/>
              </a:rPr>
              <a:t>čno značajno skraćuje Tclk</a:t>
            </a:r>
            <a:endParaRPr lang="en-US" sz="21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sz="1200" dirty="0" smtClean="0">
              <a:ea typeface="ＭＳ Ｐゴシック" pitchFamily="34" charset="-128"/>
            </a:endParaRPr>
          </a:p>
          <a:p>
            <a:pPr lvl="1">
              <a:buClr>
                <a:schemeClr val="accent1"/>
              </a:buClr>
              <a:buSzPct val="65000"/>
              <a:buNone/>
            </a:pPr>
            <a:r>
              <a:rPr lang="en-US" dirty="0" smtClean="0">
                <a:ea typeface="ＭＳ Ｐゴシック" pitchFamily="34" charset="-128"/>
              </a:rPr>
              <a:t>I </a:t>
            </a:r>
            <a:r>
              <a:rPr lang="sr-Latn-RS" dirty="0" smtClean="0">
                <a:ea typeface="ＭＳ Ｐゴシック" pitchFamily="34" charset="-128"/>
              </a:rPr>
              <a:t>jednociklusne i višeciklusne mašine rade po Fon Nojmanovom modelu na nivou mikroarhitekture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A4C8FF-F1D2-4AFC-9E41-DD479B28B61F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Instrukcijski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ciklus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228600" y="1340768"/>
            <a:ext cx="8915400" cy="5194300"/>
          </a:xfrm>
        </p:spPr>
        <p:txBody>
          <a:bodyPr>
            <a:normAutofit/>
          </a:bodyPr>
          <a:lstStyle/>
          <a:p>
            <a:r>
              <a:rPr lang="en-US" dirty="0" err="1" smtClean="0">
                <a:ea typeface="ＭＳ Ｐゴシック" pitchFamily="34" charset="-128"/>
              </a:rPr>
              <a:t>Instrukcije</a:t>
            </a:r>
            <a:r>
              <a:rPr lang="en-US" dirty="0" smtClean="0">
                <a:ea typeface="ＭＳ Ｐゴシック" pitchFamily="34" charset="-128"/>
              </a:rPr>
              <a:t> se </a:t>
            </a:r>
            <a:r>
              <a:rPr lang="en-US" dirty="0" err="1" smtClean="0">
                <a:ea typeface="ＭＳ Ｐゴシック" pitchFamily="34" charset="-128"/>
              </a:rPr>
              <a:t>izvr</a:t>
            </a:r>
            <a:r>
              <a:rPr lang="sr-Latn-RS" dirty="0" smtClean="0">
                <a:ea typeface="ＭＳ Ｐゴシック" pitchFamily="34" charset="-128"/>
              </a:rPr>
              <a:t>šavaju pod kontrolom upravljačke jedinice (</a:t>
            </a:r>
            <a:r>
              <a:rPr lang="en-US" dirty="0" smtClean="0">
                <a:ea typeface="ＭＳ Ｐゴシック" pitchFamily="34" charset="-128"/>
              </a:rPr>
              <a:t>control unit</a:t>
            </a:r>
            <a:r>
              <a:rPr lang="sr-Latn-RS" dirty="0" smtClean="0">
                <a:ea typeface="ＭＳ Ｐゴシック" pitchFamily="34" charset="-128"/>
              </a:rPr>
              <a:t>) korak po korak</a:t>
            </a:r>
            <a:r>
              <a:rPr lang="en-US" dirty="0" smtClean="0">
                <a:ea typeface="ＭＳ Ｐゴシック" pitchFamily="34" charset="-128"/>
              </a:rPr>
              <a:t>. </a:t>
            </a:r>
          </a:p>
          <a:p>
            <a:r>
              <a:rPr lang="en-US" dirty="0" err="1" smtClean="0">
                <a:ea typeface="ＭＳ Ｐゴシック" pitchFamily="34" charset="-128"/>
              </a:rPr>
              <a:t>Instru</a:t>
            </a:r>
            <a:r>
              <a:rPr lang="sr-Latn-RS" dirty="0" smtClean="0">
                <a:ea typeface="ＭＳ Ｐゴシック" pitchFamily="34" charset="-128"/>
              </a:rPr>
              <a:t>kcijski </a:t>
            </a:r>
            <a:r>
              <a:rPr lang="en-US" dirty="0" smtClean="0">
                <a:ea typeface="ＭＳ Ｐゴシック" pitchFamily="34" charset="-128"/>
              </a:rPr>
              <a:t>c</a:t>
            </a:r>
            <a:r>
              <a:rPr lang="sr-Latn-RS" dirty="0" smtClean="0">
                <a:ea typeface="ＭＳ Ｐゴシック" pitchFamily="34" charset="-128"/>
              </a:rPr>
              <a:t>iklus</a:t>
            </a:r>
            <a:r>
              <a:rPr lang="en-US" dirty="0" smtClean="0">
                <a:ea typeface="ＭＳ Ｐゴシック" pitchFamily="34" charset="-128"/>
              </a:rPr>
              <a:t>: Se</a:t>
            </a:r>
            <a:r>
              <a:rPr lang="sr-Latn-RS" dirty="0" smtClean="0">
                <a:ea typeface="ＭＳ Ｐゴシック" pitchFamily="34" charset="-128"/>
              </a:rPr>
              <a:t>kvenca koraka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pri izvršavanju </a:t>
            </a:r>
            <a:r>
              <a:rPr lang="en-US" dirty="0" err="1" smtClean="0">
                <a:ea typeface="ＭＳ Ｐゴシック" pitchFamily="34" charset="-128"/>
              </a:rPr>
              <a:t>instru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ci</a:t>
            </a:r>
            <a:r>
              <a:rPr lang="sr-Latn-RS" dirty="0" smtClean="0">
                <a:ea typeface="ＭＳ Ｐゴシック" pitchFamily="34" charset="-128"/>
              </a:rPr>
              <a:t>je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Tipično podrazumevamo 6 faza izvršavanja</a:t>
            </a:r>
            <a:r>
              <a:rPr lang="en-US" dirty="0" smtClean="0">
                <a:ea typeface="ＭＳ Ｐゴシック" pitchFamily="34" charset="-128"/>
              </a:rPr>
              <a:t>:</a:t>
            </a:r>
          </a:p>
          <a:p>
            <a:endParaRPr lang="en-US" sz="1500" dirty="0" smtClean="0"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Prihvat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Fetch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Dekodiranje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Decode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Sračunavanje adrese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Evaluate Address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Prihvat operanada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Fetch Operands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Izvršenje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Execute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Smeštanje rezultata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Store Result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2DDC36-49A5-4373-8B70-58051B611CE0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sz="3100" dirty="0" err="1" smtClean="0">
                <a:ea typeface="ＭＳ Ｐゴシック" pitchFamily="34" charset="-128"/>
              </a:rPr>
              <a:t>Instru</a:t>
            </a:r>
            <a:r>
              <a:rPr lang="sr-Latn-RS" sz="3100" dirty="0" smtClean="0">
                <a:ea typeface="ＭＳ Ｐゴシック" pitchFamily="34" charset="-128"/>
              </a:rPr>
              <a:t>kcijski ciklus naspram</a:t>
            </a:r>
            <a:r>
              <a:rPr lang="en-US" sz="3100" dirty="0" smtClean="0">
                <a:ea typeface="ＭＳ Ｐゴシック" pitchFamily="34" charset="-128"/>
              </a:rPr>
              <a:t> </a:t>
            </a:r>
            <a:r>
              <a:rPr lang="sr-Latn-RS" sz="3100" dirty="0" smtClean="0">
                <a:ea typeface="ＭＳ Ｐゴシック" pitchFamily="34" charset="-128"/>
              </a:rPr>
              <a:t/>
            </a:r>
            <a:br>
              <a:rPr lang="sr-Latn-RS" sz="3100" dirty="0" smtClean="0">
                <a:ea typeface="ＭＳ Ｐゴシック" pitchFamily="34" charset="-128"/>
              </a:rPr>
            </a:br>
            <a:r>
              <a:rPr lang="sr-Latn-RS" sz="3100" dirty="0" smtClean="0">
                <a:ea typeface="ＭＳ Ｐゴシック" pitchFamily="34" charset="-128"/>
              </a:rPr>
              <a:t>mašinskog </a:t>
            </a:r>
            <a:r>
              <a:rPr lang="sr-Latn-RS" sz="3100" dirty="0" smtClean="0">
                <a:ea typeface="ＭＳ Ｐゴシック" pitchFamily="34" charset="-128"/>
              </a:rPr>
              <a:t>ciklusa takta</a:t>
            </a:r>
            <a:endParaRPr lang="en-US" sz="3100" dirty="0" smtClean="0">
              <a:ea typeface="ＭＳ Ｐゴシック" pitchFamily="34" charset="-128"/>
            </a:endParaRP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</p:spPr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Jednociklusne </a:t>
            </a:r>
            <a:r>
              <a:rPr lang="en-US" dirty="0" smtClean="0">
                <a:ea typeface="ＭＳ Ｐゴシック" pitchFamily="34" charset="-128"/>
              </a:rPr>
              <a:t>ma</a:t>
            </a:r>
            <a:r>
              <a:rPr lang="sr-Latn-RS" dirty="0" smtClean="0">
                <a:ea typeface="ＭＳ Ｐゴシック" pitchFamily="34" charset="-128"/>
              </a:rPr>
              <a:t>š</a:t>
            </a:r>
            <a:r>
              <a:rPr lang="en-US" dirty="0" err="1" smtClean="0">
                <a:ea typeface="ＭＳ Ｐゴシック" pitchFamily="34" charset="-128"/>
              </a:rPr>
              <a:t>ine</a:t>
            </a:r>
            <a:r>
              <a:rPr lang="en-US" dirty="0" smtClean="0">
                <a:ea typeface="ＭＳ Ｐゴシック" pitchFamily="34" charset="-128"/>
              </a:rPr>
              <a:t>: 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Svih 6 faza izvršavanja instrukcije realizuju se u jednom mašinskom ciklusu takta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Višeciklusne</a:t>
            </a:r>
            <a:r>
              <a:rPr lang="en-US" dirty="0" smtClean="0">
                <a:ea typeface="ＭＳ Ｐゴシック" pitchFamily="34" charset="-128"/>
              </a:rPr>
              <a:t> ma</a:t>
            </a:r>
            <a:r>
              <a:rPr lang="sr-Latn-RS" dirty="0" smtClean="0">
                <a:ea typeface="ＭＳ Ｐゴシック" pitchFamily="34" charset="-128"/>
              </a:rPr>
              <a:t>š</a:t>
            </a:r>
            <a:r>
              <a:rPr lang="en-US" dirty="0" err="1" smtClean="0">
                <a:ea typeface="ＭＳ Ｐゴシック" pitchFamily="34" charset="-128"/>
              </a:rPr>
              <a:t>ine</a:t>
            </a:r>
            <a:r>
              <a:rPr lang="en-US" dirty="0" smtClean="0">
                <a:ea typeface="ＭＳ Ｐゴシック" pitchFamily="34" charset="-128"/>
              </a:rPr>
              <a:t>: 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Svih 6 faza izvršavanja instrukcije realizuju se u više mašinskih ciklusa takta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Svaka faza može zauzimati više mašinskih ciklusa takta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88E0F6-69A6-410A-A8DC-96C19B1C41C8}" type="slidenum">
              <a:rPr lang="en-US"/>
              <a:pPr/>
              <a:t>45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 fontScale="90000"/>
          </a:bodyPr>
          <a:lstStyle/>
          <a:p>
            <a:r>
              <a:rPr lang="sr-Latn-RS" sz="3800" dirty="0" smtClean="0">
                <a:ea typeface="ＭＳ Ｐゴシック" pitchFamily="34" charset="-128"/>
              </a:rPr>
              <a:t>Izvršavanje i</a:t>
            </a:r>
            <a:r>
              <a:rPr lang="en-US" sz="3800" dirty="0" err="1" smtClean="0">
                <a:ea typeface="ＭＳ Ｐゴシック" pitchFamily="34" charset="-128"/>
              </a:rPr>
              <a:t>nstru</a:t>
            </a:r>
            <a:r>
              <a:rPr lang="sr-Latn-RS" sz="3800" dirty="0" smtClean="0">
                <a:ea typeface="ＭＳ Ｐゴシック" pitchFamily="34" charset="-128"/>
              </a:rPr>
              <a:t>k</a:t>
            </a:r>
            <a:r>
              <a:rPr lang="en-US" sz="3800" dirty="0" err="1" smtClean="0">
                <a:ea typeface="ＭＳ Ｐゴシック" pitchFamily="34" charset="-128"/>
              </a:rPr>
              <a:t>ci</a:t>
            </a:r>
            <a:r>
              <a:rPr lang="sr-Latn-RS" sz="3800" dirty="0" smtClean="0">
                <a:ea typeface="ＭＳ Ｐゴシック" pitchFamily="34" charset="-128"/>
              </a:rPr>
              <a:t>ja</a:t>
            </a:r>
            <a:br>
              <a:rPr lang="sr-Latn-RS" sz="3800" dirty="0" smtClean="0">
                <a:ea typeface="ＭＳ Ｐゴシック" pitchFamily="34" charset="-128"/>
              </a:rPr>
            </a:br>
            <a:r>
              <a:rPr lang="en-US" sz="3800" dirty="0" smtClean="0">
                <a:ea typeface="ＭＳ Ｐゴシック" pitchFamily="34" charset="-128"/>
              </a:rPr>
              <a:t> </a:t>
            </a:r>
            <a:r>
              <a:rPr lang="sr-Latn-RS" sz="3800" dirty="0" smtClean="0">
                <a:ea typeface="ＭＳ Ｐゴシック" pitchFamily="34" charset="-128"/>
              </a:rPr>
              <a:t>iz drugog ugla</a:t>
            </a:r>
            <a:endParaRPr lang="en-US" sz="3800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63700"/>
            <a:ext cx="8915400" cy="5194300"/>
          </a:xfrm>
        </p:spPr>
        <p:txBody>
          <a:bodyPr>
            <a:normAutofit fontScale="925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Instrukcija transformiše podatak </a:t>
            </a:r>
            <a:r>
              <a:rPr lang="en-US" dirty="0" smtClean="0">
                <a:ea typeface="ＭＳ Ｐゴシック" pitchFamily="34" charset="-128"/>
              </a:rPr>
              <a:t>(AS) </a:t>
            </a:r>
            <a:r>
              <a:rPr lang="sr-Latn-RS" dirty="0" smtClean="0">
                <a:ea typeface="ＭＳ Ｐゴシック" pitchFamily="34" charset="-128"/>
              </a:rPr>
              <a:t>u podatak </a:t>
            </a:r>
            <a:r>
              <a:rPr lang="en-US" dirty="0" smtClean="0">
                <a:ea typeface="ＭＳ Ｐゴシック" pitchFamily="34" charset="-128"/>
              </a:rPr>
              <a:t>(AS</a:t>
            </a:r>
            <a:r>
              <a:rPr lang="en-US" altLang="en-US" dirty="0" smtClean="0">
                <a:ea typeface="ＭＳ Ｐゴシック" pitchFamily="34" charset="-128"/>
              </a:rPr>
              <a:t>’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r>
              <a:rPr lang="sr-Latn-RS" dirty="0" smtClean="0">
                <a:ea typeface="ＭＳ Ｐゴシック" pitchFamily="34" charset="-128"/>
              </a:rPr>
              <a:t>Ovu transformaciju izvršavaju </a:t>
            </a:r>
            <a:r>
              <a:rPr lang="en-US" dirty="0" smtClean="0">
                <a:ea typeface="ＭＳ Ｐゴシック" pitchFamily="34" charset="-128"/>
              </a:rPr>
              <a:t>fun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cional</a:t>
            </a:r>
            <a:r>
              <a:rPr lang="sr-Latn-RS" dirty="0" smtClean="0">
                <a:ea typeface="ＭＳ Ｐゴシック" pitchFamily="34" charset="-128"/>
              </a:rPr>
              <a:t>ne jedinice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pPr lvl="1"/>
            <a:r>
              <a:rPr lang="en-US" sz="1800" dirty="0" smtClean="0">
                <a:ea typeface="ＭＳ Ｐゴシック" pitchFamily="34" charset="-128"/>
              </a:rPr>
              <a:t>J</a:t>
            </a:r>
            <a:r>
              <a:rPr lang="sr-Latn-RS" sz="1800" dirty="0" smtClean="0">
                <a:ea typeface="ＭＳ Ｐゴシック" pitchFamily="34" charset="-128"/>
              </a:rPr>
              <a:t>edinice koje barataju sa podacima</a:t>
            </a:r>
            <a:endParaRPr lang="en-US" sz="18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Ovim jedinicama se mora definisati šta učiniti sa podacima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sz="14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Blokovi za procesiranje instrukcije sadrže dve komponente: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P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utanja podataka (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Datapath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Sastoji se od HW elemenata koji transformišu signale podataka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Fun</a:t>
            </a:r>
            <a:r>
              <a:rPr lang="sr-Latn-RS" dirty="0" smtClean="0">
                <a:ea typeface="ＭＳ Ｐゴシック" pitchFamily="34" charset="-128"/>
              </a:rPr>
              <a:t>kcionalni blokovi koji barataju sa </a:t>
            </a:r>
            <a:r>
              <a:rPr lang="sr-Latn-RS" dirty="0" smtClean="0">
                <a:ea typeface="ＭＳ Ｐゴシック" pitchFamily="34" charset="-128"/>
              </a:rPr>
              <a:t>podacima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sr-Latn-RS" dirty="0" smtClean="0">
                <a:ea typeface="ＭＳ Ｐゴシック" pitchFamily="34" charset="-128"/>
              </a:rPr>
              <a:t>HW strukture </a:t>
            </a:r>
            <a:r>
              <a:rPr lang="en-US" dirty="0" smtClean="0">
                <a:ea typeface="ＭＳ Ｐゴシック" pitchFamily="34" charset="-128"/>
              </a:rPr>
              <a:t>(</a:t>
            </a:r>
            <a:r>
              <a:rPr lang="sr-Latn-RS" dirty="0" smtClean="0">
                <a:ea typeface="ＭＳ Ｐゴシック" pitchFamily="34" charset="-128"/>
              </a:rPr>
              <a:t>vodovi i multiplekseri</a:t>
            </a:r>
            <a:r>
              <a:rPr lang="en-US" dirty="0" smtClean="0">
                <a:ea typeface="ＭＳ Ｐゴシック" pitchFamily="34" charset="-128"/>
              </a:rPr>
              <a:t>) </a:t>
            </a:r>
            <a:r>
              <a:rPr lang="sr-Latn-RS" dirty="0" smtClean="0">
                <a:ea typeface="ＭＳ Ｐゴシック" pitchFamily="34" charset="-128"/>
              </a:rPr>
              <a:t>koji omogućavaju tok podataka ka funkcionalnim blokovima i registrima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sr-Latn-RS" dirty="0" smtClean="0">
                <a:ea typeface="ＭＳ Ｐゴシック" pitchFamily="34" charset="-128"/>
              </a:rPr>
              <a:t>Blokovi za smeštanje podataka kao što su registri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Kontrolna logika (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Control logic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Sadrži HW elemente koji upravljaju kontrolnim signalima, zapravo rukuju putanjama podataka i pripadajućim funkcionalnim blokovima koji obrađuju podatke.</a:t>
            </a:r>
            <a:endParaRPr lang="en-US" dirty="0" smtClean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64017A-58D3-49A9-A968-3F0A3CDD9CD6}" type="slidenum">
              <a:rPr lang="en-US"/>
              <a:pPr/>
              <a:t>46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Jednociklusne naspram </a:t>
            </a:r>
            <a:r>
              <a:rPr lang="sr-Latn-RS" dirty="0" smtClean="0">
                <a:ea typeface="ＭＳ Ｐゴシック" pitchFamily="34" charset="-128"/>
              </a:rPr>
              <a:t/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višeciklusnih</a:t>
            </a:r>
            <a:r>
              <a:rPr lang="en-US" dirty="0" smtClean="0">
                <a:ea typeface="ＭＳ Ｐゴシック" pitchFamily="34" charset="-128"/>
              </a:rPr>
              <a:t>: </a:t>
            </a:r>
            <a:r>
              <a:rPr lang="sr-Latn-RS" dirty="0" smtClean="0">
                <a:ea typeface="ＭＳ Ｐゴシック" pitchFamily="34" charset="-128"/>
              </a:rPr>
              <a:t>kontrola i podaci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4717628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J</a:t>
            </a:r>
            <a:r>
              <a:rPr lang="sr-Latn-RS" dirty="0" smtClean="0">
                <a:ea typeface="ＭＳ Ｐゴシック" pitchFamily="34" charset="-128"/>
              </a:rPr>
              <a:t>ednociklusne mašine</a:t>
            </a:r>
            <a:r>
              <a:rPr lang="en-US" dirty="0" smtClean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Kontrolni signali su generisani tokom istog takt ciklusa tokom kojeg se dati podaci obrađuju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Sve u vezi sa instrukcijom događa se u jednom taktnom ciklusu. 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(</a:t>
            </a:r>
            <a:r>
              <a:rPr lang="sr-Latn-RS" dirty="0" smtClean="0">
                <a:solidFill>
                  <a:srgbClr val="FF0000"/>
                </a:solidFill>
                <a:ea typeface="ＭＳ Ｐゴシック" pitchFamily="34" charset="-128"/>
              </a:rPr>
              <a:t>serijska obrada</a:t>
            </a:r>
            <a:r>
              <a:rPr lang="en-US" dirty="0" smtClean="0">
                <a:solidFill>
                  <a:srgbClr val="FF0000"/>
                </a:solidFill>
                <a:ea typeface="ＭＳ Ｐゴシック" pitchFamily="34" charset="-128"/>
              </a:rPr>
              <a:t>)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Višeciklusne mašine</a:t>
            </a:r>
            <a:r>
              <a:rPr lang="en-US" dirty="0" smtClean="0"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Kontrolni signali za sledeći ciklus mogu se generisati u aktuelnom ciklusu.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Kašnjenje u kreiranju kontrola može se poravnati sa kašnjenjem obrade podataka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(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potencijal za veći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paraleli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zam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C20721-4348-4108-AF34-45C5E0C92E42}" type="slidenum">
              <a:rPr lang="en-US"/>
              <a:pPr/>
              <a:t>47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sz="3600" dirty="0" smtClean="0">
                <a:ea typeface="ＭＳ Ｐゴシック" pitchFamily="34" charset="-128"/>
              </a:rPr>
              <a:t>Realizacija putanje podataka </a:t>
            </a:r>
            <a:br>
              <a:rPr lang="sr-Latn-RS" sz="3600" dirty="0" smtClean="0">
                <a:ea typeface="ＭＳ Ｐゴシック" pitchFamily="34" charset="-128"/>
              </a:rPr>
            </a:br>
            <a:r>
              <a:rPr lang="sr-Latn-RS" sz="3600" dirty="0" smtClean="0">
                <a:ea typeface="ＭＳ Ｐゴシック" pitchFamily="34" charset="-128"/>
              </a:rPr>
              <a:t>i upravljačke jedinice</a:t>
            </a:r>
            <a:endParaRPr lang="en-US" sz="3600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Postoji više realizacija putanje podataka i upravljačke jedinice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J</a:t>
            </a:r>
            <a:r>
              <a:rPr lang="sr-Latn-RS" dirty="0" smtClean="0">
                <a:ea typeface="ＭＳ Ｐゴシック" pitchFamily="34" charset="-128"/>
              </a:rPr>
              <a:t>ednociklusna, višeciklusna, protočna (pipelined) putanja podataka i upravljačka jedinica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Sa jednom ili više magistrala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Hardverska/kombinaciona naspram mikrokodovane/mikroprogramske upravljačke jedinice: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Kontrolni signali generisani kombinacionom logikom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Kontrolni signali upamćeni u memorijskoj strukturi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Kontrolni signali i njihova struktura su prilagođeni dizajnu putanje podataka</a:t>
            </a: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4ACDBE-A081-4A3D-9142-1FB2123F6D79}" type="slidenum">
              <a:rPr lang="en-US"/>
              <a:pPr/>
              <a:t>48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Analiza performansi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3700"/>
            <a:ext cx="8610600" cy="5194300"/>
          </a:xfrm>
        </p:spPr>
        <p:txBody>
          <a:bodyPr>
            <a:normAutofit lnSpcReduction="100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Vreme potrebno za izvršenje instrukcije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{CPI}  x  {</a:t>
            </a:r>
            <a:r>
              <a:rPr lang="sr-Latn-RS" dirty="0" smtClean="0">
                <a:ea typeface="ＭＳ Ｐゴシック" pitchFamily="34" charset="-128"/>
              </a:rPr>
              <a:t>T</a:t>
            </a:r>
            <a:r>
              <a:rPr lang="en-US" dirty="0" err="1" smtClean="0">
                <a:ea typeface="ＭＳ Ｐゴシック" pitchFamily="34" charset="-128"/>
              </a:rPr>
              <a:t>clk</a:t>
            </a:r>
            <a:r>
              <a:rPr lang="en-US" dirty="0" smtClean="0">
                <a:ea typeface="ＭＳ Ｐゴシック" pitchFamily="34" charset="-128"/>
              </a:rPr>
              <a:t>} </a:t>
            </a:r>
          </a:p>
          <a:p>
            <a:pPr lvl="1"/>
            <a:endParaRPr lang="en-US" sz="400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Vreme potrebno za izvršenje</a:t>
            </a:r>
            <a:r>
              <a:rPr lang="en-US" dirty="0" smtClean="0">
                <a:ea typeface="ＭＳ Ｐゴシック" pitchFamily="34" charset="-128"/>
              </a:rPr>
              <a:t> program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Suma svih vremena u programu</a:t>
            </a:r>
            <a:r>
              <a:rPr lang="en-US" dirty="0" smtClean="0">
                <a:ea typeface="ＭＳ Ｐゴシック" pitchFamily="34" charset="-128"/>
              </a:rPr>
              <a:t> [{CPI}  x  {</a:t>
            </a:r>
            <a:r>
              <a:rPr lang="sr-Latn-RS" dirty="0" smtClean="0">
                <a:ea typeface="ＭＳ Ｐゴシック" pitchFamily="34" charset="-128"/>
              </a:rPr>
              <a:t>T</a:t>
            </a:r>
            <a:r>
              <a:rPr lang="en-US" dirty="0" err="1" smtClean="0">
                <a:ea typeface="ＭＳ Ｐゴシック" pitchFamily="34" charset="-128"/>
              </a:rPr>
              <a:t>clk</a:t>
            </a:r>
            <a:r>
              <a:rPr lang="en-US" dirty="0" smtClean="0">
                <a:ea typeface="ＭＳ Ｐゴシック" pitchFamily="34" charset="-128"/>
              </a:rPr>
              <a:t>}]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{#</a:t>
            </a:r>
            <a:r>
              <a:rPr lang="sr-Latn-RS" dirty="0" smtClean="0">
                <a:ea typeface="ＭＳ Ｐゴシック" pitchFamily="34" charset="-128"/>
              </a:rPr>
              <a:t> instrukcija</a:t>
            </a:r>
            <a:r>
              <a:rPr lang="en-US" dirty="0" smtClean="0">
                <a:ea typeface="ＭＳ Ｐゴシック" pitchFamily="34" charset="-128"/>
              </a:rPr>
              <a:t>}  x  {</a:t>
            </a:r>
            <a:r>
              <a:rPr lang="sr-Latn-RS" dirty="0" smtClean="0">
                <a:ea typeface="ＭＳ Ｐゴシック" pitchFamily="34" charset="-128"/>
              </a:rPr>
              <a:t>Srednja vrednost</a:t>
            </a:r>
            <a:r>
              <a:rPr lang="en-US" dirty="0" smtClean="0">
                <a:ea typeface="ＭＳ Ｐゴシック" pitchFamily="34" charset="-128"/>
              </a:rPr>
              <a:t> CPI}  x  {</a:t>
            </a:r>
            <a:r>
              <a:rPr lang="sr-Latn-RS" dirty="0" smtClean="0">
                <a:ea typeface="ＭＳ Ｐゴシック" pitchFamily="34" charset="-128"/>
              </a:rPr>
              <a:t>T</a:t>
            </a:r>
            <a:r>
              <a:rPr lang="en-US" dirty="0" err="1" smtClean="0">
                <a:ea typeface="ＭＳ Ｐゴシック" pitchFamily="34" charset="-128"/>
              </a:rPr>
              <a:t>clk</a:t>
            </a:r>
            <a:r>
              <a:rPr lang="en-US" dirty="0" smtClean="0">
                <a:ea typeface="ＭＳ Ｐゴシック" pitchFamily="34" charset="-128"/>
              </a:rPr>
              <a:t>}</a:t>
            </a: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Performanse jednociklusne mirkoarhitekture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CPI = 1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Tclk traje dugo</a:t>
            </a:r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Performanse višeciklusne mirkoarhitekture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ea typeface="ＭＳ Ｐゴシック" pitchFamily="34" charset="-128"/>
              </a:rPr>
              <a:t>CPI </a:t>
            </a:r>
            <a:r>
              <a:rPr lang="sr-Latn-RS" dirty="0" smtClean="0">
                <a:ea typeface="ＭＳ Ｐゴシック" pitchFamily="34" charset="-128"/>
              </a:rPr>
              <a:t>nije isto za sve instrukcije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sr-Latn-RS" dirty="0" smtClean="0">
                <a:ea typeface="ＭＳ Ｐゴシック" pitchFamily="34" charset="-128"/>
              </a:rPr>
              <a:t>Srednja vrednost</a:t>
            </a:r>
            <a:r>
              <a:rPr lang="en-US" dirty="0" smtClean="0">
                <a:ea typeface="ＭＳ Ｐゴシック" pitchFamily="34" charset="-128"/>
              </a:rPr>
              <a:t> CPI</a:t>
            </a:r>
            <a:r>
              <a:rPr lang="sr-Latn-RS" dirty="0" smtClean="0">
                <a:ea typeface="ＭＳ Ｐゴシック" pitchFamily="34" charset="-128"/>
              </a:rPr>
              <a:t> biva relativno mala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Tclk traje kratko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CF4681-F94F-48E0-926F-8C19930B6899}" type="slidenum">
              <a:rPr lang="en-US"/>
              <a:pPr/>
              <a:t>49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012160" y="5733256"/>
            <a:ext cx="28737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r-Latn-RS" b="1" dirty="0" smtClean="0">
                <a:solidFill>
                  <a:srgbClr val="FF0000"/>
                </a:solidFill>
              </a:rPr>
              <a:t>Imamo dva stepena slobode</a:t>
            </a:r>
            <a:br>
              <a:rPr lang="sr-Latn-RS" b="1" dirty="0" smtClean="0">
                <a:solidFill>
                  <a:srgbClr val="FF0000"/>
                </a:solidFill>
              </a:rPr>
            </a:br>
            <a:r>
              <a:rPr lang="sr-Latn-RS" b="1" dirty="0" smtClean="0">
                <a:solidFill>
                  <a:srgbClr val="FF0000"/>
                </a:solidFill>
              </a:rPr>
              <a:t>za optimizaciju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Mikrorpogramska višeciklusna mikroarhitektura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610600" cy="4834260"/>
          </a:xfrm>
        </p:spPr>
        <p:txBody>
          <a:bodyPr/>
          <a:lstStyle/>
          <a:p>
            <a:r>
              <a:rPr lang="sr-Latn-RS" sz="2600" dirty="0" smtClean="0">
                <a:ea typeface="ＭＳ Ｐゴシック" pitchFamily="34" charset="-128"/>
              </a:rPr>
              <a:t>Osnovna ideja relizacije</a:t>
            </a:r>
            <a:endParaRPr lang="en-US" sz="2600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Svaki korak izvršavanja instrukcije može se implementirati kao stanje u okviru mašine stanja</a:t>
            </a:r>
            <a:endParaRPr lang="en-US" sz="2400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sz="2400" dirty="0" smtClean="0">
                <a:ea typeface="ＭＳ Ｐゴシック" pitchFamily="34" charset="-128"/>
              </a:rPr>
              <a:t>Stanje u okviru mašine stanja diktira kontrolne signale</a:t>
            </a:r>
            <a:endParaRPr lang="en-US" sz="2400" dirty="0" smtClean="0">
              <a:ea typeface="ＭＳ Ｐゴシック" pitchFamily="34" charset="-128"/>
            </a:endParaRPr>
          </a:p>
          <a:p>
            <a:pPr lvl="1">
              <a:buNone/>
            </a:pP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FA3202-5DF0-46DC-A556-879F97FD3BF7}" type="slidenum">
              <a:rPr lang="en-US"/>
              <a:pPr/>
              <a:t>50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>
                <a:ea typeface="ＭＳ Ｐゴシック" pitchFamily="34" charset="-128"/>
              </a:rPr>
              <a:t>Koraci pri izvršenju instrukcije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2743200" y="2216150"/>
            <a:ext cx="6293296" cy="2965450"/>
          </a:xfrm>
        </p:spPr>
        <p:txBody>
          <a:bodyPr>
            <a:normAutofit/>
          </a:bodyPr>
          <a:lstStyle/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Prihvat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Fetch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Dekodiranje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Decode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Sračunavanje adrese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Evaluate Address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Prihvat operanada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Fetch Operands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Izvršenje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Execute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Smeštanje rezultata (</a:t>
            </a:r>
            <a:r>
              <a:rPr lang="en-US" sz="2300" dirty="0" smtClean="0">
                <a:solidFill>
                  <a:srgbClr val="0000FF"/>
                </a:solidFill>
                <a:ea typeface="ＭＳ Ｐゴシック" pitchFamily="34" charset="-128"/>
              </a:rPr>
              <a:t>Store Result</a:t>
            </a:r>
            <a:r>
              <a:rPr lang="sr-Latn-RS" sz="2300" dirty="0" smtClean="0">
                <a:solidFill>
                  <a:srgbClr val="0000FF"/>
                </a:solidFill>
                <a:ea typeface="ＭＳ Ｐゴシック" pitchFamily="34" charset="-128"/>
              </a:rPr>
              <a:t>)</a:t>
            </a:r>
            <a:endParaRPr lang="en-US" sz="2300" dirty="0" smtClean="0">
              <a:solidFill>
                <a:srgbClr val="0000FF"/>
              </a:solidFill>
              <a:ea typeface="ＭＳ Ｐゴシック" pitchFamily="34" charset="-128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CA1ABF-0E1D-43B2-A85E-9AF439A1A422}" type="slidenum">
              <a:rPr lang="en-US"/>
              <a:pPr/>
              <a:t>51</a:t>
            </a:fld>
            <a:endParaRPr lang="en-US"/>
          </a:p>
        </p:txBody>
      </p:sp>
      <p:sp>
        <p:nvSpPr>
          <p:cNvPr id="60420" name="Freeform 5"/>
          <p:cNvSpPr>
            <a:spLocks/>
          </p:cNvSpPr>
          <p:nvPr/>
        </p:nvSpPr>
        <p:spPr bwMode="auto">
          <a:xfrm>
            <a:off x="3860800" y="1768475"/>
            <a:ext cx="423863" cy="3487738"/>
          </a:xfrm>
          <a:custGeom>
            <a:avLst/>
            <a:gdLst>
              <a:gd name="T0" fmla="*/ 423333 w 423916"/>
              <a:gd name="T1" fmla="*/ 2973628 h 3486760"/>
              <a:gd name="T2" fmla="*/ 553 w 423916"/>
              <a:gd name="T3" fmla="*/ 1273 h 3486760"/>
              <a:gd name="T4" fmla="*/ 333650 w 423916"/>
              <a:gd name="T5" fmla="*/ 3282442 h 3486760"/>
              <a:gd name="T6" fmla="*/ 333650 w 423916"/>
              <a:gd name="T7" fmla="*/ 3192372 h 34867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23916" h="3486760">
                <a:moveTo>
                  <a:pt x="423916" y="2964468"/>
                </a:moveTo>
                <a:cubicBezTo>
                  <a:pt x="219718" y="1457215"/>
                  <a:pt x="15520" y="-50038"/>
                  <a:pt x="553" y="1273"/>
                </a:cubicBezTo>
                <a:cubicBezTo>
                  <a:pt x="-14414" y="52584"/>
                  <a:pt x="278519" y="2742121"/>
                  <a:pt x="334112" y="3272332"/>
                </a:cubicBezTo>
                <a:cubicBezTo>
                  <a:pt x="389705" y="3802543"/>
                  <a:pt x="334112" y="3182539"/>
                  <a:pt x="334112" y="3182539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1" name="Freeform 1"/>
          <p:cNvSpPr>
            <a:spLocks/>
          </p:cNvSpPr>
          <p:nvPr/>
        </p:nvSpPr>
        <p:spPr bwMode="auto">
          <a:xfrm>
            <a:off x="1865313" y="4645025"/>
            <a:ext cx="2863850" cy="1147763"/>
          </a:xfrm>
          <a:custGeom>
            <a:avLst/>
            <a:gdLst>
              <a:gd name="T0" fmla="*/ 2863599 w 2863878"/>
              <a:gd name="T1" fmla="*/ 629910 h 1147614"/>
              <a:gd name="T2" fmla="*/ 2837682 w 2863878"/>
              <a:gd name="T3" fmla="*/ 720732 h 1147614"/>
              <a:gd name="T4" fmla="*/ 2811775 w 2863878"/>
              <a:gd name="T5" fmla="*/ 824530 h 1147614"/>
              <a:gd name="T6" fmla="*/ 2798816 w 2863878"/>
              <a:gd name="T7" fmla="*/ 863454 h 1147614"/>
              <a:gd name="T8" fmla="*/ 2772898 w 2863878"/>
              <a:gd name="T9" fmla="*/ 902378 h 1147614"/>
              <a:gd name="T10" fmla="*/ 2682197 w 2863878"/>
              <a:gd name="T11" fmla="*/ 954279 h 1147614"/>
              <a:gd name="T12" fmla="*/ 2604455 w 2863878"/>
              <a:gd name="T13" fmla="*/ 1006179 h 1147614"/>
              <a:gd name="T14" fmla="*/ 2565579 w 2863878"/>
              <a:gd name="T15" fmla="*/ 1032127 h 1147614"/>
              <a:gd name="T16" fmla="*/ 2539661 w 2863878"/>
              <a:gd name="T17" fmla="*/ 1058073 h 1147614"/>
              <a:gd name="T18" fmla="*/ 2500795 w 2863878"/>
              <a:gd name="T19" fmla="*/ 1071051 h 1147614"/>
              <a:gd name="T20" fmla="*/ 2358259 w 2863878"/>
              <a:gd name="T21" fmla="*/ 1096997 h 1147614"/>
              <a:gd name="T22" fmla="*/ 2241641 w 2863878"/>
              <a:gd name="T23" fmla="*/ 1135921 h 1147614"/>
              <a:gd name="T24" fmla="*/ 2060239 w 2863878"/>
              <a:gd name="T25" fmla="*/ 1148899 h 1147614"/>
              <a:gd name="T26" fmla="*/ 894062 w 2863878"/>
              <a:gd name="T27" fmla="*/ 1109975 h 1147614"/>
              <a:gd name="T28" fmla="*/ 829279 w 2863878"/>
              <a:gd name="T29" fmla="*/ 1084029 h 1147614"/>
              <a:gd name="T30" fmla="*/ 751536 w 2863878"/>
              <a:gd name="T31" fmla="*/ 1032127 h 1147614"/>
              <a:gd name="T32" fmla="*/ 673784 w 2863878"/>
              <a:gd name="T33" fmla="*/ 850476 h 1147614"/>
              <a:gd name="T34" fmla="*/ 479423 w 2863878"/>
              <a:gd name="T35" fmla="*/ 487183 h 1147614"/>
              <a:gd name="T36" fmla="*/ 298021 w 2863878"/>
              <a:gd name="T37" fmla="*/ 123890 h 1147614"/>
              <a:gd name="T38" fmla="*/ 233237 w 2863878"/>
              <a:gd name="T39" fmla="*/ 7118 h 1147614"/>
              <a:gd name="T40" fmla="*/ 298021 w 2863878"/>
              <a:gd name="T41" fmla="*/ 33064 h 1147614"/>
              <a:gd name="T42" fmla="*/ 375763 w 2863878"/>
              <a:gd name="T43" fmla="*/ 123890 h 1147614"/>
              <a:gd name="T44" fmla="*/ 194361 w 2863878"/>
              <a:gd name="T45" fmla="*/ 409335 h 1147614"/>
              <a:gd name="T46" fmla="*/ 0 w 2863878"/>
              <a:gd name="T47" fmla="*/ 435282 h 11476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863878" h="1147614">
                <a:moveTo>
                  <a:pt x="2863878" y="629090"/>
                </a:moveTo>
                <a:cubicBezTo>
                  <a:pt x="2855239" y="659325"/>
                  <a:pt x="2846064" y="689413"/>
                  <a:pt x="2837961" y="719796"/>
                </a:cubicBezTo>
                <a:cubicBezTo>
                  <a:pt x="2828783" y="754211"/>
                  <a:pt x="2823308" y="789670"/>
                  <a:pt x="2812044" y="823460"/>
                </a:cubicBezTo>
                <a:cubicBezTo>
                  <a:pt x="2807724" y="836418"/>
                  <a:pt x="2805194" y="850117"/>
                  <a:pt x="2799085" y="862334"/>
                </a:cubicBezTo>
                <a:cubicBezTo>
                  <a:pt x="2792120" y="876264"/>
                  <a:pt x="2784180" y="890196"/>
                  <a:pt x="2773167" y="901208"/>
                </a:cubicBezTo>
                <a:cubicBezTo>
                  <a:pt x="2750750" y="923623"/>
                  <a:pt x="2707869" y="937792"/>
                  <a:pt x="2682456" y="953039"/>
                </a:cubicBezTo>
                <a:cubicBezTo>
                  <a:pt x="2655746" y="969064"/>
                  <a:pt x="2630621" y="987594"/>
                  <a:pt x="2604704" y="1004871"/>
                </a:cubicBezTo>
                <a:cubicBezTo>
                  <a:pt x="2591745" y="1013510"/>
                  <a:pt x="2576841" y="1019775"/>
                  <a:pt x="2565828" y="1030787"/>
                </a:cubicBezTo>
                <a:cubicBezTo>
                  <a:pt x="2557189" y="1039426"/>
                  <a:pt x="2550386" y="1050417"/>
                  <a:pt x="2539910" y="1056703"/>
                </a:cubicBezTo>
                <a:cubicBezTo>
                  <a:pt x="2528197" y="1063730"/>
                  <a:pt x="2514286" y="1066348"/>
                  <a:pt x="2501034" y="1069661"/>
                </a:cubicBezTo>
                <a:cubicBezTo>
                  <a:pt x="2464809" y="1078717"/>
                  <a:pt x="2393151" y="1089800"/>
                  <a:pt x="2358488" y="1095577"/>
                </a:cubicBezTo>
                <a:cubicBezTo>
                  <a:pt x="2319612" y="1108535"/>
                  <a:pt x="2282233" y="1127430"/>
                  <a:pt x="2241860" y="1134451"/>
                </a:cubicBezTo>
                <a:cubicBezTo>
                  <a:pt x="2182128" y="1144839"/>
                  <a:pt x="2121055" y="1148575"/>
                  <a:pt x="2060438" y="1147409"/>
                </a:cubicBezTo>
                <a:cubicBezTo>
                  <a:pt x="1671532" y="1139930"/>
                  <a:pt x="1282914" y="1121493"/>
                  <a:pt x="894152" y="1108535"/>
                </a:cubicBezTo>
                <a:cubicBezTo>
                  <a:pt x="872554" y="1099896"/>
                  <a:pt x="849780" y="1093757"/>
                  <a:pt x="829359" y="1082619"/>
                </a:cubicBezTo>
                <a:cubicBezTo>
                  <a:pt x="802013" y="1067704"/>
                  <a:pt x="751606" y="1030787"/>
                  <a:pt x="751606" y="1030787"/>
                </a:cubicBezTo>
                <a:cubicBezTo>
                  <a:pt x="668400" y="919851"/>
                  <a:pt x="755002" y="1047726"/>
                  <a:pt x="673854" y="849376"/>
                </a:cubicBezTo>
                <a:cubicBezTo>
                  <a:pt x="628342" y="738129"/>
                  <a:pt x="531878" y="586800"/>
                  <a:pt x="479473" y="486553"/>
                </a:cubicBezTo>
                <a:cubicBezTo>
                  <a:pt x="416830" y="366721"/>
                  <a:pt x="359822" y="244014"/>
                  <a:pt x="298051" y="123730"/>
                </a:cubicBezTo>
                <a:cubicBezTo>
                  <a:pt x="277736" y="84171"/>
                  <a:pt x="233257" y="51579"/>
                  <a:pt x="233257" y="7108"/>
                </a:cubicBezTo>
                <a:cubicBezTo>
                  <a:pt x="233257" y="-16154"/>
                  <a:pt x="276453" y="24385"/>
                  <a:pt x="298051" y="33024"/>
                </a:cubicBezTo>
                <a:cubicBezTo>
                  <a:pt x="308470" y="43443"/>
                  <a:pt x="377465" y="108769"/>
                  <a:pt x="375803" y="123730"/>
                </a:cubicBezTo>
                <a:cubicBezTo>
                  <a:pt x="364135" y="228737"/>
                  <a:pt x="301799" y="364050"/>
                  <a:pt x="194381" y="408805"/>
                </a:cubicBezTo>
                <a:cubicBezTo>
                  <a:pt x="134042" y="433945"/>
                  <a:pt x="0" y="434721"/>
                  <a:pt x="0" y="434721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2" name="Freeform 2"/>
          <p:cNvSpPr>
            <a:spLocks/>
          </p:cNvSpPr>
          <p:nvPr/>
        </p:nvSpPr>
        <p:spPr bwMode="auto">
          <a:xfrm>
            <a:off x="622300" y="4081463"/>
            <a:ext cx="3395663" cy="1341437"/>
          </a:xfrm>
          <a:custGeom>
            <a:avLst/>
            <a:gdLst>
              <a:gd name="T0" fmla="*/ 3399959 w 3395186"/>
              <a:gd name="T1" fmla="*/ 919155 h 1341563"/>
              <a:gd name="T2" fmla="*/ 2712184 w 3395186"/>
              <a:gd name="T3" fmla="*/ 1320472 h 1341563"/>
              <a:gd name="T4" fmla="*/ 2712184 w 3395186"/>
              <a:gd name="T5" fmla="*/ 1268690 h 1341563"/>
              <a:gd name="T6" fmla="*/ 2257989 w 3395186"/>
              <a:gd name="T7" fmla="*/ 1178065 h 1341563"/>
              <a:gd name="T8" fmla="*/ 1933564 w 3395186"/>
              <a:gd name="T9" fmla="*/ 1126283 h 1341563"/>
              <a:gd name="T10" fmla="*/ 0 w 3395186"/>
              <a:gd name="T11" fmla="*/ 0 h 13415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395186" h="1341563">
                <a:moveTo>
                  <a:pt x="3395186" y="920015"/>
                </a:moveTo>
                <a:cubicBezTo>
                  <a:pt x="3109014" y="1091708"/>
                  <a:pt x="2822842" y="1263401"/>
                  <a:pt x="2708373" y="1321712"/>
                </a:cubicBezTo>
                <a:cubicBezTo>
                  <a:pt x="2593904" y="1380023"/>
                  <a:pt x="2783965" y="1293636"/>
                  <a:pt x="2708373" y="1269880"/>
                </a:cubicBezTo>
                <a:cubicBezTo>
                  <a:pt x="2632781" y="1246124"/>
                  <a:pt x="2384405" y="1202931"/>
                  <a:pt x="2254818" y="1179175"/>
                </a:cubicBezTo>
                <a:cubicBezTo>
                  <a:pt x="2125231" y="1155419"/>
                  <a:pt x="2306653" y="1323872"/>
                  <a:pt x="1930850" y="1127343"/>
                </a:cubicBezTo>
                <a:cubicBezTo>
                  <a:pt x="1555047" y="930814"/>
                  <a:pt x="0" y="0"/>
                  <a:pt x="0" y="0"/>
                </a:cubicBez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Arc 3"/>
          <p:cNvSpPr/>
          <p:nvPr/>
        </p:nvSpPr>
        <p:spPr bwMode="auto">
          <a:xfrm>
            <a:off x="755576" y="1340768"/>
            <a:ext cx="2895600" cy="4724400"/>
          </a:xfrm>
          <a:prstGeom prst="arc">
            <a:avLst>
              <a:gd name="adj1" fmla="val 2753529"/>
              <a:gd name="adj2" fmla="val 18472682"/>
            </a:avLst>
          </a:prstGeom>
          <a:noFill/>
          <a:ln w="603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Elementarna </a:t>
            </a:r>
            <a:r>
              <a:rPr lang="sr-Latn-RS" dirty="0" smtClean="0">
                <a:ea typeface="ＭＳ Ｐゴシック" pitchFamily="34" charset="-128"/>
              </a:rPr>
              <a:t/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višeciklusna </a:t>
            </a:r>
            <a:r>
              <a:rPr lang="sr-Latn-RS" dirty="0" smtClean="0">
                <a:ea typeface="ＭＳ Ｐゴシック" pitchFamily="34" charset="-128"/>
              </a:rPr>
              <a:t>mikroarhitektura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63700"/>
            <a:ext cx="8610600" cy="51943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Izvršavanje instrukcije podeljeno u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altLang="en-US" dirty="0" smtClean="0">
                <a:solidFill>
                  <a:srgbClr val="0000FF"/>
                </a:solidFill>
                <a:ea typeface="ＭＳ Ｐゴシック" pitchFamily="34" charset="-128"/>
              </a:rPr>
              <a:t>“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sta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nja</a:t>
            </a:r>
            <a:r>
              <a:rPr lang="en-US" altLang="en-US" dirty="0" smtClean="0">
                <a:solidFill>
                  <a:srgbClr val="0000FF"/>
                </a:solidFill>
                <a:ea typeface="ＭＳ Ｐゴシック" pitchFamily="34" charset="-128"/>
              </a:rPr>
              <a:t>”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marL="695325" lvl="2" indent="-342900"/>
            <a:r>
              <a:rPr lang="sr-Latn-RS" dirty="0" smtClean="0">
                <a:ea typeface="ＭＳ Ｐゴシック" pitchFamily="34" charset="-128"/>
              </a:rPr>
              <a:t>Svaki korak u izvršavanju instrukcije može alocirati i više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od</a:t>
            </a:r>
            <a:r>
              <a:rPr lang="sr-Latn-RS" dirty="0" smtClean="0">
                <a:ea typeface="ＭＳ Ｐゴシック" pitchFamily="34" charset="-128"/>
              </a:rPr>
              <a:t> jednog stanja</a:t>
            </a:r>
            <a:endParaRPr lang="en-US" dirty="0" smtClean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 smtClean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</a:rPr>
              <a:t>Vi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šeciklusna </a:t>
            </a:r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 smtClean="0">
                <a:solidFill>
                  <a:srgbClr val="0000FF"/>
                </a:solidFill>
                <a:ea typeface="ＭＳ Ｐゴシック" pitchFamily="34" charset="-128"/>
              </a:rPr>
              <a:t>roarhite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 smtClean="0">
                <a:solidFill>
                  <a:srgbClr val="0000FF"/>
                </a:solidFill>
                <a:ea typeface="ＭＳ Ｐゴシック" pitchFamily="34" charset="-128"/>
              </a:rPr>
              <a:t>tur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a</a:t>
            </a:r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prolazi kroz stanja prilikom izvršavanja</a:t>
            </a:r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ea typeface="ＭＳ Ｐゴシック" pitchFamily="34" charset="-128"/>
              </a:rPr>
              <a:t>instru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sz="2400" dirty="0" err="1" smtClean="0">
                <a:solidFill>
                  <a:srgbClr val="0000FF"/>
                </a:solidFill>
                <a:ea typeface="ＭＳ Ｐゴシック" pitchFamily="34" charset="-128"/>
              </a:rPr>
              <a:t>ci</a:t>
            </a: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je</a:t>
            </a:r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</a:p>
          <a:p>
            <a:pPr marL="695325" lvl="2" indent="-342900"/>
            <a:r>
              <a:rPr lang="sr-Latn-RS" dirty="0" smtClean="0">
                <a:ea typeface="ＭＳ Ｐゴシック" pitchFamily="34" charset="-128"/>
              </a:rPr>
              <a:t>Ponašanje mašine u okviru nekog stanja je determinisano kontrolnim signalima tog stanja</a:t>
            </a:r>
            <a:endParaRPr lang="en-US" dirty="0" smtClean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 smtClean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sr-Latn-RS" sz="2400" dirty="0" smtClean="0">
                <a:solidFill>
                  <a:srgbClr val="0000FF"/>
                </a:solidFill>
                <a:ea typeface="ＭＳ Ｐゴシック" pitchFamily="34" charset="-128"/>
              </a:rPr>
              <a:t>Ponašanje celokupnog procesora je potpuno determinisano mašinom sa konačnim brojem stanja</a:t>
            </a:r>
            <a:endParaRPr lang="en-US" sz="2400" i="1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600" dirty="0" smtClean="0"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sr-Latn-RS" sz="2400" dirty="0" smtClean="0">
                <a:ea typeface="ＭＳ Ｐゴシック" pitchFamily="34" charset="-128"/>
              </a:rPr>
              <a:t>U okviru stanja </a:t>
            </a:r>
            <a:r>
              <a:rPr lang="en-US" sz="2400" dirty="0" smtClean="0">
                <a:ea typeface="ＭＳ Ｐゴシック" pitchFamily="34" charset="-128"/>
              </a:rPr>
              <a:t>(</a:t>
            </a:r>
            <a:r>
              <a:rPr lang="sr-Latn-RS" sz="2400" dirty="0" smtClean="0">
                <a:ea typeface="ＭＳ Ｐゴシック" pitchFamily="34" charset="-128"/>
              </a:rPr>
              <a:t>ciklusa takta</a:t>
            </a:r>
            <a:r>
              <a:rPr lang="en-US" sz="2400" dirty="0" smtClean="0">
                <a:ea typeface="ＭＳ Ｐゴシック" pitchFamily="34" charset="-128"/>
              </a:rPr>
              <a:t>), </a:t>
            </a:r>
            <a:r>
              <a:rPr lang="sr-Latn-RS" sz="2400" dirty="0" smtClean="0">
                <a:ea typeface="ＭＳ Ｐゴシック" pitchFamily="34" charset="-128"/>
              </a:rPr>
              <a:t> kontrolni signali kontrolišu dve stvari</a:t>
            </a:r>
            <a:r>
              <a:rPr lang="en-US" sz="2400" dirty="0" smtClean="0">
                <a:ea typeface="ＭＳ Ｐゴシック" pitchFamily="34" charset="-128"/>
              </a:rPr>
              <a:t>:</a:t>
            </a:r>
          </a:p>
          <a:p>
            <a:pPr marL="695325" lvl="2" indent="-342900"/>
            <a:r>
              <a:rPr lang="sr-Latn-RS" sz="2200" dirty="0" smtClean="0">
                <a:ea typeface="ＭＳ Ｐゴシック" pitchFamily="34" charset="-128"/>
              </a:rPr>
              <a:t>Kako putanja podataka obrađuje podatke</a:t>
            </a:r>
            <a:endParaRPr lang="en-US" sz="2200" dirty="0" smtClean="0">
              <a:ea typeface="ＭＳ Ｐゴシック" pitchFamily="34" charset="-128"/>
            </a:endParaRPr>
          </a:p>
          <a:p>
            <a:pPr marL="695325" lvl="2" indent="-342900"/>
            <a:r>
              <a:rPr lang="sr-Latn-RS" sz="2200" dirty="0" smtClean="0">
                <a:ea typeface="ＭＳ Ｐゴシック" pitchFamily="34" charset="-128"/>
              </a:rPr>
              <a:t>Kako se generišu kontrolni signalli za naredni ciklus takta (</a:t>
            </a:r>
            <a:r>
              <a:rPr lang="sr-Latn-RS" sz="2200" dirty="0" smtClean="0">
                <a:solidFill>
                  <a:srgbClr val="FF0000"/>
                </a:solidFill>
                <a:ea typeface="ＭＳ Ｐゴシック" pitchFamily="34" charset="-128"/>
              </a:rPr>
              <a:t>dobra praksa savremenih procesora</a:t>
            </a:r>
            <a:r>
              <a:rPr lang="sr-Latn-RS" sz="2200" dirty="0" smtClean="0">
                <a:ea typeface="ＭＳ Ｐゴシック" pitchFamily="34" charset="-128"/>
              </a:rPr>
              <a:t>)</a:t>
            </a:r>
            <a:endParaRPr lang="en-US" sz="2200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5A4E8B-5B0E-4D37-BB23-148576C7F2E6}" type="slidenum">
              <a:rPr lang="en-US"/>
              <a:pPr/>
              <a:t>52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Mikroprogramska </a:t>
            </a:r>
            <a:r>
              <a:rPr lang="sr-Latn-RS" dirty="0" smtClean="0">
                <a:ea typeface="ＭＳ Ｐゴシック" pitchFamily="34" charset="-128"/>
              </a:rPr>
              <a:t/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kontrolna </a:t>
            </a:r>
            <a:r>
              <a:rPr lang="sr-Latn-RS" dirty="0" smtClean="0">
                <a:ea typeface="ＭＳ Ｐゴシック" pitchFamily="34" charset="-128"/>
              </a:rPr>
              <a:t>terminologija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63700"/>
            <a:ext cx="8610600" cy="51943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 smtClean="0">
                <a:ea typeface="ＭＳ Ｐゴシック" pitchFamily="34" charset="-128"/>
              </a:rPr>
              <a:t>Kontrolni signali pridruženi aktuelnom stanju mašine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Mi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kroinstrukcija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ea typeface="ＭＳ Ｐゴシック" pitchFamily="34" charset="-128"/>
              </a:rPr>
              <a:t>Tranzicija iz jednog u naredno stanje mašine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ea typeface="ＭＳ Ｐゴシック" pitchFamily="34" charset="-128"/>
              </a:rPr>
              <a:t>Opredeljuje u koje naredno stanje se ulazi, a takođe i </a:t>
            </a:r>
            <a:r>
              <a:rPr lang="en-US" dirty="0" smtClean="0">
                <a:ea typeface="ＭＳ Ｐゴシック" pitchFamily="34" charset="-128"/>
              </a:rPr>
              <a:t> 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roinstru</a:t>
            </a:r>
            <a:r>
              <a:rPr lang="sr-Latn-RS" dirty="0" smtClean="0">
                <a:ea typeface="ＭＳ Ｐゴシック" pitchFamily="34" charset="-128"/>
              </a:rPr>
              <a:t>kciju za naredno stanje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Mikrosekvenca</a:t>
            </a:r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Kontrolna memorija </a:t>
            </a:r>
            <a:r>
              <a:rPr lang="sr-Latn-RS" dirty="0" smtClean="0">
                <a:ea typeface="ＭＳ Ｐゴシック" pitchFamily="34" charset="-128"/>
              </a:rPr>
              <a:t>čuva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vrednosti kontrolnih </a:t>
            </a:r>
            <a:r>
              <a:rPr lang="en-US" dirty="0" smtClean="0">
                <a:ea typeface="ＭＳ Ｐゴシック" pitchFamily="34" charset="-128"/>
              </a:rPr>
              <a:t>signal</a:t>
            </a:r>
            <a:r>
              <a:rPr lang="sr-Latn-RS" dirty="0" smtClean="0">
                <a:ea typeface="ＭＳ Ｐゴシック" pitchFamily="34" charset="-128"/>
              </a:rPr>
              <a:t>a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za svako moguće stanje mašine</a:t>
            </a:r>
          </a:p>
          <a:p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Mikrosekvencer (kontroler)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opredeljuje koji kontrolni signali će biti aktivni u zahtevanom ciklusu takta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FCD34-CD62-4416-960E-4D8EC056620D}" type="slidenum">
              <a:rPr lang="en-US"/>
              <a:pPr/>
              <a:t>53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Šta se događa tokom </a:t>
            </a:r>
            <a:br>
              <a:rPr lang="sr-Latn-RS" dirty="0" smtClean="0">
                <a:ea typeface="ＭＳ Ｐゴシック" pitchFamily="34" charset="-128"/>
              </a:rPr>
            </a:br>
            <a:r>
              <a:rPr lang="sr-Latn-RS" dirty="0" smtClean="0">
                <a:ea typeface="ＭＳ Ｐゴシック" pitchFamily="34" charset="-128"/>
              </a:rPr>
              <a:t>jednog ciklusa takta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60848"/>
            <a:ext cx="8610600" cy="4104456"/>
          </a:xfrm>
        </p:spPr>
        <p:txBody>
          <a:bodyPr>
            <a:normAutofit/>
          </a:bodyPr>
          <a:lstStyle/>
          <a:p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Kontrolni signali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 (mi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</a:t>
            </a:r>
            <a:r>
              <a:rPr lang="en-US" dirty="0" err="1" smtClean="0">
                <a:solidFill>
                  <a:srgbClr val="0000FF"/>
                </a:solidFill>
                <a:ea typeface="ＭＳ Ｐゴシック" pitchFamily="34" charset="-128"/>
              </a:rPr>
              <a:t>roinstru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kcije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) </a:t>
            </a:r>
            <a:r>
              <a:rPr lang="sr-Latn-RS" dirty="0" smtClean="0">
                <a:solidFill>
                  <a:srgbClr val="0000FF"/>
                </a:solidFill>
                <a:ea typeface="ＭＳ Ｐゴシック" pitchFamily="34" charset="-128"/>
              </a:rPr>
              <a:t>aktuelnog stanja mašine kontrolišu dve stvari</a:t>
            </a:r>
            <a:r>
              <a:rPr lang="en-US" dirty="0" smtClean="0">
                <a:solidFill>
                  <a:srgbClr val="0000FF"/>
                </a:solidFill>
                <a:ea typeface="ＭＳ Ｐゴシック" pitchFamily="34" charset="-128"/>
              </a:rPr>
              <a:t>:</a:t>
            </a:r>
          </a:p>
          <a:p>
            <a:pPr lvl="1"/>
            <a:r>
              <a:rPr lang="sr-Latn-RS" dirty="0" smtClean="0">
                <a:ea typeface="ＭＳ Ｐゴシック" pitchFamily="34" charset="-128"/>
              </a:rPr>
              <a:t>Obradu u putanji podataka</a:t>
            </a:r>
            <a:endParaRPr lang="en-US" dirty="0" smtClean="0">
              <a:ea typeface="ＭＳ Ｐゴシック" pitchFamily="34" charset="-128"/>
            </a:endParaRPr>
          </a:p>
          <a:p>
            <a:pPr lvl="1"/>
            <a:r>
              <a:rPr lang="en-US" dirty="0" err="1" smtClean="0">
                <a:ea typeface="ＭＳ Ｐゴシック" pitchFamily="34" charset="-128"/>
              </a:rPr>
              <a:t>Gener</a:t>
            </a:r>
            <a:r>
              <a:rPr lang="sr-Latn-RS" dirty="0" smtClean="0">
                <a:ea typeface="ＭＳ Ｐゴシック" pitchFamily="34" charset="-128"/>
              </a:rPr>
              <a:t>isanje kontrolnih signala</a:t>
            </a:r>
            <a:r>
              <a:rPr lang="en-US" dirty="0" smtClean="0">
                <a:ea typeface="ＭＳ Ｐゴシック" pitchFamily="34" charset="-128"/>
              </a:rPr>
              <a:t> (mi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roinstru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ci</a:t>
            </a:r>
            <a:r>
              <a:rPr lang="sr-Latn-RS" dirty="0" smtClean="0">
                <a:ea typeface="ＭＳ Ｐゴシック" pitchFamily="34" charset="-128"/>
              </a:rPr>
              <a:t>ja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pPr lvl="1"/>
            <a:r>
              <a:rPr lang="sr-Latn-RS" i="1" dirty="0" smtClean="0">
                <a:ea typeface="ＭＳ Ｐゴシック" pitchFamily="34" charset="-128"/>
              </a:rPr>
              <a:t>Prateće slike na sledećim slajdovima</a:t>
            </a:r>
            <a:endParaRPr lang="en-US" i="1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None/>
            </a:pPr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A437E9-79AE-42B9-8998-B5FF6215E844}" type="slidenum">
              <a:rPr lang="en-US"/>
              <a:pPr/>
              <a:t>54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313384" y="2708920"/>
            <a:ext cx="6858000" cy="1440160"/>
          </a:xfrm>
        </p:spPr>
        <p:txBody>
          <a:bodyPr/>
          <a:lstStyle/>
          <a:p>
            <a:r>
              <a:rPr lang="sr-Latn-RS" dirty="0" smtClean="0"/>
              <a:t>Primer SAP-1 Malvino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0"/>
            <a:ext cx="60484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677988" y="2857500"/>
            <a:ext cx="6858000" cy="1143000"/>
          </a:xfrm>
        </p:spPr>
        <p:txBody>
          <a:bodyPr/>
          <a:lstStyle/>
          <a:p>
            <a:r>
              <a:rPr lang="sr-Latn-RS" dirty="0" smtClean="0"/>
              <a:t>Primer LC-3 Patt,Patel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67332"/>
            <a:ext cx="7524328" cy="6587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r>
              <a:rPr lang="sr-Latn-RS" dirty="0" smtClean="0"/>
              <a:t>Višeciklusna mikroarhitektura </a:t>
            </a:r>
            <a:r>
              <a:rPr lang="sr-Latn-RS" dirty="0" smtClean="0"/>
              <a:t>- </a:t>
            </a:r>
            <a:r>
              <a:rPr lang="sr-Latn-RS" dirty="0" smtClean="0"/>
              <a:t>uopšteno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803210"/>
            <a:ext cx="4680520" cy="6054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48680"/>
          </a:xfrm>
        </p:spPr>
        <p:txBody>
          <a:bodyPr>
            <a:normAutofit/>
          </a:bodyPr>
          <a:lstStyle/>
          <a:p>
            <a:r>
              <a:rPr lang="en-US" dirty="0" smtClean="0"/>
              <a:t>M</a:t>
            </a:r>
            <a:r>
              <a:rPr lang="sr-Latn-RS" dirty="0" smtClean="0"/>
              <a:t>ikroprogramska upravljačka jedinica 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2663" b="3086"/>
          <a:stretch>
            <a:fillRect/>
          </a:stretch>
        </p:blipFill>
        <p:spPr bwMode="auto">
          <a:xfrm>
            <a:off x="1187624" y="1097360"/>
            <a:ext cx="7197962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/>
              <a:t>Horizontalna naspram vertikalne upravljačke jedinice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7128792" cy="5099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err="1" smtClean="0">
                <a:ea typeface="ＭＳ Ｐゴシック" pitchFamily="34" charset="-128"/>
              </a:rPr>
              <a:t>Nano</a:t>
            </a:r>
            <a:r>
              <a:rPr lang="sr-Latn-RS" dirty="0" smtClean="0">
                <a:ea typeface="ＭＳ Ｐゴシック" pitchFamily="34" charset="-128"/>
              </a:rPr>
              <a:t>kod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i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milikod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51554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10600" cy="5194300"/>
          </a:xfrm>
        </p:spPr>
        <p:txBody>
          <a:bodyPr>
            <a:normAutofit fontScale="92500"/>
          </a:bodyPr>
          <a:lstStyle/>
          <a:p>
            <a:r>
              <a:rPr lang="en-US" i="1" dirty="0" err="1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Nano</a:t>
            </a:r>
            <a:r>
              <a:rPr lang="sr-Latn-RS" i="1" dirty="0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i="1" dirty="0" err="1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od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:</a:t>
            </a:r>
            <a:r>
              <a:rPr lang="en-US" dirty="0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nivo ispod tradicionalnog nivoa mikrokoda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Podistemski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nivo pod kontrolom mikrokoda (na primer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floating-point 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modul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)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.</a:t>
            </a:r>
          </a:p>
          <a:p>
            <a:pPr lvl="1"/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F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unkcioniše kao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prateći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u okviru mikroprogramske putanje podataka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en-US" i="1" dirty="0" err="1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Mili</a:t>
            </a:r>
            <a:r>
              <a:rPr lang="sr-Latn-RS" i="1" dirty="0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k</a:t>
            </a:r>
            <a:r>
              <a:rPr lang="en-US" i="1" dirty="0" err="1" smtClean="0">
                <a:solidFill>
                  <a:srgbClr val="0000FF"/>
                </a:solidFill>
                <a:latin typeface="Calibri" pitchFamily="34" charset="0"/>
                <a:ea typeface="ＭＳ Ｐゴシック" pitchFamily="34" charset="-128"/>
              </a:rPr>
              <a:t>od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: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nivo iznad tradicionalnog mikrokoda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pPr lvl="1"/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Nivo postavljen u nivou </a:t>
            </a:r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ISA s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a</a:t>
            </a:r>
            <a:r>
              <a:rPr lang="en-US" dirty="0" err="1" smtClean="0">
                <a:latin typeface="Calibri" pitchFamily="34" charset="0"/>
                <a:ea typeface="ＭＳ Ｐゴシック" pitchFamily="34" charset="-128"/>
              </a:rPr>
              <a:t>brutin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a koje može da pozove upravljačka jedinica</a:t>
            </a:r>
          </a:p>
          <a:p>
            <a:pPr lvl="1"/>
            <a:r>
              <a:rPr lang="en-US" dirty="0" smtClean="0">
                <a:latin typeface="Calibri" pitchFamily="34" charset="0"/>
                <a:ea typeface="ＭＳ Ｐゴシック" pitchFamily="34" charset="-128"/>
              </a:rPr>
              <a:t>T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ipično se koriste za izračunavanje složenijih, a relativno čestih operacija i funkcija (na primer FFT, FIR, IIR...)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  <a:p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U oba slučaja time se rasterećuje osnvna upravljačka jedinica sa mikrokodom.</a:t>
            </a:r>
            <a:endParaRPr lang="en-US" dirty="0" smtClean="0">
              <a:latin typeface="Calibri" pitchFamily="34" charset="0"/>
              <a:ea typeface="ＭＳ Ｐゴシック" pitchFamily="34" charset="-128"/>
            </a:endParaRPr>
          </a:p>
          <a:p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Možemo ih tretirati kao mikrokod na različitim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nivoima </a:t>
            </a:r>
            <a:r>
              <a:rPr lang="sr-Latn-RS" dirty="0" smtClean="0">
                <a:latin typeface="Calibri" pitchFamily="34" charset="0"/>
                <a:ea typeface="ＭＳ Ｐゴシック" pitchFamily="34" charset="-128"/>
              </a:rPr>
              <a:t>apstrakcije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CF6216-4704-4F20-91C6-46588FCE0E4F}" type="slidenum">
              <a:rPr lang="en-US"/>
              <a:pPr/>
              <a:t>60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 smtClean="0">
                <a:ea typeface="ＭＳ Ｐゴシック" pitchFamily="34" charset="-128"/>
              </a:rPr>
              <a:t>Ilustracija </a:t>
            </a:r>
            <a:r>
              <a:rPr lang="en-US" dirty="0" err="1" smtClean="0">
                <a:ea typeface="ＭＳ Ｐゴシック" pitchFamily="34" charset="-128"/>
              </a:rPr>
              <a:t>Nano</a:t>
            </a:r>
            <a:r>
              <a:rPr lang="sr-Latn-RS" dirty="0" smtClean="0">
                <a:ea typeface="ＭＳ Ｐゴシック" pitchFamily="34" charset="-128"/>
              </a:rPr>
              <a:t>k</a:t>
            </a:r>
            <a:r>
              <a:rPr lang="en-US" dirty="0" err="1" smtClean="0">
                <a:ea typeface="ＭＳ Ｐゴシック" pitchFamily="34" charset="-128"/>
              </a:rPr>
              <a:t>od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sr-Latn-RS" dirty="0" smtClean="0">
                <a:ea typeface="ＭＳ Ｐゴシック" pitchFamily="34" charset="-128"/>
              </a:rPr>
              <a:t>koncepta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14690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146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8E91DA-5514-4F05-ACCC-4A2C833B071C}" type="slidenum">
              <a:rPr lang="en-US"/>
              <a:pPr/>
              <a:t>61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23928" y="4437112"/>
            <a:ext cx="4672011" cy="2046287"/>
            <a:chOff x="2383" y="2887"/>
            <a:chExt cx="2943" cy="1289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2592" y="3264"/>
              <a:ext cx="384" cy="3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ROM</a:t>
              </a:r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2592" y="3792"/>
              <a:ext cx="38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Symbol" charset="0"/>
                  <a:ea typeface="ＭＳ Ｐゴシック" charset="0"/>
                  <a:cs typeface="Calibri" charset="0"/>
                </a:rPr>
                <a:t>m</a:t>
              </a: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PC</a:t>
              </a: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2976" y="3552"/>
              <a:ext cx="192" cy="336"/>
            </a:xfrm>
            <a:custGeom>
              <a:avLst/>
              <a:gdLst>
                <a:gd name="T0" fmla="*/ 0 w 192"/>
                <a:gd name="T1" fmla="*/ 0 h 336"/>
                <a:gd name="T2" fmla="*/ 192 w 192"/>
                <a:gd name="T3" fmla="*/ 0 h 336"/>
                <a:gd name="T4" fmla="*/ 192 w 192"/>
                <a:gd name="T5" fmla="*/ 336 h 336"/>
                <a:gd name="T6" fmla="*/ 0 w 192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336"/>
                <a:gd name="T14" fmla="*/ 192 w 192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336">
                  <a:moveTo>
                    <a:pt x="0" y="0"/>
                  </a:moveTo>
                  <a:lnTo>
                    <a:pt x="192" y="0"/>
                  </a:lnTo>
                  <a:lnTo>
                    <a:pt x="192" y="336"/>
                  </a:lnTo>
                  <a:lnTo>
                    <a:pt x="0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 flipV="1">
              <a:off x="2784" y="3648"/>
              <a:ext cx="0" cy="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2976" y="3408"/>
              <a:ext cx="4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408" y="3216"/>
              <a:ext cx="1440" cy="9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arithmetic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 err="1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datapath</a:t>
              </a:r>
              <a:endParaRPr lang="en-US" kern="0" dirty="0">
                <a:solidFill>
                  <a:srgbClr val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  <p:sp>
          <p:nvSpPr>
            <p:cNvPr id="34" name="Text Box 10"/>
            <p:cNvSpPr txBox="1">
              <a:spLocks noChangeArrowheads="1"/>
            </p:cNvSpPr>
            <p:nvPr/>
          </p:nvSpPr>
          <p:spPr bwMode="auto">
            <a:xfrm>
              <a:off x="2383" y="2887"/>
              <a:ext cx="29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mikrokodovana</a:t>
              </a:r>
              <a:r>
                <a:rPr lang="en-US" altLang="ja-JP" sz="2400" dirty="0" smtClean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  <a:r>
                <a:rPr lang="en-US" altLang="ja-JP" sz="2400" dirty="0">
                  <a:solidFill>
                    <a:srgbClr val="0000FF"/>
                  </a:solidFill>
                  <a:latin typeface="Calibri" pitchFamily="34" charset="0"/>
                </a:rPr>
                <a:t>FPU </a:t>
              </a:r>
              <a:r>
                <a:rPr lang="en-US" altLang="ja-JP" sz="2400" dirty="0" err="1" smtClean="0">
                  <a:solidFill>
                    <a:srgbClr val="0000FF"/>
                  </a:solidFill>
                  <a:latin typeface="Calibri" pitchFamily="34" charset="0"/>
                </a:rPr>
                <a:t>implementa</a:t>
              </a:r>
              <a:r>
                <a:rPr lang="sr-Latn-RS" altLang="ja-JP" sz="2400" dirty="0" smtClean="0">
                  <a:solidFill>
                    <a:srgbClr val="0000FF"/>
                  </a:solidFill>
                  <a:latin typeface="Calibri" pitchFamily="34" charset="0"/>
                </a:rPr>
                <a:t>cija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2496" y="3168"/>
              <a:ext cx="2640" cy="1008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0" y="1340768"/>
            <a:ext cx="8304212" cy="5094287"/>
            <a:chOff x="-95" y="967"/>
            <a:chExt cx="5231" cy="3209"/>
          </a:xfrm>
        </p:grpSpPr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576" y="1344"/>
              <a:ext cx="384" cy="3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ROM</a:t>
              </a: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76" y="1872"/>
              <a:ext cx="384" cy="1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  <a:latin typeface="Symbol" charset="0"/>
                  <a:ea typeface="ＭＳ Ｐゴシック" charset="0"/>
                  <a:cs typeface="Calibri" charset="0"/>
                </a:rPr>
                <a:t>m</a:t>
              </a:r>
              <a:r>
                <a:rPr lang="en-US" sz="2000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PC</a:t>
              </a:r>
            </a:p>
          </p:txBody>
        </p:sp>
        <p:sp>
          <p:nvSpPr>
            <p:cNvPr id="39" name="Freeform 15"/>
            <p:cNvSpPr>
              <a:spLocks/>
            </p:cNvSpPr>
            <p:nvPr/>
          </p:nvSpPr>
          <p:spPr bwMode="auto">
            <a:xfrm>
              <a:off x="960" y="1632"/>
              <a:ext cx="192" cy="336"/>
            </a:xfrm>
            <a:custGeom>
              <a:avLst/>
              <a:gdLst>
                <a:gd name="T0" fmla="*/ 0 w 192"/>
                <a:gd name="T1" fmla="*/ 0 h 336"/>
                <a:gd name="T2" fmla="*/ 192 w 192"/>
                <a:gd name="T3" fmla="*/ 0 h 336"/>
                <a:gd name="T4" fmla="*/ 192 w 192"/>
                <a:gd name="T5" fmla="*/ 336 h 336"/>
                <a:gd name="T6" fmla="*/ 0 w 192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336"/>
                <a:gd name="T14" fmla="*/ 192 w 192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336">
                  <a:moveTo>
                    <a:pt x="0" y="0"/>
                  </a:moveTo>
                  <a:lnTo>
                    <a:pt x="192" y="0"/>
                  </a:lnTo>
                  <a:lnTo>
                    <a:pt x="192" y="336"/>
                  </a:lnTo>
                  <a:lnTo>
                    <a:pt x="0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768" y="1728"/>
              <a:ext cx="0" cy="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" name="Line 17"/>
            <p:cNvSpPr>
              <a:spLocks noChangeShapeType="1"/>
            </p:cNvSpPr>
            <p:nvPr/>
          </p:nvSpPr>
          <p:spPr bwMode="auto">
            <a:xfrm>
              <a:off x="960" y="1488"/>
              <a:ext cx="4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1392" y="1296"/>
              <a:ext cx="1440" cy="9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processor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  <a:latin typeface="Calibri" charset="0"/>
                  <a:ea typeface="ＭＳ Ｐゴシック" charset="0"/>
                  <a:cs typeface="Calibri" charset="0"/>
                </a:rPr>
                <a:t>datapath</a:t>
              </a:r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3" y="967"/>
              <a:ext cx="37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Mikroprogramska procesorska implementacija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44" name="Line 20"/>
            <p:cNvSpPr>
              <a:spLocks noChangeShapeType="1"/>
            </p:cNvSpPr>
            <p:nvPr/>
          </p:nvSpPr>
          <p:spPr bwMode="auto">
            <a:xfrm flipH="1" flipV="1">
              <a:off x="2160" y="2112"/>
              <a:ext cx="336" cy="20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" name="Rectangle 21"/>
            <p:cNvSpPr>
              <a:spLocks noChangeArrowheads="1"/>
            </p:cNvSpPr>
            <p:nvPr/>
          </p:nvSpPr>
          <p:spPr bwMode="auto">
            <a:xfrm>
              <a:off x="2160" y="2016"/>
              <a:ext cx="288" cy="9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Calibri" charset="0"/>
                <a:ea typeface="ＭＳ Ｐゴシック" charset="0"/>
                <a:cs typeface="Calibri" charset="0"/>
              </a:endParaRP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H="1" flipV="1">
              <a:off x="2448" y="2016"/>
              <a:ext cx="2688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-95" y="2691"/>
              <a:ext cx="2284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Referenciramo</a:t>
              </a:r>
              <a:r>
                <a:rPr lang="en-US" sz="2400" dirty="0" smtClean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kao</a:t>
              </a:r>
              <a:r>
                <a:rPr lang="en-US" sz="2400" dirty="0" smtClean="0">
                  <a:solidFill>
                    <a:srgbClr val="0000FF"/>
                  </a:solidFill>
                  <a:latin typeface="Calibri" pitchFamily="34" charset="0"/>
                </a:rPr>
                <a:t> </a:t>
              </a:r>
              <a:r>
                <a:rPr lang="ja-JP" altLang="en-US" sz="2400">
                  <a:solidFill>
                    <a:srgbClr val="0000FF"/>
                  </a:solidFill>
                  <a:latin typeface="Calibri" pitchFamily="34" charset="0"/>
                </a:rPr>
                <a:t>“</a:t>
              </a:r>
              <a:r>
                <a:rPr lang="en-US" altLang="ja-JP" sz="2400" dirty="0" err="1" smtClean="0">
                  <a:solidFill>
                    <a:srgbClr val="0000FF"/>
                  </a:solidFill>
                  <a:latin typeface="Calibri" pitchFamily="34" charset="0"/>
                </a:rPr>
                <a:t>nano</a:t>
              </a:r>
              <a:r>
                <a:rPr lang="sr-Latn-RS" altLang="ja-JP" sz="2400" dirty="0" smtClean="0">
                  <a:solidFill>
                    <a:srgbClr val="0000FF"/>
                  </a:solidFill>
                  <a:latin typeface="Calibri" pitchFamily="34" charset="0"/>
                </a:rPr>
                <a:t>k</a:t>
              </a:r>
              <a:r>
                <a:rPr lang="en-US" altLang="ja-JP" sz="2400" dirty="0" err="1" smtClean="0">
                  <a:solidFill>
                    <a:srgbClr val="0000FF"/>
                  </a:solidFill>
                  <a:latin typeface="Calibri" pitchFamily="34" charset="0"/>
                </a:rPr>
                <a:t>od</a:t>
              </a:r>
              <a:r>
                <a:rPr lang="ja-JP" altLang="en-US" sz="2400" smtClean="0">
                  <a:solidFill>
                    <a:srgbClr val="0000FF"/>
                  </a:solidFill>
                  <a:latin typeface="Calibri" pitchFamily="34" charset="0"/>
                </a:rPr>
                <a:t>”</a:t>
              </a:r>
              <a:endParaRPr lang="en-US" altLang="ja-JP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jer je dati mikroprogramski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podsistem ugrađen u</a:t>
              </a:r>
              <a:r>
                <a:rPr lang="en-US" sz="2400" dirty="0" smtClean="0">
                  <a:solidFill>
                    <a:srgbClr val="0000FF"/>
                  </a:solidFill>
                  <a:latin typeface="Calibri" pitchFamily="34" charset="0"/>
                </a:rPr>
                <a:t>  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  <a:p>
              <a:r>
                <a:rPr lang="sr-Latn-RS" sz="2400" dirty="0" smtClean="0">
                  <a:solidFill>
                    <a:srgbClr val="0000FF"/>
                  </a:solidFill>
                  <a:latin typeface="Calibri" pitchFamily="34" charset="0"/>
                </a:rPr>
                <a:t>postojeći mikroprog. sistem</a:t>
              </a:r>
              <a:endParaRPr lang="en-US" sz="2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>
              <a:off x="1288" y="2872"/>
              <a:ext cx="1152" cy="336"/>
            </a:xfrm>
            <a:prstGeom prst="line">
              <a:avLst/>
            </a:prstGeom>
            <a:noFill/>
            <a:ln w="19050">
              <a:solidFill>
                <a:srgbClr val="91919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erilog">
  <a:themeElements>
    <a:clrScheme name="Verilog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Verilo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8ECEC">
            <a:alpha val="59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itchFamily="2" charset="2"/>
          <a:buChar char="v"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8ECEC">
            <a:alpha val="59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itchFamily="2" charset="2"/>
          <a:buChar char="v"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Verilog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rilog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rilog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3481</Words>
  <Application>Microsoft Office PowerPoint</Application>
  <PresentationFormat>On-screen Show (4:3)</PresentationFormat>
  <Paragraphs>667</Paragraphs>
  <Slides>61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Verilog</vt:lpstr>
      <vt:lpstr>Slide 1</vt:lpstr>
      <vt:lpstr>Šta podrazumevamo pod arhitekturom računara</vt:lpstr>
      <vt:lpstr>Podsetimo se Murovog zakona</vt:lpstr>
      <vt:lpstr>Podsetimo se Amdalovog zakona  (Gene Amdahl)</vt:lpstr>
      <vt:lpstr>Nivoi apstrakcije u okviru arhitekture računara</vt:lpstr>
      <vt:lpstr>Računarska arhitektura iz perspektive SW inženjera - programera</vt:lpstr>
      <vt:lpstr>Na šta se svodi računar?</vt:lpstr>
      <vt:lpstr>Fon Nojmanov model računarske arhitekture</vt:lpstr>
      <vt:lpstr>Fon Nojmanov model – blok dijagram</vt:lpstr>
      <vt:lpstr>Fon Nojmanov model?</vt:lpstr>
      <vt:lpstr>Model toka podataka (data-centric)</vt:lpstr>
      <vt:lpstr>Fon Nojmanov nasuprot  modela toka podataka</vt:lpstr>
      <vt:lpstr>Model toka podataka</vt:lpstr>
      <vt:lpstr>Čvorovi u modelu toka podataka</vt:lpstr>
      <vt:lpstr>Primer programa po modelu toka podataka</vt:lpstr>
      <vt:lpstr>Realizacija arhitekture instrukcijskog seta  ISA (Instruction Set Architecture)</vt:lpstr>
      <vt:lpstr>Veza između ISA i Mikroarhitekture</vt:lpstr>
      <vt:lpstr>Fon Nojman model</vt:lpstr>
      <vt:lpstr>Vraćamo se ponovo na pitanje šta je to arhitektura računara?</vt:lpstr>
      <vt:lpstr>ISA naspram Mikroarhitekture</vt:lpstr>
      <vt:lpstr>Slide 21</vt:lpstr>
      <vt:lpstr>ISA</vt:lpstr>
      <vt:lpstr>Mikroarhitektura</vt:lpstr>
      <vt:lpstr>Elementi ISA</vt:lpstr>
      <vt:lpstr>Primer: Stek Mašna</vt:lpstr>
      <vt:lpstr>Primer operacija na stek mašini</vt:lpstr>
      <vt:lpstr>Pregled ostalih tehnika</vt:lpstr>
      <vt:lpstr>Ostali elementi ISA</vt:lpstr>
      <vt:lpstr>Programerski vidljivo kroz ISA</vt:lpstr>
      <vt:lpstr>Niži nivo apstrakcije, sakriven od programera</vt:lpstr>
      <vt:lpstr>Evolucija koncepta registara</vt:lpstr>
      <vt:lpstr>Klase instrukcija</vt:lpstr>
      <vt:lpstr>Elementi ISA</vt:lpstr>
      <vt:lpstr>Elementi ISA</vt:lpstr>
      <vt:lpstr>Prednosti različitih adresnih modova</vt:lpstr>
      <vt:lpstr>MIKROARHITEKTURE</vt:lpstr>
      <vt:lpstr>Osnovni pojmovi o mikroarhitekturi</vt:lpstr>
      <vt:lpstr>Kako mašina izvršava instrukciju</vt:lpstr>
      <vt:lpstr>Izvršenje instrukcije</vt:lpstr>
      <vt:lpstr>Elementarni sistem za izvršenje instrukcija</vt:lpstr>
      <vt:lpstr>Elementarni sistem za izvršenje instrukcija</vt:lpstr>
      <vt:lpstr>Podsećamo se šta je programerski vidljivo kroz ISA</vt:lpstr>
      <vt:lpstr>Jednociklusne naspram višeciklusnih mašina</vt:lpstr>
      <vt:lpstr>Instrukcijski ciklus</vt:lpstr>
      <vt:lpstr>Instrukcijski ciklus naspram  mašinskog ciklusa takta</vt:lpstr>
      <vt:lpstr>Izvršavanje instrukcija  iz drugog ugla</vt:lpstr>
      <vt:lpstr>Jednociklusne naspram  višeciklusnih: kontrola i podaci</vt:lpstr>
      <vt:lpstr>Realizacija putanje podataka  i upravljačke jedinice</vt:lpstr>
      <vt:lpstr>Analiza performansi</vt:lpstr>
      <vt:lpstr>Mikrorpogramska višeciklusna mikroarhitektura</vt:lpstr>
      <vt:lpstr>Koraci pri izvršenju instrukcije</vt:lpstr>
      <vt:lpstr>Elementarna  višeciklusna mikroarhitektura</vt:lpstr>
      <vt:lpstr>Mikroprogramska  kontrolna terminologija</vt:lpstr>
      <vt:lpstr>Šta se događa tokom  jednog ciklusa takta</vt:lpstr>
      <vt:lpstr>Primer SAP-1 Malvino</vt:lpstr>
      <vt:lpstr>Primer LC-3 Patt,Patel</vt:lpstr>
      <vt:lpstr>Višeciklusna mikroarhitektura - uopšteno</vt:lpstr>
      <vt:lpstr>Mikroprogramska upravljačka jedinica </vt:lpstr>
      <vt:lpstr>Horizontalna naspram vertikalne upravljačke jedinice</vt:lpstr>
      <vt:lpstr>Nanokod i milikod</vt:lpstr>
      <vt:lpstr>Ilustracija Nanokod koncepta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Računarske arhitekture</dc:title>
  <dc:creator>pjevalica</dc:creator>
  <cp:lastModifiedBy>pjevalica</cp:lastModifiedBy>
  <cp:revision>188</cp:revision>
  <dcterms:created xsi:type="dcterms:W3CDTF">2019-11-07T10:04:28Z</dcterms:created>
  <dcterms:modified xsi:type="dcterms:W3CDTF">2019-12-03T11:28:17Z</dcterms:modified>
</cp:coreProperties>
</file>